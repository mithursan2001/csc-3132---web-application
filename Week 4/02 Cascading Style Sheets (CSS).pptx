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9535">
              <a:lnSpc>
                <a:spcPts val="16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9535">
              <a:lnSpc>
                <a:spcPts val="16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35092" y="1208659"/>
            <a:ext cx="2512695" cy="4782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9535">
              <a:lnSpc>
                <a:spcPts val="16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9535">
              <a:lnSpc>
                <a:spcPts val="16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9535">
              <a:lnSpc>
                <a:spcPts val="16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244" y="21082"/>
            <a:ext cx="807151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9350" y="2526919"/>
            <a:ext cx="3797300" cy="2586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33476" y="6333975"/>
            <a:ext cx="296545" cy="226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89535">
              <a:lnSpc>
                <a:spcPts val="16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jigsaw.w3.org/css-validator/validator-uri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tutorialspoint.com/less/" TargetMode="External"/><Relationship Id="rId4" Type="http://schemas.openxmlformats.org/officeDocument/2006/relationships/hyperlink" Target="http://www.tutorialspoint.com/sass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sass/sass_installation.htm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float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border_style.html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ss-box-sizing-property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://jigsaw.w3.org/css-validator/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utorialspoint.com/sass/" TargetMode="External"/><Relationship Id="rId3" Type="http://schemas.openxmlformats.org/officeDocument/2006/relationships/hyperlink" Target="http://www.webcredible.co.uk/" TargetMode="External"/><Relationship Id="rId7" Type="http://schemas.openxmlformats.org/officeDocument/2006/relationships/hyperlink" Target="http://lesscss.org/" TargetMode="External"/><Relationship Id="rId2" Type="http://schemas.openxmlformats.org/officeDocument/2006/relationships/hyperlink" Target="http://www.w3schools.com/css/css_examples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ass-lang.com/" TargetMode="External"/><Relationship Id="rId5" Type="http://schemas.openxmlformats.org/officeDocument/2006/relationships/hyperlink" Target="http://oocss.org/spec/css-mixins.html" TargetMode="External"/><Relationship Id="rId4" Type="http://schemas.openxmlformats.org/officeDocument/2006/relationships/hyperlink" Target="http://stylus-lang.com/" TargetMode="External"/><Relationship Id="rId9" Type="http://schemas.openxmlformats.org/officeDocument/2006/relationships/hyperlink" Target="http://www.tutorialspoint.com/less/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html4/types.html#case-insensitive" TargetMode="External"/><Relationship Id="rId2" Type="http://schemas.openxmlformats.org/officeDocument/2006/relationships/hyperlink" Target="http://www.w3.org/TR/html4/types.html#type-link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3.org/TR/html4/struct/links.html#adef-hre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832" y="66928"/>
            <a:ext cx="9022715" cy="6696709"/>
            <a:chOff x="60832" y="66928"/>
            <a:chExt cx="9022715" cy="66967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7" y="70103"/>
              <a:ext cx="9015984" cy="669035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4007" y="70103"/>
              <a:ext cx="9016365" cy="6690359"/>
            </a:xfrm>
            <a:custGeom>
              <a:avLst/>
              <a:gdLst/>
              <a:ahLst/>
              <a:cxnLst/>
              <a:rect l="l" t="t" r="r" b="b"/>
              <a:pathLst>
                <a:path w="9016365" h="6690359">
                  <a:moveTo>
                    <a:pt x="0" y="329819"/>
                  </a:moveTo>
                  <a:lnTo>
                    <a:pt x="3575" y="281088"/>
                  </a:lnTo>
                  <a:lnTo>
                    <a:pt x="13961" y="234576"/>
                  </a:lnTo>
                  <a:lnTo>
                    <a:pt x="30648" y="190791"/>
                  </a:lnTo>
                  <a:lnTo>
                    <a:pt x="53126" y="150245"/>
                  </a:lnTo>
                  <a:lnTo>
                    <a:pt x="80884" y="113448"/>
                  </a:lnTo>
                  <a:lnTo>
                    <a:pt x="113414" y="80911"/>
                  </a:lnTo>
                  <a:lnTo>
                    <a:pt x="150203" y="53144"/>
                  </a:lnTo>
                  <a:lnTo>
                    <a:pt x="190744" y="30660"/>
                  </a:lnTo>
                  <a:lnTo>
                    <a:pt x="234525" y="13967"/>
                  </a:lnTo>
                  <a:lnTo>
                    <a:pt x="281036" y="3576"/>
                  </a:lnTo>
                  <a:lnTo>
                    <a:pt x="329768" y="0"/>
                  </a:lnTo>
                  <a:lnTo>
                    <a:pt x="8686165" y="0"/>
                  </a:lnTo>
                  <a:lnTo>
                    <a:pt x="8734895" y="3576"/>
                  </a:lnTo>
                  <a:lnTo>
                    <a:pt x="8781407" y="13967"/>
                  </a:lnTo>
                  <a:lnTo>
                    <a:pt x="8825192" y="30660"/>
                  </a:lnTo>
                  <a:lnTo>
                    <a:pt x="8865738" y="53144"/>
                  </a:lnTo>
                  <a:lnTo>
                    <a:pt x="8902535" y="80911"/>
                  </a:lnTo>
                  <a:lnTo>
                    <a:pt x="8935072" y="113448"/>
                  </a:lnTo>
                  <a:lnTo>
                    <a:pt x="8962839" y="150245"/>
                  </a:lnTo>
                  <a:lnTo>
                    <a:pt x="8985323" y="190791"/>
                  </a:lnTo>
                  <a:lnTo>
                    <a:pt x="9002016" y="234576"/>
                  </a:lnTo>
                  <a:lnTo>
                    <a:pt x="9012407" y="281088"/>
                  </a:lnTo>
                  <a:lnTo>
                    <a:pt x="9015984" y="329819"/>
                  </a:lnTo>
                  <a:lnTo>
                    <a:pt x="9015984" y="6360591"/>
                  </a:lnTo>
                  <a:lnTo>
                    <a:pt x="9012407" y="6409323"/>
                  </a:lnTo>
                  <a:lnTo>
                    <a:pt x="9002016" y="6455834"/>
                  </a:lnTo>
                  <a:lnTo>
                    <a:pt x="8985323" y="6499615"/>
                  </a:lnTo>
                  <a:lnTo>
                    <a:pt x="8962839" y="6540156"/>
                  </a:lnTo>
                  <a:lnTo>
                    <a:pt x="8935072" y="6576945"/>
                  </a:lnTo>
                  <a:lnTo>
                    <a:pt x="8902535" y="6609475"/>
                  </a:lnTo>
                  <a:lnTo>
                    <a:pt x="8865738" y="6637233"/>
                  </a:lnTo>
                  <a:lnTo>
                    <a:pt x="8825192" y="6659711"/>
                  </a:lnTo>
                  <a:lnTo>
                    <a:pt x="8781407" y="6676398"/>
                  </a:lnTo>
                  <a:lnTo>
                    <a:pt x="8734895" y="6686784"/>
                  </a:lnTo>
                  <a:lnTo>
                    <a:pt x="8686165" y="6690360"/>
                  </a:lnTo>
                  <a:lnTo>
                    <a:pt x="329768" y="6690360"/>
                  </a:lnTo>
                  <a:lnTo>
                    <a:pt x="281036" y="6686784"/>
                  </a:lnTo>
                  <a:lnTo>
                    <a:pt x="234525" y="6676398"/>
                  </a:lnTo>
                  <a:lnTo>
                    <a:pt x="190744" y="6659711"/>
                  </a:lnTo>
                  <a:lnTo>
                    <a:pt x="150203" y="6637233"/>
                  </a:lnTo>
                  <a:lnTo>
                    <a:pt x="113414" y="6609475"/>
                  </a:lnTo>
                  <a:lnTo>
                    <a:pt x="80884" y="6576945"/>
                  </a:lnTo>
                  <a:lnTo>
                    <a:pt x="53126" y="6540156"/>
                  </a:lnTo>
                  <a:lnTo>
                    <a:pt x="30648" y="6499615"/>
                  </a:lnTo>
                  <a:lnTo>
                    <a:pt x="13961" y="6455834"/>
                  </a:lnTo>
                  <a:lnTo>
                    <a:pt x="3575" y="6409323"/>
                  </a:lnTo>
                  <a:lnTo>
                    <a:pt x="0" y="6360591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7" y="1395984"/>
              <a:ext cx="9019540" cy="121920"/>
            </a:xfrm>
            <a:custGeom>
              <a:avLst/>
              <a:gdLst/>
              <a:ahLst/>
              <a:cxnLst/>
              <a:rect l="l" t="t" r="r" b="b"/>
              <a:pathLst>
                <a:path w="9019540" h="121919">
                  <a:moveTo>
                    <a:pt x="9019032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9019032" y="121920"/>
                  </a:lnTo>
                  <a:lnTo>
                    <a:pt x="9019032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7" y="2977896"/>
              <a:ext cx="9019540" cy="109855"/>
            </a:xfrm>
            <a:custGeom>
              <a:avLst/>
              <a:gdLst/>
              <a:ahLst/>
              <a:cxnLst/>
              <a:rect l="l" t="t" r="r" b="b"/>
              <a:pathLst>
                <a:path w="9019540" h="109855">
                  <a:moveTo>
                    <a:pt x="9019032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9019032" y="109727"/>
                  </a:lnTo>
                  <a:lnTo>
                    <a:pt x="9019032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6303" y="62118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599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199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599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3392" y="6346675"/>
            <a:ext cx="104139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400" spc="-6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4007" y="1517903"/>
            <a:ext cx="9019540" cy="1460500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/>
          </a:p>
          <a:p>
            <a:pPr marR="383540" algn="ctr">
              <a:lnSpc>
                <a:spcPct val="100000"/>
              </a:lnSpc>
            </a:pPr>
            <a:r>
              <a:rPr spc="-25" dirty="0">
                <a:solidFill>
                  <a:srgbClr val="000000"/>
                </a:solidFill>
              </a:rPr>
              <a:t>Cascading</a:t>
            </a:r>
            <a:r>
              <a:rPr spc="-14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Style</a:t>
            </a:r>
            <a:r>
              <a:rPr spc="-1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Sheets</a:t>
            </a:r>
            <a:r>
              <a:rPr spc="-1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(CSS)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8739" y="977061"/>
            <a:ext cx="5845175" cy="39439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140" dirty="0">
                <a:latin typeface="Times New Roman"/>
                <a:cs typeface="Times New Roman"/>
              </a:rPr>
              <a:t>Recommended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by</a:t>
            </a:r>
            <a:r>
              <a:rPr sz="2600" spc="-3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W3C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135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Characteristics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20" dirty="0">
                <a:latin typeface="Times New Roman"/>
                <a:cs typeface="Times New Roman"/>
              </a:rPr>
              <a:t>CSS</a:t>
            </a:r>
            <a:endParaRPr sz="2600">
              <a:latin typeface="Times New Roman"/>
              <a:cs typeface="Times New Roman"/>
            </a:endParaRPr>
          </a:p>
          <a:p>
            <a:pPr marL="833755" lvl="1" indent="-226695">
              <a:lnSpc>
                <a:spcPct val="100000"/>
              </a:lnSpc>
              <a:spcBef>
                <a:spcPts val="480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3755" algn="l"/>
              </a:tabLst>
            </a:pPr>
            <a:r>
              <a:rPr sz="2000" spc="-11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layout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40" dirty="0">
                <a:latin typeface="Times New Roman"/>
                <a:cs typeface="Times New Roman"/>
              </a:rPr>
              <a:t>page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can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be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flexibly</a:t>
            </a:r>
            <a:endParaRPr sz="2000">
              <a:latin typeface="Times New Roman"/>
              <a:cs typeface="Times New Roman"/>
            </a:endParaRPr>
          </a:p>
          <a:p>
            <a:pPr marL="1109345" lvl="2" indent="-227965">
              <a:lnSpc>
                <a:spcPct val="100000"/>
              </a:lnSpc>
              <a:spcBef>
                <a:spcPts val="409"/>
              </a:spcBef>
              <a:buClr>
                <a:srgbClr val="A18E6A"/>
              </a:buClr>
              <a:buSzPct val="80000"/>
              <a:buFont typeface="Segoe UI Symbol"/>
              <a:buChar char="⚫"/>
              <a:tabLst>
                <a:tab pos="1109345" algn="l"/>
              </a:tabLst>
            </a:pPr>
            <a:r>
              <a:rPr sz="2000" spc="-50" dirty="0">
                <a:latin typeface="Times New Roman"/>
                <a:cs typeface="Times New Roman"/>
              </a:rPr>
              <a:t>It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can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specify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font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name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40" dirty="0">
                <a:latin typeface="Times New Roman"/>
                <a:cs typeface="Times New Roman"/>
              </a:rPr>
              <a:t>size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precisely</a:t>
            </a:r>
            <a:endParaRPr sz="2000">
              <a:latin typeface="Times New Roman"/>
              <a:cs typeface="Times New Roman"/>
            </a:endParaRPr>
          </a:p>
          <a:p>
            <a:pPr marL="1109345" lvl="2" indent="-227965">
              <a:lnSpc>
                <a:spcPct val="100000"/>
              </a:lnSpc>
              <a:spcBef>
                <a:spcPts val="409"/>
              </a:spcBef>
              <a:buClr>
                <a:srgbClr val="A18E6A"/>
              </a:buClr>
              <a:buSzPct val="80000"/>
              <a:buFont typeface="Segoe UI Symbol"/>
              <a:buChar char="⚫"/>
              <a:tabLst>
                <a:tab pos="1109345" algn="l"/>
              </a:tabLst>
            </a:pPr>
            <a:r>
              <a:rPr sz="2000" spc="-50" dirty="0">
                <a:latin typeface="Times New Roman"/>
                <a:cs typeface="Times New Roman"/>
              </a:rPr>
              <a:t>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can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specify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margin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indent</a:t>
            </a:r>
            <a:endParaRPr sz="2000">
              <a:latin typeface="Times New Roman"/>
              <a:cs typeface="Times New Roman"/>
            </a:endParaRPr>
          </a:p>
          <a:p>
            <a:pPr marL="1109345" lvl="2" indent="-227965">
              <a:lnSpc>
                <a:spcPct val="100000"/>
              </a:lnSpc>
              <a:spcBef>
                <a:spcPts val="385"/>
              </a:spcBef>
              <a:buClr>
                <a:srgbClr val="A18E6A"/>
              </a:buClr>
              <a:buSzPct val="80000"/>
              <a:buFont typeface="Segoe UI Symbol"/>
              <a:buChar char="⚫"/>
              <a:tabLst>
                <a:tab pos="1109345" algn="l"/>
              </a:tabLst>
            </a:pPr>
            <a:r>
              <a:rPr sz="2000" spc="-50" dirty="0">
                <a:latin typeface="Times New Roman"/>
                <a:cs typeface="Times New Roman"/>
              </a:rPr>
              <a:t>It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can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specify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position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of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text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and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image</a:t>
            </a:r>
            <a:endParaRPr sz="2000">
              <a:latin typeface="Times New Roman"/>
              <a:cs typeface="Times New Roman"/>
            </a:endParaRPr>
          </a:p>
          <a:p>
            <a:pPr marL="833755" lvl="1" indent="-226695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3755" algn="l"/>
              </a:tabLst>
            </a:pPr>
            <a:r>
              <a:rPr sz="2000" spc="-114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40" dirty="0">
                <a:latin typeface="Times New Roman"/>
                <a:cs typeface="Times New Roman"/>
              </a:rPr>
              <a:t>page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40" dirty="0">
                <a:latin typeface="Times New Roman"/>
                <a:cs typeface="Times New Roman"/>
              </a:rPr>
              <a:t>web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layout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can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managed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collectively</a:t>
            </a:r>
            <a:endParaRPr sz="2000">
              <a:latin typeface="Times New Roman"/>
              <a:cs typeface="Times New Roman"/>
            </a:endParaRPr>
          </a:p>
          <a:p>
            <a:pPr marL="1109345" lvl="2" indent="-227965">
              <a:lnSpc>
                <a:spcPct val="100000"/>
              </a:lnSpc>
              <a:spcBef>
                <a:spcPts val="409"/>
              </a:spcBef>
              <a:buClr>
                <a:srgbClr val="A18E6A"/>
              </a:buClr>
              <a:buSzPct val="80000"/>
              <a:buFont typeface="Segoe UI Symbol"/>
              <a:buChar char="⚫"/>
              <a:tabLst>
                <a:tab pos="1109345" algn="l"/>
              </a:tabLst>
            </a:pPr>
            <a:r>
              <a:rPr sz="2000" spc="-114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changes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can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be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done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easily</a:t>
            </a:r>
            <a:endParaRPr sz="20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5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290" dirty="0">
                <a:latin typeface="Times New Roman"/>
                <a:cs typeface="Times New Roman"/>
              </a:rPr>
              <a:t>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validate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your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style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sheet</a:t>
            </a:r>
            <a:endParaRPr sz="2600">
              <a:latin typeface="Times New Roman"/>
              <a:cs typeface="Times New Roman"/>
            </a:endParaRPr>
          </a:p>
          <a:p>
            <a:pPr marL="833755" lvl="1" indent="-226695">
              <a:lnSpc>
                <a:spcPct val="100000"/>
              </a:lnSpc>
              <a:spcBef>
                <a:spcPts val="484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3755" algn="l"/>
              </a:tabLst>
            </a:pPr>
            <a:r>
              <a:rPr sz="2000" spc="-35" dirty="0">
                <a:latin typeface="Times New Roman"/>
                <a:cs typeface="Times New Roman"/>
                <a:hlinkClick r:id="rId2"/>
              </a:rPr>
              <a:t>http://jigsaw.w3.org/css-</a:t>
            </a:r>
            <a:r>
              <a:rPr sz="2000" spc="-75" dirty="0">
                <a:latin typeface="Times New Roman"/>
                <a:cs typeface="Times New Roman"/>
                <a:hlinkClick r:id="rId2"/>
              </a:rPr>
              <a:t>validator/validator-</a:t>
            </a:r>
            <a:r>
              <a:rPr sz="2000" spc="-10" dirty="0">
                <a:latin typeface="Times New Roman"/>
                <a:cs typeface="Times New Roman"/>
                <a:hlinkClick r:id="rId2"/>
              </a:rPr>
              <a:t>uri.html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2144" y="0"/>
            <a:ext cx="6874002" cy="89382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043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Cascading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Style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Sheet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(CSS)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65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8739" y="974320"/>
            <a:ext cx="8854440" cy="290068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2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155" dirty="0">
                <a:latin typeface="Times New Roman"/>
                <a:cs typeface="Times New Roman"/>
              </a:rPr>
              <a:t>Methods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Implementation</a:t>
            </a:r>
            <a:endParaRPr sz="2600">
              <a:latin typeface="Times New Roman"/>
              <a:cs typeface="Times New Roman"/>
            </a:endParaRPr>
          </a:p>
          <a:p>
            <a:pPr marL="834390" lvl="1" indent="-227329">
              <a:lnSpc>
                <a:spcPct val="100000"/>
              </a:lnSpc>
              <a:spcBef>
                <a:spcPts val="480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4390" algn="l"/>
              </a:tabLst>
            </a:pPr>
            <a:r>
              <a:rPr sz="2000" spc="-135" dirty="0">
                <a:latin typeface="Times New Roman"/>
                <a:cs typeface="Times New Roman"/>
              </a:rPr>
              <a:t>Following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4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methods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implementing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css.</a:t>
            </a:r>
            <a:endParaRPr sz="2000">
              <a:latin typeface="Times New Roman"/>
              <a:cs typeface="Times New Roman"/>
            </a:endParaRPr>
          </a:p>
          <a:p>
            <a:pPr marL="1109345" lvl="2" indent="-227965">
              <a:lnSpc>
                <a:spcPct val="100000"/>
              </a:lnSpc>
              <a:spcBef>
                <a:spcPts val="409"/>
              </a:spcBef>
              <a:buClr>
                <a:srgbClr val="A18E6A"/>
              </a:buClr>
              <a:buSzPct val="80000"/>
              <a:buFont typeface="Segoe UI Symbol"/>
              <a:buChar char="⚫"/>
              <a:tabLst>
                <a:tab pos="1109345" algn="l"/>
              </a:tabLst>
            </a:pPr>
            <a:r>
              <a:rPr sz="2000" b="1" dirty="0">
                <a:latin typeface="Times New Roman"/>
                <a:cs typeface="Times New Roman"/>
              </a:rPr>
              <a:t>Inline </a:t>
            </a:r>
            <a:r>
              <a:rPr sz="2000" b="1" spc="-20" dirty="0">
                <a:latin typeface="Times New Roman"/>
                <a:cs typeface="Times New Roman"/>
              </a:rPr>
              <a:t>Style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sheet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(Specify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style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directly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Times New Roman"/>
                <a:cs typeface="Times New Roman"/>
              </a:rPr>
              <a:t>by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using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style</a:t>
            </a:r>
            <a:r>
              <a:rPr sz="2000" spc="-10" dirty="0">
                <a:latin typeface="Times New Roman"/>
                <a:cs typeface="Times New Roman"/>
              </a:rPr>
              <a:t> attributes)</a:t>
            </a:r>
            <a:endParaRPr sz="2000">
              <a:latin typeface="Times New Roman"/>
              <a:cs typeface="Times New Roman"/>
            </a:endParaRPr>
          </a:p>
          <a:p>
            <a:pPr marL="1109345" lvl="2" indent="-227965">
              <a:lnSpc>
                <a:spcPct val="100000"/>
              </a:lnSpc>
              <a:spcBef>
                <a:spcPts val="405"/>
              </a:spcBef>
              <a:buClr>
                <a:srgbClr val="A18E6A"/>
              </a:buClr>
              <a:buSzPct val="80000"/>
              <a:buFont typeface="Segoe UI Symbol"/>
              <a:buChar char="⚫"/>
              <a:tabLst>
                <a:tab pos="1109345" algn="l"/>
              </a:tabLst>
            </a:pPr>
            <a:r>
              <a:rPr sz="2000" b="1" spc="-30" dirty="0">
                <a:latin typeface="Times New Roman"/>
                <a:cs typeface="Times New Roman"/>
              </a:rPr>
              <a:t>Embedded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style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sheet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(Define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style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in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45" dirty="0">
                <a:latin typeface="Times New Roman"/>
                <a:cs typeface="Times New Roman"/>
              </a:rPr>
              <a:t>advance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45" dirty="0">
                <a:latin typeface="Times New Roman"/>
                <a:cs typeface="Times New Roman"/>
              </a:rPr>
              <a:t>STYLE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element,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then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apply</a:t>
            </a:r>
            <a:endParaRPr sz="2000">
              <a:latin typeface="Times New Roman"/>
              <a:cs typeface="Times New Roman"/>
            </a:endParaRPr>
          </a:p>
          <a:p>
            <a:pPr marL="1109345" lvl="2" indent="-227965">
              <a:lnSpc>
                <a:spcPct val="100000"/>
              </a:lnSpc>
              <a:spcBef>
                <a:spcPts val="390"/>
              </a:spcBef>
              <a:buClr>
                <a:srgbClr val="A18E6A"/>
              </a:buClr>
              <a:buSzPct val="80000"/>
              <a:buFont typeface="Segoe UI Symbol"/>
              <a:buChar char="⚫"/>
              <a:tabLst>
                <a:tab pos="1109345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Linking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style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sheet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spc="-195" dirty="0">
                <a:latin typeface="Times New Roman"/>
                <a:cs typeface="Times New Roman"/>
              </a:rPr>
              <a:t>(By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using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90" dirty="0">
                <a:latin typeface="Times New Roman"/>
                <a:cs typeface="Times New Roman"/>
              </a:rPr>
              <a:t>LINK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elements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link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external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file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where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style</a:t>
            </a:r>
            <a:r>
              <a:rPr sz="2000" spc="-25" dirty="0">
                <a:latin typeface="Times New Roman"/>
                <a:cs typeface="Times New Roman"/>
              </a:rPr>
              <a:t> has</a:t>
            </a:r>
            <a:endParaRPr sz="2000">
              <a:latin typeface="Times New Roman"/>
              <a:cs typeface="Times New Roman"/>
            </a:endParaRPr>
          </a:p>
          <a:p>
            <a:pPr marL="1109980">
              <a:lnSpc>
                <a:spcPct val="100000"/>
              </a:lnSpc>
            </a:pPr>
            <a:r>
              <a:rPr sz="2000" spc="-100" dirty="0">
                <a:latin typeface="Times New Roman"/>
                <a:cs typeface="Times New Roman"/>
              </a:rPr>
              <a:t>been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defined</a:t>
            </a:r>
            <a:endParaRPr sz="2000">
              <a:latin typeface="Times New Roman"/>
              <a:cs typeface="Times New Roman"/>
            </a:endParaRPr>
          </a:p>
          <a:p>
            <a:pPr marL="1109345" lvl="2" indent="-227965">
              <a:lnSpc>
                <a:spcPct val="100000"/>
              </a:lnSpc>
              <a:spcBef>
                <a:spcPts val="409"/>
              </a:spcBef>
              <a:buClr>
                <a:srgbClr val="A18E6A"/>
              </a:buClr>
              <a:buSzPct val="80000"/>
              <a:buFont typeface="Segoe UI Symbol"/>
              <a:buChar char="⚫"/>
              <a:tabLst>
                <a:tab pos="1109345" algn="l"/>
              </a:tabLst>
            </a:pPr>
            <a:r>
              <a:rPr sz="2000" b="1" dirty="0">
                <a:latin typeface="Times New Roman"/>
                <a:cs typeface="Times New Roman"/>
              </a:rPr>
              <a:t>Import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style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sheet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spc="-195" dirty="0">
                <a:latin typeface="Times New Roman"/>
                <a:cs typeface="Times New Roman"/>
              </a:rPr>
              <a:t>(By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using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40" dirty="0">
                <a:latin typeface="Times New Roman"/>
                <a:cs typeface="Times New Roman"/>
              </a:rPr>
              <a:t>STYLE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element,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specify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external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file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(define</a:t>
            </a:r>
            <a:endParaRPr sz="2000">
              <a:latin typeface="Times New Roman"/>
              <a:cs typeface="Times New Roman"/>
            </a:endParaRPr>
          </a:p>
          <a:p>
            <a:pPr marL="1109980">
              <a:lnSpc>
                <a:spcPct val="100000"/>
              </a:lnSpc>
            </a:pPr>
            <a:r>
              <a:rPr sz="2000" spc="-85" dirty="0">
                <a:latin typeface="Times New Roman"/>
                <a:cs typeface="Times New Roman"/>
              </a:rPr>
              <a:t>style)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be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imported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6127" y="0"/>
            <a:ext cx="5602985" cy="89382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416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Implementation</a:t>
            </a:r>
            <a:r>
              <a:rPr b="1" spc="-8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-9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CSS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65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spc="-95" dirty="0"/>
              <a:t> </a:t>
            </a:r>
            <a:r>
              <a:rPr dirty="0"/>
              <a:t>by</a:t>
            </a:r>
            <a:r>
              <a:rPr spc="-120" dirty="0"/>
              <a:t> </a:t>
            </a:r>
            <a:r>
              <a:rPr dirty="0"/>
              <a:t>case</a:t>
            </a:r>
            <a:r>
              <a:rPr spc="-110" dirty="0"/>
              <a:t> </a:t>
            </a:r>
            <a:r>
              <a:rPr spc="-5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30161" y="987361"/>
            <a:ext cx="4958080" cy="3143250"/>
            <a:chOff x="530161" y="987361"/>
            <a:chExt cx="4958080" cy="3143250"/>
          </a:xfrm>
        </p:grpSpPr>
        <p:sp>
          <p:nvSpPr>
            <p:cNvPr id="5" name="object 5"/>
            <p:cNvSpPr/>
            <p:nvPr/>
          </p:nvSpPr>
          <p:spPr>
            <a:xfrm>
              <a:off x="534923" y="1281684"/>
              <a:ext cx="1243965" cy="1310640"/>
            </a:xfrm>
            <a:custGeom>
              <a:avLst/>
              <a:gdLst/>
              <a:ahLst/>
              <a:cxnLst/>
              <a:rect l="l" t="t" r="r" b="b"/>
              <a:pathLst>
                <a:path w="1243964" h="1310639">
                  <a:moveTo>
                    <a:pt x="0" y="1310639"/>
                  </a:moveTo>
                  <a:lnTo>
                    <a:pt x="1243583" y="1310639"/>
                  </a:lnTo>
                  <a:lnTo>
                    <a:pt x="1243583" y="0"/>
                  </a:lnTo>
                  <a:lnTo>
                    <a:pt x="0" y="0"/>
                  </a:lnTo>
                  <a:lnTo>
                    <a:pt x="0" y="1310639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4923" y="992124"/>
              <a:ext cx="1243965" cy="1600200"/>
            </a:xfrm>
            <a:custGeom>
              <a:avLst/>
              <a:gdLst/>
              <a:ahLst/>
              <a:cxnLst/>
              <a:rect l="l" t="t" r="r" b="b"/>
              <a:pathLst>
                <a:path w="1243964" h="1600200">
                  <a:moveTo>
                    <a:pt x="0" y="1600200"/>
                  </a:moveTo>
                  <a:lnTo>
                    <a:pt x="1243583" y="1600200"/>
                  </a:lnTo>
                  <a:lnTo>
                    <a:pt x="1243583" y="0"/>
                  </a:lnTo>
                  <a:lnTo>
                    <a:pt x="0" y="0"/>
                  </a:lnTo>
                  <a:lnTo>
                    <a:pt x="0" y="1600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4923" y="992124"/>
              <a:ext cx="1243965" cy="289560"/>
            </a:xfrm>
            <a:custGeom>
              <a:avLst/>
              <a:gdLst/>
              <a:ahLst/>
              <a:cxnLst/>
              <a:rect l="l" t="t" r="r" b="b"/>
              <a:pathLst>
                <a:path w="1243964" h="289559">
                  <a:moveTo>
                    <a:pt x="1243583" y="0"/>
                  </a:moveTo>
                  <a:lnTo>
                    <a:pt x="0" y="0"/>
                  </a:lnTo>
                  <a:lnTo>
                    <a:pt x="0" y="289560"/>
                  </a:lnTo>
                  <a:lnTo>
                    <a:pt x="1243583" y="289560"/>
                  </a:lnTo>
                  <a:lnTo>
                    <a:pt x="12435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4923" y="992124"/>
              <a:ext cx="1243965" cy="289560"/>
            </a:xfrm>
            <a:custGeom>
              <a:avLst/>
              <a:gdLst/>
              <a:ahLst/>
              <a:cxnLst/>
              <a:rect l="l" t="t" r="r" b="b"/>
              <a:pathLst>
                <a:path w="1243964" h="289559">
                  <a:moveTo>
                    <a:pt x="0" y="289560"/>
                  </a:moveTo>
                  <a:lnTo>
                    <a:pt x="1243583" y="289560"/>
                  </a:lnTo>
                  <a:lnTo>
                    <a:pt x="1243583" y="0"/>
                  </a:lnTo>
                  <a:lnTo>
                    <a:pt x="0" y="0"/>
                  </a:lnTo>
                  <a:lnTo>
                    <a:pt x="0" y="2895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3523" y="1738884"/>
              <a:ext cx="1243965" cy="1310640"/>
            </a:xfrm>
            <a:custGeom>
              <a:avLst/>
              <a:gdLst/>
              <a:ahLst/>
              <a:cxnLst/>
              <a:rect l="l" t="t" r="r" b="b"/>
              <a:pathLst>
                <a:path w="1243964" h="1310639">
                  <a:moveTo>
                    <a:pt x="0" y="1310639"/>
                  </a:moveTo>
                  <a:lnTo>
                    <a:pt x="1243583" y="1310639"/>
                  </a:lnTo>
                  <a:lnTo>
                    <a:pt x="1243583" y="0"/>
                  </a:lnTo>
                  <a:lnTo>
                    <a:pt x="0" y="0"/>
                  </a:lnTo>
                  <a:lnTo>
                    <a:pt x="0" y="1310639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3523" y="1449324"/>
              <a:ext cx="1243965" cy="1600200"/>
            </a:xfrm>
            <a:custGeom>
              <a:avLst/>
              <a:gdLst/>
              <a:ahLst/>
              <a:cxnLst/>
              <a:rect l="l" t="t" r="r" b="b"/>
              <a:pathLst>
                <a:path w="1243964" h="1600200">
                  <a:moveTo>
                    <a:pt x="0" y="1600200"/>
                  </a:moveTo>
                  <a:lnTo>
                    <a:pt x="1243583" y="1600200"/>
                  </a:lnTo>
                  <a:lnTo>
                    <a:pt x="1243583" y="0"/>
                  </a:lnTo>
                  <a:lnTo>
                    <a:pt x="0" y="0"/>
                  </a:lnTo>
                  <a:lnTo>
                    <a:pt x="0" y="1600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3523" y="1449324"/>
              <a:ext cx="1243965" cy="289560"/>
            </a:xfrm>
            <a:custGeom>
              <a:avLst/>
              <a:gdLst/>
              <a:ahLst/>
              <a:cxnLst/>
              <a:rect l="l" t="t" r="r" b="b"/>
              <a:pathLst>
                <a:path w="1243964" h="289560">
                  <a:moveTo>
                    <a:pt x="1243583" y="0"/>
                  </a:moveTo>
                  <a:lnTo>
                    <a:pt x="0" y="0"/>
                  </a:lnTo>
                  <a:lnTo>
                    <a:pt x="0" y="289560"/>
                  </a:lnTo>
                  <a:lnTo>
                    <a:pt x="1243583" y="289560"/>
                  </a:lnTo>
                  <a:lnTo>
                    <a:pt x="12435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3523" y="1449324"/>
              <a:ext cx="1243965" cy="289560"/>
            </a:xfrm>
            <a:custGeom>
              <a:avLst/>
              <a:gdLst/>
              <a:ahLst/>
              <a:cxnLst/>
              <a:rect l="l" t="t" r="r" b="b"/>
              <a:pathLst>
                <a:path w="1243964" h="289560">
                  <a:moveTo>
                    <a:pt x="0" y="289560"/>
                  </a:moveTo>
                  <a:lnTo>
                    <a:pt x="1243583" y="289560"/>
                  </a:lnTo>
                  <a:lnTo>
                    <a:pt x="1243583" y="0"/>
                  </a:lnTo>
                  <a:lnTo>
                    <a:pt x="0" y="0"/>
                  </a:lnTo>
                  <a:lnTo>
                    <a:pt x="0" y="2895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3940" y="2272284"/>
              <a:ext cx="1243965" cy="1310640"/>
            </a:xfrm>
            <a:custGeom>
              <a:avLst/>
              <a:gdLst/>
              <a:ahLst/>
              <a:cxnLst/>
              <a:rect l="l" t="t" r="r" b="b"/>
              <a:pathLst>
                <a:path w="1243964" h="1310639">
                  <a:moveTo>
                    <a:pt x="0" y="1310639"/>
                  </a:moveTo>
                  <a:lnTo>
                    <a:pt x="1243584" y="1310639"/>
                  </a:lnTo>
                  <a:lnTo>
                    <a:pt x="1243584" y="0"/>
                  </a:lnTo>
                  <a:lnTo>
                    <a:pt x="0" y="0"/>
                  </a:lnTo>
                  <a:lnTo>
                    <a:pt x="0" y="1310639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43940" y="1982724"/>
              <a:ext cx="1243965" cy="1600200"/>
            </a:xfrm>
            <a:custGeom>
              <a:avLst/>
              <a:gdLst/>
              <a:ahLst/>
              <a:cxnLst/>
              <a:rect l="l" t="t" r="r" b="b"/>
              <a:pathLst>
                <a:path w="1243964" h="1600200">
                  <a:moveTo>
                    <a:pt x="0" y="1600200"/>
                  </a:moveTo>
                  <a:lnTo>
                    <a:pt x="1243584" y="1600200"/>
                  </a:lnTo>
                  <a:lnTo>
                    <a:pt x="1243584" y="0"/>
                  </a:lnTo>
                  <a:lnTo>
                    <a:pt x="0" y="0"/>
                  </a:lnTo>
                  <a:lnTo>
                    <a:pt x="0" y="1600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43940" y="1982724"/>
              <a:ext cx="1243965" cy="289560"/>
            </a:xfrm>
            <a:custGeom>
              <a:avLst/>
              <a:gdLst/>
              <a:ahLst/>
              <a:cxnLst/>
              <a:rect l="l" t="t" r="r" b="b"/>
              <a:pathLst>
                <a:path w="1243964" h="289560">
                  <a:moveTo>
                    <a:pt x="1243584" y="0"/>
                  </a:moveTo>
                  <a:lnTo>
                    <a:pt x="0" y="0"/>
                  </a:lnTo>
                  <a:lnTo>
                    <a:pt x="0" y="289560"/>
                  </a:lnTo>
                  <a:lnTo>
                    <a:pt x="1243584" y="289560"/>
                  </a:lnTo>
                  <a:lnTo>
                    <a:pt x="12435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43940" y="1982724"/>
              <a:ext cx="1243965" cy="289560"/>
            </a:xfrm>
            <a:custGeom>
              <a:avLst/>
              <a:gdLst/>
              <a:ahLst/>
              <a:cxnLst/>
              <a:rect l="l" t="t" r="r" b="b"/>
              <a:pathLst>
                <a:path w="1243964" h="289560">
                  <a:moveTo>
                    <a:pt x="0" y="289560"/>
                  </a:moveTo>
                  <a:lnTo>
                    <a:pt x="1243584" y="289560"/>
                  </a:lnTo>
                  <a:lnTo>
                    <a:pt x="1243584" y="0"/>
                  </a:lnTo>
                  <a:lnTo>
                    <a:pt x="0" y="0"/>
                  </a:lnTo>
                  <a:lnTo>
                    <a:pt x="0" y="2895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96923" y="2805684"/>
              <a:ext cx="1243965" cy="1310640"/>
            </a:xfrm>
            <a:custGeom>
              <a:avLst/>
              <a:gdLst/>
              <a:ahLst/>
              <a:cxnLst/>
              <a:rect l="l" t="t" r="r" b="b"/>
              <a:pathLst>
                <a:path w="1243964" h="1310639">
                  <a:moveTo>
                    <a:pt x="0" y="1310639"/>
                  </a:moveTo>
                  <a:lnTo>
                    <a:pt x="1243584" y="1310639"/>
                  </a:lnTo>
                  <a:lnTo>
                    <a:pt x="1243584" y="0"/>
                  </a:lnTo>
                  <a:lnTo>
                    <a:pt x="0" y="0"/>
                  </a:lnTo>
                  <a:lnTo>
                    <a:pt x="0" y="1310639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96923" y="2516124"/>
              <a:ext cx="1243965" cy="1600200"/>
            </a:xfrm>
            <a:custGeom>
              <a:avLst/>
              <a:gdLst/>
              <a:ahLst/>
              <a:cxnLst/>
              <a:rect l="l" t="t" r="r" b="b"/>
              <a:pathLst>
                <a:path w="1243964" h="1600200">
                  <a:moveTo>
                    <a:pt x="0" y="1600200"/>
                  </a:moveTo>
                  <a:lnTo>
                    <a:pt x="1243584" y="1600200"/>
                  </a:lnTo>
                  <a:lnTo>
                    <a:pt x="1243584" y="0"/>
                  </a:lnTo>
                  <a:lnTo>
                    <a:pt x="0" y="0"/>
                  </a:lnTo>
                  <a:lnTo>
                    <a:pt x="0" y="160020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96923" y="2516124"/>
              <a:ext cx="1243965" cy="289560"/>
            </a:xfrm>
            <a:custGeom>
              <a:avLst/>
              <a:gdLst/>
              <a:ahLst/>
              <a:cxnLst/>
              <a:rect l="l" t="t" r="r" b="b"/>
              <a:pathLst>
                <a:path w="1243964" h="289560">
                  <a:moveTo>
                    <a:pt x="1243584" y="0"/>
                  </a:moveTo>
                  <a:lnTo>
                    <a:pt x="0" y="0"/>
                  </a:lnTo>
                  <a:lnTo>
                    <a:pt x="0" y="289560"/>
                  </a:lnTo>
                  <a:lnTo>
                    <a:pt x="1243584" y="289560"/>
                  </a:lnTo>
                  <a:lnTo>
                    <a:pt x="12435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96923" y="2516124"/>
              <a:ext cx="1243965" cy="289560"/>
            </a:xfrm>
            <a:custGeom>
              <a:avLst/>
              <a:gdLst/>
              <a:ahLst/>
              <a:cxnLst/>
              <a:rect l="l" t="t" r="r" b="b"/>
              <a:pathLst>
                <a:path w="1243964" h="289560">
                  <a:moveTo>
                    <a:pt x="0" y="289560"/>
                  </a:moveTo>
                  <a:lnTo>
                    <a:pt x="1243584" y="289560"/>
                  </a:lnTo>
                  <a:lnTo>
                    <a:pt x="1243584" y="0"/>
                  </a:lnTo>
                  <a:lnTo>
                    <a:pt x="0" y="0"/>
                  </a:lnTo>
                  <a:lnTo>
                    <a:pt x="0" y="2895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3123" y="2973324"/>
              <a:ext cx="1066800" cy="1524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373123" y="2973324"/>
              <a:ext cx="1066800" cy="152400"/>
            </a:xfrm>
            <a:custGeom>
              <a:avLst/>
              <a:gdLst/>
              <a:ahLst/>
              <a:cxnLst/>
              <a:rect l="l" t="t" r="r" b="b"/>
              <a:pathLst>
                <a:path w="1066800" h="152400">
                  <a:moveTo>
                    <a:pt x="0" y="152400"/>
                  </a:moveTo>
                  <a:lnTo>
                    <a:pt x="1066800" y="152400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39923" y="3006597"/>
              <a:ext cx="457200" cy="85725"/>
            </a:xfrm>
            <a:custGeom>
              <a:avLst/>
              <a:gdLst/>
              <a:ahLst/>
              <a:cxnLst/>
              <a:rect l="l" t="t" r="r" b="b"/>
              <a:pathLst>
                <a:path w="457200" h="85725">
                  <a:moveTo>
                    <a:pt x="85725" y="0"/>
                  </a:moveTo>
                  <a:lnTo>
                    <a:pt x="0" y="42925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71374" y="57150"/>
                  </a:lnTo>
                  <a:lnTo>
                    <a:pt x="71500" y="28575"/>
                  </a:lnTo>
                  <a:lnTo>
                    <a:pt x="85725" y="28575"/>
                  </a:lnTo>
                  <a:lnTo>
                    <a:pt x="85725" y="0"/>
                  </a:lnTo>
                  <a:close/>
                </a:path>
                <a:path w="457200" h="85725">
                  <a:moveTo>
                    <a:pt x="85725" y="28575"/>
                  </a:moveTo>
                  <a:lnTo>
                    <a:pt x="71500" y="28575"/>
                  </a:lnTo>
                  <a:lnTo>
                    <a:pt x="71374" y="57150"/>
                  </a:lnTo>
                  <a:lnTo>
                    <a:pt x="85725" y="57150"/>
                  </a:lnTo>
                  <a:lnTo>
                    <a:pt x="85725" y="28575"/>
                  </a:lnTo>
                  <a:close/>
                </a:path>
                <a:path w="457200" h="85725">
                  <a:moveTo>
                    <a:pt x="457200" y="28575"/>
                  </a:moveTo>
                  <a:lnTo>
                    <a:pt x="85725" y="28575"/>
                  </a:lnTo>
                  <a:lnTo>
                    <a:pt x="85725" y="57150"/>
                  </a:lnTo>
                  <a:lnTo>
                    <a:pt x="457200" y="57150"/>
                  </a:lnTo>
                  <a:lnTo>
                    <a:pt x="457200" y="285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97123" y="1220724"/>
              <a:ext cx="2590800" cy="1828800"/>
            </a:xfrm>
            <a:custGeom>
              <a:avLst/>
              <a:gdLst/>
              <a:ahLst/>
              <a:cxnLst/>
              <a:rect l="l" t="t" r="r" b="b"/>
              <a:pathLst>
                <a:path w="2590800" h="1828800">
                  <a:moveTo>
                    <a:pt x="0" y="1828800"/>
                  </a:moveTo>
                  <a:lnTo>
                    <a:pt x="0" y="0"/>
                  </a:lnTo>
                </a:path>
                <a:path w="2590800" h="1828800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25723" y="2516124"/>
              <a:ext cx="304800" cy="1600200"/>
            </a:xfrm>
            <a:custGeom>
              <a:avLst/>
              <a:gdLst/>
              <a:ahLst/>
              <a:cxnLst/>
              <a:rect l="l" t="t" r="r" b="b"/>
              <a:pathLst>
                <a:path w="304800" h="1600200">
                  <a:moveTo>
                    <a:pt x="0" y="0"/>
                  </a:moveTo>
                  <a:lnTo>
                    <a:pt x="152400" y="0"/>
                  </a:lnTo>
                </a:path>
                <a:path w="304800" h="1600200">
                  <a:moveTo>
                    <a:pt x="0" y="1600200"/>
                  </a:moveTo>
                  <a:lnTo>
                    <a:pt x="152400" y="1600200"/>
                  </a:lnTo>
                </a:path>
                <a:path w="304800" h="1600200">
                  <a:moveTo>
                    <a:pt x="152400" y="0"/>
                  </a:moveTo>
                  <a:lnTo>
                    <a:pt x="152400" y="762000"/>
                  </a:lnTo>
                </a:path>
                <a:path w="304800" h="1600200">
                  <a:moveTo>
                    <a:pt x="152400" y="914400"/>
                  </a:moveTo>
                  <a:lnTo>
                    <a:pt x="152400" y="1600200"/>
                  </a:lnTo>
                </a:path>
                <a:path w="304800" h="1600200">
                  <a:moveTo>
                    <a:pt x="152400" y="762000"/>
                  </a:moveTo>
                  <a:lnTo>
                    <a:pt x="304800" y="838200"/>
                  </a:lnTo>
                </a:path>
                <a:path w="304800" h="1600200">
                  <a:moveTo>
                    <a:pt x="304800" y="838200"/>
                  </a:moveTo>
                  <a:lnTo>
                    <a:pt x="152400" y="914400"/>
                  </a:lnTo>
                </a:path>
              </a:pathLst>
            </a:custGeom>
            <a:ln w="285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643117" y="941959"/>
            <a:ext cx="3224530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56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want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specify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position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Specify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 directly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with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95A9A9"/>
                </a:solidFill>
                <a:latin typeface="Arial"/>
                <a:cs typeface="Arial"/>
              </a:rPr>
              <a:t>[Inline</a:t>
            </a:r>
            <a:r>
              <a:rPr sz="1800" b="1" spc="-65" dirty="0">
                <a:solidFill>
                  <a:srgbClr val="95A9A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5A9A9"/>
                </a:solidFill>
                <a:latin typeface="Arial"/>
                <a:cs typeface="Arial"/>
              </a:rPr>
              <a:t>style </a:t>
            </a:r>
            <a:r>
              <a:rPr sz="1800" b="1" spc="-10" dirty="0">
                <a:solidFill>
                  <a:srgbClr val="95A9A9"/>
                </a:solidFill>
                <a:latin typeface="Arial"/>
                <a:cs typeface="Arial"/>
              </a:rPr>
              <a:t>sheet]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14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want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common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page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Define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with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[Embedded</a:t>
            </a:r>
            <a:r>
              <a:rPr sz="1800" b="1" spc="-9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style</a:t>
            </a:r>
            <a:r>
              <a:rPr sz="1800" b="1" spc="2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9900"/>
                </a:solidFill>
                <a:latin typeface="Arial"/>
                <a:cs typeface="Arial"/>
              </a:rPr>
              <a:t>sheet]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2592" y="4905882"/>
            <a:ext cx="3387090" cy="164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225" marR="177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want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common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pages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1800">
              <a:latin typeface="Arial MT"/>
              <a:cs typeface="Arial MT"/>
            </a:endParaRPr>
          </a:p>
          <a:p>
            <a:pPr marL="23812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Define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in</a:t>
            </a:r>
            <a:endParaRPr sz="18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100" baseline="-5952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</a:t>
            </a:r>
            <a:r>
              <a:rPr sz="2100" spc="427" baseline="-5952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Arial MT"/>
                <a:cs typeface="Arial MT"/>
              </a:rPr>
              <a:t>external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[Linking/Import]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702361" y="1520761"/>
            <a:ext cx="466725" cy="390525"/>
            <a:chOff x="6702361" y="1520761"/>
            <a:chExt cx="466725" cy="390525"/>
          </a:xfrm>
        </p:grpSpPr>
        <p:sp>
          <p:nvSpPr>
            <p:cNvPr id="29" name="object 29"/>
            <p:cNvSpPr/>
            <p:nvPr/>
          </p:nvSpPr>
          <p:spPr>
            <a:xfrm>
              <a:off x="6707123" y="1525524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342900" y="0"/>
                  </a:moveTo>
                  <a:lnTo>
                    <a:pt x="114300" y="0"/>
                  </a:lnTo>
                  <a:lnTo>
                    <a:pt x="114300" y="285750"/>
                  </a:lnTo>
                  <a:lnTo>
                    <a:pt x="0" y="285750"/>
                  </a:lnTo>
                  <a:lnTo>
                    <a:pt x="228600" y="381000"/>
                  </a:lnTo>
                  <a:lnTo>
                    <a:pt x="457200" y="285750"/>
                  </a:lnTo>
                  <a:lnTo>
                    <a:pt x="342900" y="28575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07123" y="1525524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285750"/>
                  </a:moveTo>
                  <a:lnTo>
                    <a:pt x="114300" y="285750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285750"/>
                  </a:lnTo>
                  <a:lnTo>
                    <a:pt x="457200" y="285750"/>
                  </a:lnTo>
                  <a:lnTo>
                    <a:pt x="228600" y="38100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778561" y="3501961"/>
            <a:ext cx="466725" cy="390525"/>
            <a:chOff x="6778561" y="3501961"/>
            <a:chExt cx="466725" cy="390525"/>
          </a:xfrm>
        </p:grpSpPr>
        <p:sp>
          <p:nvSpPr>
            <p:cNvPr id="32" name="object 32"/>
            <p:cNvSpPr/>
            <p:nvPr/>
          </p:nvSpPr>
          <p:spPr>
            <a:xfrm>
              <a:off x="6783323" y="3506723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342900" y="0"/>
                  </a:moveTo>
                  <a:lnTo>
                    <a:pt x="114300" y="0"/>
                  </a:lnTo>
                  <a:lnTo>
                    <a:pt x="114300" y="285750"/>
                  </a:lnTo>
                  <a:lnTo>
                    <a:pt x="0" y="285750"/>
                  </a:lnTo>
                  <a:lnTo>
                    <a:pt x="228600" y="381000"/>
                  </a:lnTo>
                  <a:lnTo>
                    <a:pt x="457200" y="285750"/>
                  </a:lnTo>
                  <a:lnTo>
                    <a:pt x="342900" y="28575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83323" y="3506723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285750"/>
                  </a:moveTo>
                  <a:lnTo>
                    <a:pt x="114300" y="285750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285750"/>
                  </a:lnTo>
                  <a:lnTo>
                    <a:pt x="457200" y="285750"/>
                  </a:lnTo>
                  <a:lnTo>
                    <a:pt x="228600" y="38100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700593" y="5510593"/>
            <a:ext cx="466725" cy="390525"/>
            <a:chOff x="1700593" y="5510593"/>
            <a:chExt cx="466725" cy="390525"/>
          </a:xfrm>
        </p:grpSpPr>
        <p:sp>
          <p:nvSpPr>
            <p:cNvPr id="35" name="object 35"/>
            <p:cNvSpPr/>
            <p:nvPr/>
          </p:nvSpPr>
          <p:spPr>
            <a:xfrm>
              <a:off x="1705355" y="5515355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342900" y="0"/>
                  </a:moveTo>
                  <a:lnTo>
                    <a:pt x="114300" y="0"/>
                  </a:lnTo>
                  <a:lnTo>
                    <a:pt x="114300" y="285750"/>
                  </a:lnTo>
                  <a:lnTo>
                    <a:pt x="0" y="285750"/>
                  </a:lnTo>
                  <a:lnTo>
                    <a:pt x="228600" y="381000"/>
                  </a:lnTo>
                  <a:lnTo>
                    <a:pt x="457200" y="285750"/>
                  </a:lnTo>
                  <a:lnTo>
                    <a:pt x="342900" y="28575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05355" y="5515355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285750"/>
                  </a:moveTo>
                  <a:lnTo>
                    <a:pt x="114300" y="285750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285750"/>
                  </a:lnTo>
                  <a:lnTo>
                    <a:pt x="457200" y="285750"/>
                  </a:lnTo>
                  <a:lnTo>
                    <a:pt x="228600" y="38100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/>
          <p:nvPr/>
        </p:nvSpPr>
        <p:spPr>
          <a:xfrm>
            <a:off x="440436" y="4497323"/>
            <a:ext cx="2362200" cy="304800"/>
          </a:xfrm>
          <a:custGeom>
            <a:avLst/>
            <a:gdLst/>
            <a:ahLst/>
            <a:cxnLst/>
            <a:rect l="l" t="t" r="r" b="b"/>
            <a:pathLst>
              <a:path w="2362200" h="304800">
                <a:moveTo>
                  <a:pt x="2362200" y="0"/>
                </a:moveTo>
                <a:lnTo>
                  <a:pt x="2362200" y="152400"/>
                </a:lnTo>
              </a:path>
              <a:path w="2362200" h="304800">
                <a:moveTo>
                  <a:pt x="0" y="0"/>
                </a:moveTo>
                <a:lnTo>
                  <a:pt x="0" y="152400"/>
                </a:lnTo>
              </a:path>
              <a:path w="2362200" h="304800">
                <a:moveTo>
                  <a:pt x="2362200" y="152400"/>
                </a:moveTo>
                <a:lnTo>
                  <a:pt x="1237488" y="152400"/>
                </a:lnTo>
              </a:path>
              <a:path w="2362200" h="304800">
                <a:moveTo>
                  <a:pt x="1011936" y="152400"/>
                </a:moveTo>
                <a:lnTo>
                  <a:pt x="0" y="152400"/>
                </a:lnTo>
              </a:path>
              <a:path w="2362200" h="304800">
                <a:moveTo>
                  <a:pt x="1237488" y="152400"/>
                </a:moveTo>
                <a:lnTo>
                  <a:pt x="1124712" y="304800"/>
                </a:lnTo>
              </a:path>
              <a:path w="2362200" h="304800">
                <a:moveTo>
                  <a:pt x="1124712" y="304800"/>
                </a:moveTo>
                <a:lnTo>
                  <a:pt x="1011936" y="152400"/>
                </a:lnTo>
              </a:path>
            </a:pathLst>
          </a:custGeom>
          <a:ln w="28575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Inline</a:t>
            </a:r>
            <a:r>
              <a:rPr spc="-210" dirty="0"/>
              <a:t> </a:t>
            </a:r>
            <a:r>
              <a:rPr spc="-10" dirty="0"/>
              <a:t>Style</a:t>
            </a:r>
            <a:r>
              <a:rPr spc="-160" dirty="0"/>
              <a:t> </a:t>
            </a:r>
            <a:r>
              <a:rPr spc="-10" dirty="0"/>
              <a:t>Sheet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0692" y="6319215"/>
            <a:ext cx="12953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2440" y="856488"/>
            <a:ext cx="8525510" cy="2103755"/>
            <a:chOff x="472440" y="856488"/>
            <a:chExt cx="8525510" cy="2103755"/>
          </a:xfrm>
        </p:grpSpPr>
        <p:sp>
          <p:nvSpPr>
            <p:cNvPr id="6" name="object 6"/>
            <p:cNvSpPr/>
            <p:nvPr/>
          </p:nvSpPr>
          <p:spPr>
            <a:xfrm>
              <a:off x="1754123" y="1754124"/>
              <a:ext cx="7239000" cy="1201420"/>
            </a:xfrm>
            <a:custGeom>
              <a:avLst/>
              <a:gdLst/>
              <a:ahLst/>
              <a:cxnLst/>
              <a:rect l="l" t="t" r="r" b="b"/>
              <a:pathLst>
                <a:path w="7239000" h="1201420">
                  <a:moveTo>
                    <a:pt x="0" y="1200912"/>
                  </a:moveTo>
                  <a:lnTo>
                    <a:pt x="7239000" y="1200912"/>
                  </a:lnTo>
                  <a:lnTo>
                    <a:pt x="7239000" y="0"/>
                  </a:lnTo>
                  <a:lnTo>
                    <a:pt x="0" y="0"/>
                  </a:lnTo>
                  <a:lnTo>
                    <a:pt x="0" y="1200912"/>
                  </a:lnTo>
                  <a:close/>
                </a:path>
              </a:pathLst>
            </a:custGeom>
            <a:ln w="9525">
              <a:solidFill>
                <a:srgbClr val="95A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523" y="1075895"/>
              <a:ext cx="200499" cy="2004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40" y="1066800"/>
              <a:ext cx="192023" cy="1920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840" y="856488"/>
              <a:ext cx="4472178" cy="6804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90872" y="856488"/>
              <a:ext cx="1387602" cy="68046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57672" y="856488"/>
              <a:ext cx="2743962" cy="68046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4840" y="1222248"/>
              <a:ext cx="2329434" cy="68046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04468" y="938910"/>
            <a:ext cx="7410450" cy="1964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Specify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style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directly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FF9900"/>
                </a:solidFill>
                <a:latin typeface="Arial"/>
                <a:cs typeface="Arial"/>
              </a:rPr>
              <a:t>STYLE</a:t>
            </a:r>
            <a:r>
              <a:rPr sz="2400" b="1" spc="-2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attributes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toward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element.</a:t>
            </a:r>
            <a:endParaRPr sz="2400">
              <a:latin typeface="Arial MT"/>
              <a:cs typeface="Arial MT"/>
            </a:endParaRPr>
          </a:p>
          <a:p>
            <a:pPr marL="1040130">
              <a:lnSpc>
                <a:spcPct val="100000"/>
              </a:lnSpc>
              <a:spcBef>
                <a:spcPts val="865"/>
              </a:spcBef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  <a:p>
            <a:pPr marL="1040130">
              <a:lnSpc>
                <a:spcPct val="100000"/>
              </a:lnSpc>
              <a:spcBef>
                <a:spcPts val="1080"/>
              </a:spcBef>
            </a:pPr>
            <a:r>
              <a:rPr sz="1800" b="1" spc="-20" dirty="0">
                <a:latin typeface="Arial"/>
                <a:cs typeface="Arial"/>
              </a:rPr>
              <a:t>&lt;Tag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STYLE=“property:value”&gt;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&lt;/Tag&gt;</a:t>
            </a:r>
            <a:endParaRPr sz="1800">
              <a:latin typeface="Arial"/>
              <a:cs typeface="Arial"/>
            </a:endParaRPr>
          </a:p>
          <a:p>
            <a:pPr marL="104013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Arial MT"/>
                <a:cs typeface="Arial MT"/>
              </a:rPr>
              <a:t>&lt;/BODY&gt;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11323" y="4268723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3810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54123" y="3125723"/>
            <a:ext cx="7239000" cy="2026920"/>
          </a:xfrm>
          <a:prstGeom prst="rect">
            <a:avLst/>
          </a:prstGeom>
          <a:ln w="9525">
            <a:solidFill>
              <a:srgbClr val="95A9A9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Arial"/>
                <a:cs typeface="Arial"/>
              </a:rPr>
              <a:t>&lt;H1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STYLE=“color: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red”&gt;</a:t>
            </a:r>
            <a:r>
              <a:rPr sz="1800" dirty="0">
                <a:latin typeface="Arial MT"/>
                <a:cs typeface="Arial MT"/>
              </a:rPr>
              <a:t>Red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heading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&lt;/H1&gt;</a:t>
            </a:r>
            <a:endParaRPr sz="180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95A9A9"/>
                </a:solidFill>
                <a:latin typeface="Arial"/>
                <a:cs typeface="Arial"/>
              </a:rPr>
              <a:t>&lt;P</a:t>
            </a:r>
            <a:r>
              <a:rPr sz="1800" b="1" spc="-40" dirty="0">
                <a:solidFill>
                  <a:srgbClr val="95A9A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5A9A9"/>
                </a:solidFill>
                <a:latin typeface="Arial"/>
                <a:cs typeface="Arial"/>
              </a:rPr>
              <a:t>STYLE=“color:</a:t>
            </a:r>
            <a:r>
              <a:rPr sz="1800" b="1" spc="-45" dirty="0">
                <a:solidFill>
                  <a:srgbClr val="95A9A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5A9A9"/>
                </a:solidFill>
                <a:latin typeface="Arial"/>
                <a:cs typeface="Arial"/>
              </a:rPr>
              <a:t>blue;</a:t>
            </a:r>
            <a:r>
              <a:rPr sz="1800" b="1" spc="-20" dirty="0">
                <a:solidFill>
                  <a:srgbClr val="95A9A9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5A9A9"/>
                </a:solidFill>
                <a:latin typeface="Arial"/>
                <a:cs typeface="Arial"/>
              </a:rPr>
              <a:t>FONT-</a:t>
            </a:r>
            <a:r>
              <a:rPr sz="1800" b="1" dirty="0">
                <a:solidFill>
                  <a:srgbClr val="95A9A9"/>
                </a:solidFill>
                <a:latin typeface="Arial"/>
                <a:cs typeface="Arial"/>
              </a:rPr>
              <a:t>size:20px”&gt;</a:t>
            </a:r>
            <a:r>
              <a:rPr sz="1800" b="1" spc="-25" dirty="0">
                <a:solidFill>
                  <a:srgbClr val="95A9A9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Blue</a:t>
            </a:r>
            <a:r>
              <a:rPr sz="1800" spc="-10" dirty="0">
                <a:latin typeface="Arial MT"/>
                <a:cs typeface="Arial MT"/>
              </a:rPr>
              <a:t> Paragraph</a:t>
            </a:r>
            <a:r>
              <a:rPr sz="1800" b="1" spc="-10" dirty="0">
                <a:solidFill>
                  <a:srgbClr val="95A9A9"/>
                </a:solidFill>
                <a:latin typeface="Arial"/>
                <a:cs typeface="Arial"/>
              </a:rPr>
              <a:t>&lt;/P&gt;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Arial"/>
              <a:cs typeface="Arial"/>
            </a:endParaRPr>
          </a:p>
          <a:p>
            <a:pPr marR="554355" algn="ctr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Separator</a:t>
            </a:r>
            <a:endParaRPr sz="18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&lt;/BODY&gt;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21123" y="4268723"/>
            <a:ext cx="541020" cy="317500"/>
          </a:xfrm>
          <a:custGeom>
            <a:avLst/>
            <a:gdLst/>
            <a:ahLst/>
            <a:cxnLst/>
            <a:rect l="l" t="t" r="r" b="b"/>
            <a:pathLst>
              <a:path w="541020" h="317500">
                <a:moveTo>
                  <a:pt x="81584" y="30127"/>
                </a:moveTo>
                <a:lnTo>
                  <a:pt x="67386" y="54963"/>
                </a:lnTo>
                <a:lnTo>
                  <a:pt x="526288" y="317245"/>
                </a:lnTo>
                <a:lnTo>
                  <a:pt x="540512" y="292353"/>
                </a:lnTo>
                <a:lnTo>
                  <a:pt x="81584" y="30127"/>
                </a:lnTo>
                <a:close/>
              </a:path>
              <a:path w="541020" h="317500">
                <a:moveTo>
                  <a:pt x="0" y="0"/>
                </a:moveTo>
                <a:lnTo>
                  <a:pt x="53212" y="79756"/>
                </a:lnTo>
                <a:lnTo>
                  <a:pt x="67386" y="54963"/>
                </a:lnTo>
                <a:lnTo>
                  <a:pt x="54990" y="47878"/>
                </a:lnTo>
                <a:lnTo>
                  <a:pt x="69087" y="22987"/>
                </a:lnTo>
                <a:lnTo>
                  <a:pt x="85666" y="22987"/>
                </a:lnTo>
                <a:lnTo>
                  <a:pt x="95758" y="5333"/>
                </a:lnTo>
                <a:lnTo>
                  <a:pt x="0" y="0"/>
                </a:lnTo>
                <a:close/>
              </a:path>
              <a:path w="541020" h="317500">
                <a:moveTo>
                  <a:pt x="69087" y="22987"/>
                </a:moveTo>
                <a:lnTo>
                  <a:pt x="54990" y="47878"/>
                </a:lnTo>
                <a:lnTo>
                  <a:pt x="67386" y="54963"/>
                </a:lnTo>
                <a:lnTo>
                  <a:pt x="81584" y="30127"/>
                </a:lnTo>
                <a:lnTo>
                  <a:pt x="69087" y="22987"/>
                </a:lnTo>
                <a:close/>
              </a:path>
              <a:path w="541020" h="317500">
                <a:moveTo>
                  <a:pt x="85666" y="22987"/>
                </a:moveTo>
                <a:lnTo>
                  <a:pt x="69087" y="22987"/>
                </a:lnTo>
                <a:lnTo>
                  <a:pt x="81584" y="30127"/>
                </a:lnTo>
                <a:lnTo>
                  <a:pt x="85666" y="22987"/>
                </a:lnTo>
                <a:close/>
              </a:path>
            </a:pathLst>
          </a:custGeom>
          <a:solidFill>
            <a:srgbClr val="95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3348" y="5366130"/>
            <a:ext cx="116839" cy="11938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3348" y="5695315"/>
            <a:ext cx="116839" cy="11938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3348" y="6024498"/>
            <a:ext cx="116839" cy="11937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3348" y="6353683"/>
            <a:ext cx="116839" cy="11937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53820" y="5204126"/>
            <a:ext cx="7252970" cy="134239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 each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element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within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BODY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Arial MT"/>
                <a:cs typeface="Arial MT"/>
              </a:rPr>
              <a:t>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attribute,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use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Arial MT"/>
                <a:cs typeface="Arial MT"/>
              </a:rPr>
              <a:t>Multiple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styles can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defined,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separated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semi-</a:t>
            </a:r>
            <a:r>
              <a:rPr sz="1800" spc="-10" dirty="0">
                <a:latin typeface="Arial MT"/>
                <a:cs typeface="Arial MT"/>
              </a:rPr>
              <a:t>colon.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applied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depending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element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Embedded</a:t>
            </a:r>
            <a:r>
              <a:rPr spc="-185" dirty="0"/>
              <a:t> </a:t>
            </a:r>
            <a:r>
              <a:rPr spc="-20" dirty="0"/>
              <a:t>Style</a:t>
            </a:r>
            <a:r>
              <a:rPr spc="-160" dirty="0"/>
              <a:t> </a:t>
            </a:r>
            <a:r>
              <a:rPr spc="-10" dirty="0"/>
              <a:t>Sheet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11523" y="3582923"/>
            <a:ext cx="3352800" cy="3048000"/>
          </a:xfrm>
          <a:custGeom>
            <a:avLst/>
            <a:gdLst/>
            <a:ahLst/>
            <a:cxnLst/>
            <a:rect l="l" t="t" r="r" b="b"/>
            <a:pathLst>
              <a:path w="3352800" h="3048000">
                <a:moveTo>
                  <a:pt x="3352800" y="0"/>
                </a:moveTo>
                <a:lnTo>
                  <a:pt x="0" y="0"/>
                </a:lnTo>
                <a:lnTo>
                  <a:pt x="0" y="3048000"/>
                </a:lnTo>
                <a:lnTo>
                  <a:pt x="3352800" y="3048000"/>
                </a:lnTo>
                <a:lnTo>
                  <a:pt x="3352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11523" y="3582923"/>
            <a:ext cx="3352800" cy="3048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1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&lt;STYLE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TYPE=“TEXT/CSS”&gt;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H1{color:red;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font-</a:t>
            </a:r>
            <a:r>
              <a:rPr sz="1800" spc="-10" dirty="0">
                <a:latin typeface="Arial MT"/>
                <a:cs typeface="Arial MT"/>
              </a:rPr>
              <a:t>size:20px}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&lt;/STYLE&gt;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&lt;H1&gt;Heading&lt;/H1&gt;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&lt;/BODY&gt;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10075" y="4095940"/>
            <a:ext cx="2768600" cy="1924050"/>
            <a:chOff x="4410075" y="4095940"/>
            <a:chExt cx="2768600" cy="1924050"/>
          </a:xfrm>
        </p:grpSpPr>
        <p:sp>
          <p:nvSpPr>
            <p:cNvPr id="7" name="object 7"/>
            <p:cNvSpPr/>
            <p:nvPr/>
          </p:nvSpPr>
          <p:spPr>
            <a:xfrm>
              <a:off x="4419600" y="57912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905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9523" y="4110228"/>
              <a:ext cx="304800" cy="713740"/>
            </a:xfrm>
            <a:custGeom>
              <a:avLst/>
              <a:gdLst/>
              <a:ahLst/>
              <a:cxnLst/>
              <a:rect l="l" t="t" r="r" b="b"/>
              <a:pathLst>
                <a:path w="304800" h="713739">
                  <a:moveTo>
                    <a:pt x="0" y="0"/>
                  </a:moveTo>
                  <a:lnTo>
                    <a:pt x="152400" y="0"/>
                  </a:lnTo>
                </a:path>
                <a:path w="304800" h="713739">
                  <a:moveTo>
                    <a:pt x="0" y="713232"/>
                  </a:moveTo>
                  <a:lnTo>
                    <a:pt x="152400" y="713232"/>
                  </a:lnTo>
                </a:path>
                <a:path w="304800" h="713739">
                  <a:moveTo>
                    <a:pt x="152400" y="0"/>
                  </a:moveTo>
                  <a:lnTo>
                    <a:pt x="152400" y="341376"/>
                  </a:lnTo>
                </a:path>
                <a:path w="304800" h="713739">
                  <a:moveTo>
                    <a:pt x="152400" y="408432"/>
                  </a:moveTo>
                  <a:lnTo>
                    <a:pt x="152400" y="713232"/>
                  </a:lnTo>
                </a:path>
                <a:path w="304800" h="713739">
                  <a:moveTo>
                    <a:pt x="152400" y="341376"/>
                  </a:moveTo>
                  <a:lnTo>
                    <a:pt x="304800" y="374904"/>
                  </a:lnTo>
                </a:path>
                <a:path w="304800" h="713739">
                  <a:moveTo>
                    <a:pt x="304800" y="374904"/>
                  </a:moveTo>
                  <a:lnTo>
                    <a:pt x="152400" y="408432"/>
                  </a:lnTo>
                </a:path>
              </a:pathLst>
            </a:custGeom>
            <a:ln w="2857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8739" y="981583"/>
            <a:ext cx="7825105" cy="158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spc="-125" dirty="0">
                <a:latin typeface="Times New Roman"/>
                <a:cs typeface="Times New Roman"/>
              </a:rPr>
              <a:t>Define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style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within</a:t>
            </a:r>
            <a:r>
              <a:rPr sz="2400" spc="-55" dirty="0">
                <a:latin typeface="Times New Roman"/>
                <a:cs typeface="Times New Roman"/>
              </a:rPr>
              <a:t> 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HEAD,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apply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style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55" dirty="0">
                <a:latin typeface="Times New Roman"/>
                <a:cs typeface="Times New Roman"/>
              </a:rPr>
              <a:t> 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90" dirty="0">
                <a:latin typeface="Times New Roman"/>
                <a:cs typeface="Times New Roman"/>
              </a:rPr>
              <a:t>BODY, </a:t>
            </a:r>
            <a:r>
              <a:rPr sz="2400" spc="-120" dirty="0">
                <a:latin typeface="Times New Roman"/>
                <a:cs typeface="Times New Roman"/>
              </a:rPr>
              <a:t>style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defined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with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form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[Rule]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130"/>
              </a:spcBef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&lt;STYLE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TYPE=“TEXT/CSS”&gt;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6244" y="2542539"/>
            <a:ext cx="1076325" cy="84899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spc="-10" dirty="0">
                <a:latin typeface="Arial MT"/>
                <a:cs typeface="Arial MT"/>
              </a:rPr>
              <a:t>&lt;/STYLE&gt;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2723" y="2592323"/>
            <a:ext cx="2667000" cy="3048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70"/>
              </a:spcBef>
            </a:pPr>
            <a:r>
              <a:rPr sz="1800" dirty="0">
                <a:latin typeface="Arial MT"/>
                <a:cs typeface="Arial MT"/>
              </a:rPr>
              <a:t>Selector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{Property:value}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39" y="3914902"/>
            <a:ext cx="3429000" cy="184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9900"/>
                </a:solidFill>
                <a:latin typeface="Arial MT"/>
                <a:cs typeface="Arial MT"/>
              </a:rPr>
              <a:t>Selector:</a:t>
            </a:r>
            <a:r>
              <a:rPr sz="1800" spc="-105" dirty="0">
                <a:solidFill>
                  <a:srgbClr val="CC99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HTML</a:t>
            </a:r>
            <a:endParaRPr sz="1800">
              <a:latin typeface="Arial MT"/>
              <a:cs typeface="Arial MT"/>
            </a:endParaRPr>
          </a:p>
          <a:p>
            <a:pPr marL="927100" marR="508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element</a:t>
            </a:r>
            <a:r>
              <a:rPr sz="1800" spc="2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style </a:t>
            </a:r>
            <a:r>
              <a:rPr sz="1800" dirty="0">
                <a:latin typeface="Arial MT"/>
                <a:cs typeface="Arial MT"/>
              </a:rPr>
              <a:t>defined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definition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part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CC9900"/>
                </a:solidFill>
                <a:latin typeface="Arial MT"/>
                <a:cs typeface="Arial MT"/>
              </a:rPr>
              <a:t>Property:</a:t>
            </a:r>
            <a:r>
              <a:rPr sz="1800" spc="-15" dirty="0">
                <a:solidFill>
                  <a:srgbClr val="CC99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property</a:t>
            </a:r>
            <a:endParaRPr sz="1800">
              <a:latin typeface="Arial MT"/>
              <a:cs typeface="Arial MT"/>
            </a:endParaRPr>
          </a:p>
          <a:p>
            <a:pPr marL="927100" marR="45529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toward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specified </a:t>
            </a:r>
            <a:r>
              <a:rPr sz="1800" dirty="0">
                <a:latin typeface="Arial MT"/>
                <a:cs typeface="Arial MT"/>
              </a:rPr>
              <a:t>element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selector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39" y="5896457"/>
            <a:ext cx="35280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52500" algn="l"/>
              </a:tabLst>
            </a:pPr>
            <a:r>
              <a:rPr sz="1800" spc="-10" dirty="0">
                <a:solidFill>
                  <a:srgbClr val="CC9900"/>
                </a:solidFill>
                <a:latin typeface="Arial MT"/>
                <a:cs typeface="Arial MT"/>
              </a:rPr>
              <a:t>Value:</a:t>
            </a:r>
            <a:r>
              <a:rPr sz="1800" dirty="0">
                <a:solidFill>
                  <a:srgbClr val="CC9900"/>
                </a:solidFill>
                <a:latin typeface="Arial MT"/>
                <a:cs typeface="Arial MT"/>
              </a:rPr>
              <a:t>	</a:t>
            </a:r>
            <a:r>
              <a:rPr sz="1800" dirty="0">
                <a:latin typeface="Arial MT"/>
                <a:cs typeface="Arial MT"/>
              </a:rPr>
              <a:t>Specify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applied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value</a:t>
            </a:r>
            <a:endParaRPr sz="1800">
              <a:latin typeface="Arial MT"/>
              <a:cs typeface="Arial MT"/>
            </a:endParaRPr>
          </a:p>
          <a:p>
            <a:pPr marL="269875">
              <a:lnSpc>
                <a:spcPct val="100000"/>
              </a:lnSpc>
              <a:spcBef>
                <a:spcPts val="5"/>
              </a:spcBef>
              <a:tabLst>
                <a:tab pos="952500" algn="l"/>
              </a:tabLst>
            </a:pPr>
            <a:r>
              <a:rPr sz="2100" spc="-75" baseline="-29761" dirty="0">
                <a:solidFill>
                  <a:srgbClr val="FFFFFF"/>
                </a:solidFill>
                <a:latin typeface="Franklin Gothic Medium"/>
                <a:cs typeface="Franklin Gothic Medium"/>
              </a:rPr>
              <a:t>6</a:t>
            </a:r>
            <a:r>
              <a:rPr sz="2100" baseline="-29761" dirty="0">
                <a:solidFill>
                  <a:srgbClr val="FFFFFF"/>
                </a:solidFill>
                <a:latin typeface="Franklin Gothic Medium"/>
                <a:cs typeface="Franklin Gothic Medium"/>
              </a:rPr>
              <a:t>	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style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48753" y="4371797"/>
            <a:ext cx="9867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Definition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02981" y="5363362"/>
            <a:ext cx="791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Applied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Linking</a:t>
            </a:r>
            <a:r>
              <a:rPr spc="-170" dirty="0"/>
              <a:t> </a:t>
            </a:r>
            <a:r>
              <a:rPr spc="-20" dirty="0"/>
              <a:t>Style</a:t>
            </a:r>
            <a:r>
              <a:rPr spc="-170" dirty="0"/>
              <a:t> </a:t>
            </a:r>
            <a:r>
              <a:rPr spc="-10" dirty="0"/>
              <a:t>Sheet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030351"/>
            <a:ext cx="7387590" cy="10763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7020" marR="5080" indent="-274955">
              <a:lnSpc>
                <a:spcPts val="2590"/>
              </a:lnSpc>
              <a:spcBef>
                <a:spcPts val="4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spc="-170" dirty="0">
                <a:latin typeface="Times New Roman"/>
                <a:cs typeface="Times New Roman"/>
              </a:rPr>
              <a:t>Link</a:t>
            </a:r>
            <a:r>
              <a:rPr sz="2400" spc="-60" dirty="0">
                <a:latin typeface="Times New Roman"/>
                <a:cs typeface="Times New Roman"/>
              </a:rPr>
              <a:t> 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style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and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external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file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which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defines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style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within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HEAD.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65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spc="-125" dirty="0">
                <a:latin typeface="Times New Roman"/>
                <a:cs typeface="Times New Roman"/>
              </a:rPr>
              <a:t>File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Extension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.CSS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3144" y="3099816"/>
            <a:ext cx="2648711" cy="153314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153400" y="6242303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266700" y="0"/>
                </a:moveTo>
                <a:lnTo>
                  <a:pt x="212943" y="4644"/>
                </a:lnTo>
                <a:lnTo>
                  <a:pt x="162877" y="17964"/>
                </a:lnTo>
                <a:lnTo>
                  <a:pt x="117574" y="39041"/>
                </a:lnTo>
                <a:lnTo>
                  <a:pt x="78105" y="66955"/>
                </a:lnTo>
                <a:lnTo>
                  <a:pt x="45541" y="100788"/>
                </a:lnTo>
                <a:lnTo>
                  <a:pt x="20955" y="139619"/>
                </a:lnTo>
                <a:lnTo>
                  <a:pt x="5417" y="182529"/>
                </a:lnTo>
                <a:lnTo>
                  <a:pt x="0" y="228600"/>
                </a:lnTo>
                <a:lnTo>
                  <a:pt x="5417" y="274670"/>
                </a:lnTo>
                <a:lnTo>
                  <a:pt x="20954" y="317580"/>
                </a:lnTo>
                <a:lnTo>
                  <a:pt x="45541" y="356411"/>
                </a:lnTo>
                <a:lnTo>
                  <a:pt x="78104" y="390244"/>
                </a:lnTo>
                <a:lnTo>
                  <a:pt x="117574" y="418158"/>
                </a:lnTo>
                <a:lnTo>
                  <a:pt x="162877" y="439235"/>
                </a:lnTo>
                <a:lnTo>
                  <a:pt x="212943" y="452555"/>
                </a:lnTo>
                <a:lnTo>
                  <a:pt x="266700" y="457200"/>
                </a:lnTo>
                <a:lnTo>
                  <a:pt x="320456" y="452555"/>
                </a:lnTo>
                <a:lnTo>
                  <a:pt x="370522" y="439235"/>
                </a:lnTo>
                <a:lnTo>
                  <a:pt x="415825" y="418158"/>
                </a:lnTo>
                <a:lnTo>
                  <a:pt x="455294" y="390244"/>
                </a:lnTo>
                <a:lnTo>
                  <a:pt x="487858" y="356411"/>
                </a:lnTo>
                <a:lnTo>
                  <a:pt x="512444" y="317580"/>
                </a:lnTo>
                <a:lnTo>
                  <a:pt x="527982" y="274670"/>
                </a:lnTo>
                <a:lnTo>
                  <a:pt x="533400" y="228600"/>
                </a:lnTo>
                <a:lnTo>
                  <a:pt x="527982" y="182529"/>
                </a:lnTo>
                <a:lnTo>
                  <a:pt x="512445" y="139619"/>
                </a:lnTo>
                <a:lnTo>
                  <a:pt x="487858" y="100788"/>
                </a:lnTo>
                <a:lnTo>
                  <a:pt x="455295" y="66955"/>
                </a:lnTo>
                <a:lnTo>
                  <a:pt x="415825" y="39041"/>
                </a:lnTo>
                <a:lnTo>
                  <a:pt x="370522" y="17964"/>
                </a:lnTo>
                <a:lnTo>
                  <a:pt x="320456" y="4644"/>
                </a:lnTo>
                <a:lnTo>
                  <a:pt x="2667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56218" y="6352133"/>
            <a:ext cx="129539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7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923" y="2668523"/>
            <a:ext cx="5791200" cy="1201420"/>
          </a:xfrm>
          <a:prstGeom prst="rect">
            <a:avLst/>
          </a:prstGeom>
          <a:ln w="9525">
            <a:solidFill>
              <a:srgbClr val="95A9A9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&lt;LINK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REL=“stylesheet”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TYPE=“text/css”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HREF=“url”&gt;</a:t>
            </a:r>
            <a:endParaRPr sz="180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819" y="3963923"/>
            <a:ext cx="6318885" cy="2621280"/>
          </a:xfrm>
          <a:custGeom>
            <a:avLst/>
            <a:gdLst/>
            <a:ahLst/>
            <a:cxnLst/>
            <a:rect l="l" t="t" r="r" b="b"/>
            <a:pathLst>
              <a:path w="6318885" h="2621279">
                <a:moveTo>
                  <a:pt x="0" y="2621280"/>
                </a:moveTo>
                <a:lnTo>
                  <a:pt x="6318504" y="2621280"/>
                </a:lnTo>
                <a:lnTo>
                  <a:pt x="6318504" y="0"/>
                </a:lnTo>
                <a:lnTo>
                  <a:pt x="0" y="0"/>
                </a:lnTo>
                <a:lnTo>
                  <a:pt x="0" y="262128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1340" y="3885057"/>
            <a:ext cx="618934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&lt;TITLE&gt;title&lt;/TITLE&gt;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&lt;LINK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REL=“stylesheet”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TYPE=“text/css”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HREF=“style.css”&gt;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&lt;H1&gt;Heading&lt;/H1&gt;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340" y="5805627"/>
            <a:ext cx="10007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&lt;/BODY&gt;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6275" y="4462012"/>
            <a:ext cx="8474710" cy="1457325"/>
            <a:chOff x="676275" y="4462012"/>
            <a:chExt cx="8474710" cy="1457325"/>
          </a:xfrm>
        </p:grpSpPr>
        <p:sp>
          <p:nvSpPr>
            <p:cNvPr id="12" name="object 12"/>
            <p:cNvSpPr/>
            <p:nvPr/>
          </p:nvSpPr>
          <p:spPr>
            <a:xfrm>
              <a:off x="685800" y="5489447"/>
              <a:ext cx="0" cy="429895"/>
            </a:xfrm>
            <a:custGeom>
              <a:avLst/>
              <a:gdLst/>
              <a:ahLst/>
              <a:cxnLst/>
              <a:rect l="l" t="t" r="r" b="b"/>
              <a:pathLst>
                <a:path h="429895">
                  <a:moveTo>
                    <a:pt x="0" y="0"/>
                  </a:moveTo>
                  <a:lnTo>
                    <a:pt x="0" y="429767"/>
                  </a:lnTo>
                </a:path>
              </a:pathLst>
            </a:custGeom>
            <a:ln w="1905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54347" y="4466774"/>
              <a:ext cx="2592070" cy="789940"/>
            </a:xfrm>
            <a:custGeom>
              <a:avLst/>
              <a:gdLst/>
              <a:ahLst/>
              <a:cxnLst/>
              <a:rect l="l" t="t" r="r" b="b"/>
              <a:pathLst>
                <a:path w="2592070" h="789939">
                  <a:moveTo>
                    <a:pt x="1291939" y="0"/>
                  </a:moveTo>
                  <a:lnTo>
                    <a:pt x="1232568" y="342"/>
                  </a:lnTo>
                  <a:lnTo>
                    <a:pt x="1173545" y="1275"/>
                  </a:lnTo>
                  <a:lnTo>
                    <a:pt x="1114956" y="2790"/>
                  </a:lnTo>
                  <a:lnTo>
                    <a:pt x="1056891" y="4878"/>
                  </a:lnTo>
                  <a:lnTo>
                    <a:pt x="999437" y="7531"/>
                  </a:lnTo>
                  <a:lnTo>
                    <a:pt x="942681" y="10741"/>
                  </a:lnTo>
                  <a:lnTo>
                    <a:pt x="886713" y="14499"/>
                  </a:lnTo>
                  <a:lnTo>
                    <a:pt x="831619" y="18797"/>
                  </a:lnTo>
                  <a:lnTo>
                    <a:pt x="777489" y="23627"/>
                  </a:lnTo>
                  <a:lnTo>
                    <a:pt x="724408" y="28981"/>
                  </a:lnTo>
                  <a:lnTo>
                    <a:pt x="672467" y="34849"/>
                  </a:lnTo>
                  <a:lnTo>
                    <a:pt x="621752" y="41224"/>
                  </a:lnTo>
                  <a:lnTo>
                    <a:pt x="572352" y="48098"/>
                  </a:lnTo>
                  <a:lnTo>
                    <a:pt x="524354" y="55461"/>
                  </a:lnTo>
                  <a:lnTo>
                    <a:pt x="477846" y="63307"/>
                  </a:lnTo>
                  <a:lnTo>
                    <a:pt x="432917" y="71625"/>
                  </a:lnTo>
                  <a:lnTo>
                    <a:pt x="389655" y="80409"/>
                  </a:lnTo>
                  <a:lnTo>
                    <a:pt x="348146" y="89649"/>
                  </a:lnTo>
                  <a:lnTo>
                    <a:pt x="308480" y="99338"/>
                  </a:lnTo>
                  <a:lnTo>
                    <a:pt x="270743" y="109466"/>
                  </a:lnTo>
                  <a:lnTo>
                    <a:pt x="201413" y="131010"/>
                  </a:lnTo>
                  <a:lnTo>
                    <a:pt x="140859" y="154214"/>
                  </a:lnTo>
                  <a:lnTo>
                    <a:pt x="89784" y="179012"/>
                  </a:lnTo>
                  <a:lnTo>
                    <a:pt x="39846" y="212753"/>
                  </a:lnTo>
                  <a:lnTo>
                    <a:pt x="10147" y="246811"/>
                  </a:lnTo>
                  <a:lnTo>
                    <a:pt x="0" y="280843"/>
                  </a:lnTo>
                  <a:lnTo>
                    <a:pt x="2043" y="297743"/>
                  </a:lnTo>
                  <a:lnTo>
                    <a:pt x="35611" y="347463"/>
                  </a:lnTo>
                  <a:lnTo>
                    <a:pt x="79995" y="379366"/>
                  </a:lnTo>
                  <a:lnTo>
                    <a:pt x="141183" y="409876"/>
                  </a:lnTo>
                  <a:lnTo>
                    <a:pt x="177864" y="424501"/>
                  </a:lnTo>
                  <a:lnTo>
                    <a:pt x="218487" y="438650"/>
                  </a:lnTo>
                  <a:lnTo>
                    <a:pt x="262968" y="452279"/>
                  </a:lnTo>
                  <a:lnTo>
                    <a:pt x="311220" y="465347"/>
                  </a:lnTo>
                  <a:lnTo>
                    <a:pt x="363158" y="477809"/>
                  </a:lnTo>
                  <a:lnTo>
                    <a:pt x="418695" y="489624"/>
                  </a:lnTo>
                  <a:lnTo>
                    <a:pt x="477746" y="500748"/>
                  </a:lnTo>
                  <a:lnTo>
                    <a:pt x="540225" y="511139"/>
                  </a:lnTo>
                  <a:lnTo>
                    <a:pt x="606046" y="520755"/>
                  </a:lnTo>
                  <a:lnTo>
                    <a:pt x="675122" y="529551"/>
                  </a:lnTo>
                  <a:lnTo>
                    <a:pt x="747369" y="537487"/>
                  </a:lnTo>
                  <a:lnTo>
                    <a:pt x="822701" y="544518"/>
                  </a:lnTo>
                  <a:lnTo>
                    <a:pt x="867151" y="789501"/>
                  </a:lnTo>
                  <a:lnTo>
                    <a:pt x="1308984" y="563949"/>
                  </a:lnTo>
                  <a:lnTo>
                    <a:pt x="1374668" y="563445"/>
                  </a:lnTo>
                  <a:lnTo>
                    <a:pt x="1439672" y="562230"/>
                  </a:lnTo>
                  <a:lnTo>
                    <a:pt x="1503900" y="560318"/>
                  </a:lnTo>
                  <a:lnTo>
                    <a:pt x="1567253" y="557723"/>
                  </a:lnTo>
                  <a:lnTo>
                    <a:pt x="1629636" y="554460"/>
                  </a:lnTo>
                  <a:lnTo>
                    <a:pt x="1690952" y="550544"/>
                  </a:lnTo>
                  <a:lnTo>
                    <a:pt x="1751103" y="545990"/>
                  </a:lnTo>
                  <a:lnTo>
                    <a:pt x="1809994" y="540811"/>
                  </a:lnTo>
                  <a:lnTo>
                    <a:pt x="1867527" y="535023"/>
                  </a:lnTo>
                  <a:lnTo>
                    <a:pt x="1923605" y="528641"/>
                  </a:lnTo>
                  <a:lnTo>
                    <a:pt x="1978132" y="521678"/>
                  </a:lnTo>
                  <a:lnTo>
                    <a:pt x="2031010" y="514149"/>
                  </a:lnTo>
                  <a:lnTo>
                    <a:pt x="2082144" y="506069"/>
                  </a:lnTo>
                  <a:lnTo>
                    <a:pt x="2131436" y="497453"/>
                  </a:lnTo>
                  <a:lnTo>
                    <a:pt x="2178790" y="488316"/>
                  </a:lnTo>
                  <a:lnTo>
                    <a:pt x="2224108" y="478671"/>
                  </a:lnTo>
                  <a:lnTo>
                    <a:pt x="2267294" y="468533"/>
                  </a:lnTo>
                  <a:lnTo>
                    <a:pt x="2308251" y="457918"/>
                  </a:lnTo>
                  <a:lnTo>
                    <a:pt x="2346883" y="446839"/>
                  </a:lnTo>
                  <a:lnTo>
                    <a:pt x="2416782" y="423350"/>
                  </a:lnTo>
                  <a:lnTo>
                    <a:pt x="2476216" y="398182"/>
                  </a:lnTo>
                  <a:lnTo>
                    <a:pt x="2529309" y="368196"/>
                  </a:lnTo>
                  <a:lnTo>
                    <a:pt x="2569041" y="334254"/>
                  </a:lnTo>
                  <a:lnTo>
                    <a:pt x="2588879" y="300166"/>
                  </a:lnTo>
                  <a:lnTo>
                    <a:pt x="2591552" y="283174"/>
                  </a:lnTo>
                  <a:lnTo>
                    <a:pt x="2589508" y="266275"/>
                  </a:lnTo>
                  <a:lnTo>
                    <a:pt x="2555940" y="216555"/>
                  </a:lnTo>
                  <a:lnTo>
                    <a:pt x="2511556" y="184652"/>
                  </a:lnTo>
                  <a:lnTo>
                    <a:pt x="2450368" y="154142"/>
                  </a:lnTo>
                  <a:lnTo>
                    <a:pt x="2413687" y="139516"/>
                  </a:lnTo>
                  <a:lnTo>
                    <a:pt x="2373064" y="125368"/>
                  </a:lnTo>
                  <a:lnTo>
                    <a:pt x="2328583" y="111738"/>
                  </a:lnTo>
                  <a:lnTo>
                    <a:pt x="2280331" y="98671"/>
                  </a:lnTo>
                  <a:lnTo>
                    <a:pt x="2228393" y="86209"/>
                  </a:lnTo>
                  <a:lnTo>
                    <a:pt x="2172856" y="74394"/>
                  </a:lnTo>
                  <a:lnTo>
                    <a:pt x="2113805" y="63270"/>
                  </a:lnTo>
                  <a:lnTo>
                    <a:pt x="2051326" y="52878"/>
                  </a:lnTo>
                  <a:lnTo>
                    <a:pt x="1985506" y="43263"/>
                  </a:lnTo>
                  <a:lnTo>
                    <a:pt x="1916429" y="34466"/>
                  </a:lnTo>
                  <a:lnTo>
                    <a:pt x="1844182" y="26531"/>
                  </a:lnTo>
                  <a:lnTo>
                    <a:pt x="1768851" y="19500"/>
                  </a:lnTo>
                  <a:lnTo>
                    <a:pt x="1709868" y="14822"/>
                  </a:lnTo>
                  <a:lnTo>
                    <a:pt x="1650530" y="10801"/>
                  </a:lnTo>
                  <a:lnTo>
                    <a:pt x="1590922" y="7428"/>
                  </a:lnTo>
                  <a:lnTo>
                    <a:pt x="1531135" y="4696"/>
                  </a:lnTo>
                  <a:lnTo>
                    <a:pt x="1471255" y="2595"/>
                  </a:lnTo>
                  <a:lnTo>
                    <a:pt x="1411370" y="1117"/>
                  </a:lnTo>
                  <a:lnTo>
                    <a:pt x="1351569" y="255"/>
                  </a:lnTo>
                  <a:lnTo>
                    <a:pt x="1291939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54347" y="4466774"/>
              <a:ext cx="2592070" cy="789940"/>
            </a:xfrm>
            <a:custGeom>
              <a:avLst/>
              <a:gdLst/>
              <a:ahLst/>
              <a:cxnLst/>
              <a:rect l="l" t="t" r="r" b="b"/>
              <a:pathLst>
                <a:path w="2592070" h="789939">
                  <a:moveTo>
                    <a:pt x="867151" y="789501"/>
                  </a:moveTo>
                  <a:lnTo>
                    <a:pt x="822701" y="544518"/>
                  </a:lnTo>
                  <a:lnTo>
                    <a:pt x="747369" y="537487"/>
                  </a:lnTo>
                  <a:lnTo>
                    <a:pt x="675122" y="529551"/>
                  </a:lnTo>
                  <a:lnTo>
                    <a:pt x="606046" y="520755"/>
                  </a:lnTo>
                  <a:lnTo>
                    <a:pt x="540225" y="511139"/>
                  </a:lnTo>
                  <a:lnTo>
                    <a:pt x="477746" y="500748"/>
                  </a:lnTo>
                  <a:lnTo>
                    <a:pt x="418695" y="489624"/>
                  </a:lnTo>
                  <a:lnTo>
                    <a:pt x="363158" y="477809"/>
                  </a:lnTo>
                  <a:lnTo>
                    <a:pt x="311220" y="465347"/>
                  </a:lnTo>
                  <a:lnTo>
                    <a:pt x="262968" y="452279"/>
                  </a:lnTo>
                  <a:lnTo>
                    <a:pt x="218487" y="438650"/>
                  </a:lnTo>
                  <a:lnTo>
                    <a:pt x="177864" y="424501"/>
                  </a:lnTo>
                  <a:lnTo>
                    <a:pt x="141183" y="409876"/>
                  </a:lnTo>
                  <a:lnTo>
                    <a:pt x="79995" y="379366"/>
                  </a:lnTo>
                  <a:lnTo>
                    <a:pt x="35611" y="347463"/>
                  </a:lnTo>
                  <a:lnTo>
                    <a:pt x="8716" y="314508"/>
                  </a:lnTo>
                  <a:lnTo>
                    <a:pt x="0" y="280843"/>
                  </a:lnTo>
                  <a:lnTo>
                    <a:pt x="2672" y="263852"/>
                  </a:lnTo>
                  <a:lnTo>
                    <a:pt x="22510" y="229764"/>
                  </a:lnTo>
                  <a:lnTo>
                    <a:pt x="62242" y="195822"/>
                  </a:lnTo>
                  <a:lnTo>
                    <a:pt x="114092" y="166418"/>
                  </a:lnTo>
                  <a:lnTo>
                    <a:pt x="169995" y="142409"/>
                  </a:lnTo>
                  <a:lnTo>
                    <a:pt x="235025" y="120027"/>
                  </a:lnTo>
                  <a:lnTo>
                    <a:pt x="308480" y="99338"/>
                  </a:lnTo>
                  <a:lnTo>
                    <a:pt x="348146" y="89649"/>
                  </a:lnTo>
                  <a:lnTo>
                    <a:pt x="389655" y="80409"/>
                  </a:lnTo>
                  <a:lnTo>
                    <a:pt x="432917" y="71625"/>
                  </a:lnTo>
                  <a:lnTo>
                    <a:pt x="477846" y="63307"/>
                  </a:lnTo>
                  <a:lnTo>
                    <a:pt x="524354" y="55461"/>
                  </a:lnTo>
                  <a:lnTo>
                    <a:pt x="572352" y="48098"/>
                  </a:lnTo>
                  <a:lnTo>
                    <a:pt x="621752" y="41224"/>
                  </a:lnTo>
                  <a:lnTo>
                    <a:pt x="672467" y="34849"/>
                  </a:lnTo>
                  <a:lnTo>
                    <a:pt x="724408" y="28981"/>
                  </a:lnTo>
                  <a:lnTo>
                    <a:pt x="777489" y="23627"/>
                  </a:lnTo>
                  <a:lnTo>
                    <a:pt x="831619" y="18797"/>
                  </a:lnTo>
                  <a:lnTo>
                    <a:pt x="886713" y="14499"/>
                  </a:lnTo>
                  <a:lnTo>
                    <a:pt x="942681" y="10741"/>
                  </a:lnTo>
                  <a:lnTo>
                    <a:pt x="999437" y="7531"/>
                  </a:lnTo>
                  <a:lnTo>
                    <a:pt x="1056891" y="4878"/>
                  </a:lnTo>
                  <a:lnTo>
                    <a:pt x="1114956" y="2790"/>
                  </a:lnTo>
                  <a:lnTo>
                    <a:pt x="1173545" y="1275"/>
                  </a:lnTo>
                  <a:lnTo>
                    <a:pt x="1232568" y="342"/>
                  </a:lnTo>
                  <a:lnTo>
                    <a:pt x="1291939" y="0"/>
                  </a:lnTo>
                  <a:lnTo>
                    <a:pt x="1351569" y="255"/>
                  </a:lnTo>
                  <a:lnTo>
                    <a:pt x="1411370" y="1117"/>
                  </a:lnTo>
                  <a:lnTo>
                    <a:pt x="1471255" y="2595"/>
                  </a:lnTo>
                  <a:lnTo>
                    <a:pt x="1531135" y="4696"/>
                  </a:lnTo>
                  <a:lnTo>
                    <a:pt x="1590922" y="7428"/>
                  </a:lnTo>
                  <a:lnTo>
                    <a:pt x="1650530" y="10801"/>
                  </a:lnTo>
                  <a:lnTo>
                    <a:pt x="1709868" y="14822"/>
                  </a:lnTo>
                  <a:lnTo>
                    <a:pt x="1768851" y="19500"/>
                  </a:lnTo>
                  <a:lnTo>
                    <a:pt x="1844182" y="26531"/>
                  </a:lnTo>
                  <a:lnTo>
                    <a:pt x="1916429" y="34466"/>
                  </a:lnTo>
                  <a:lnTo>
                    <a:pt x="1985506" y="43263"/>
                  </a:lnTo>
                  <a:lnTo>
                    <a:pt x="2051326" y="52878"/>
                  </a:lnTo>
                  <a:lnTo>
                    <a:pt x="2113805" y="63270"/>
                  </a:lnTo>
                  <a:lnTo>
                    <a:pt x="2172856" y="74394"/>
                  </a:lnTo>
                  <a:lnTo>
                    <a:pt x="2228393" y="86209"/>
                  </a:lnTo>
                  <a:lnTo>
                    <a:pt x="2280331" y="98671"/>
                  </a:lnTo>
                  <a:lnTo>
                    <a:pt x="2328583" y="111738"/>
                  </a:lnTo>
                  <a:lnTo>
                    <a:pt x="2373064" y="125368"/>
                  </a:lnTo>
                  <a:lnTo>
                    <a:pt x="2413687" y="139516"/>
                  </a:lnTo>
                  <a:lnTo>
                    <a:pt x="2450368" y="154142"/>
                  </a:lnTo>
                  <a:lnTo>
                    <a:pt x="2511556" y="184652"/>
                  </a:lnTo>
                  <a:lnTo>
                    <a:pt x="2555940" y="216555"/>
                  </a:lnTo>
                  <a:lnTo>
                    <a:pt x="2582835" y="249510"/>
                  </a:lnTo>
                  <a:lnTo>
                    <a:pt x="2591552" y="283174"/>
                  </a:lnTo>
                  <a:lnTo>
                    <a:pt x="2588879" y="300166"/>
                  </a:lnTo>
                  <a:lnTo>
                    <a:pt x="2569041" y="334254"/>
                  </a:lnTo>
                  <a:lnTo>
                    <a:pt x="2529309" y="368196"/>
                  </a:lnTo>
                  <a:lnTo>
                    <a:pt x="2476216" y="398182"/>
                  </a:lnTo>
                  <a:lnTo>
                    <a:pt x="2416782" y="423350"/>
                  </a:lnTo>
                  <a:lnTo>
                    <a:pt x="2346883" y="446839"/>
                  </a:lnTo>
                  <a:lnTo>
                    <a:pt x="2308251" y="457918"/>
                  </a:lnTo>
                  <a:lnTo>
                    <a:pt x="2267294" y="468533"/>
                  </a:lnTo>
                  <a:lnTo>
                    <a:pt x="2224108" y="478671"/>
                  </a:lnTo>
                  <a:lnTo>
                    <a:pt x="2178790" y="488316"/>
                  </a:lnTo>
                  <a:lnTo>
                    <a:pt x="2131436" y="497453"/>
                  </a:lnTo>
                  <a:lnTo>
                    <a:pt x="2082144" y="506069"/>
                  </a:lnTo>
                  <a:lnTo>
                    <a:pt x="2031010" y="514149"/>
                  </a:lnTo>
                  <a:lnTo>
                    <a:pt x="1978132" y="521678"/>
                  </a:lnTo>
                  <a:lnTo>
                    <a:pt x="1923605" y="528641"/>
                  </a:lnTo>
                  <a:lnTo>
                    <a:pt x="1867527" y="535023"/>
                  </a:lnTo>
                  <a:lnTo>
                    <a:pt x="1809994" y="540811"/>
                  </a:lnTo>
                  <a:lnTo>
                    <a:pt x="1751103" y="545990"/>
                  </a:lnTo>
                  <a:lnTo>
                    <a:pt x="1690952" y="550544"/>
                  </a:lnTo>
                  <a:lnTo>
                    <a:pt x="1629636" y="554460"/>
                  </a:lnTo>
                  <a:lnTo>
                    <a:pt x="1567253" y="557723"/>
                  </a:lnTo>
                  <a:lnTo>
                    <a:pt x="1503900" y="560318"/>
                  </a:lnTo>
                  <a:lnTo>
                    <a:pt x="1439672" y="562230"/>
                  </a:lnTo>
                  <a:lnTo>
                    <a:pt x="1374668" y="563445"/>
                  </a:lnTo>
                  <a:lnTo>
                    <a:pt x="1308984" y="563949"/>
                  </a:lnTo>
                  <a:lnTo>
                    <a:pt x="867151" y="78950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206488" y="4578857"/>
            <a:ext cx="1287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9E4DC"/>
                </a:solidFill>
                <a:latin typeface="Arial"/>
                <a:cs typeface="Arial"/>
              </a:rPr>
              <a:t>Style</a:t>
            </a:r>
            <a:r>
              <a:rPr sz="1200" b="1" spc="-20" dirty="0">
                <a:solidFill>
                  <a:srgbClr val="E9E4D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9E4DC"/>
                </a:solidFill>
                <a:latin typeface="Arial"/>
                <a:cs typeface="Arial"/>
              </a:rPr>
              <a:t>file</a:t>
            </a:r>
            <a:r>
              <a:rPr sz="1200" b="1" spc="-25" dirty="0">
                <a:solidFill>
                  <a:srgbClr val="E9E4DC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E9E4DC"/>
                </a:solidFill>
                <a:latin typeface="Arial"/>
                <a:cs typeface="Arial"/>
              </a:rPr>
              <a:t>defining style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Linking</a:t>
            </a:r>
            <a:r>
              <a:rPr spc="-165" dirty="0"/>
              <a:t> </a:t>
            </a:r>
            <a:r>
              <a:rPr spc="-20" dirty="0"/>
              <a:t>Style</a:t>
            </a:r>
            <a:r>
              <a:rPr spc="-160" dirty="0"/>
              <a:t> </a:t>
            </a:r>
            <a:r>
              <a:rPr dirty="0"/>
              <a:t>Sheet</a:t>
            </a:r>
            <a:r>
              <a:rPr spc="-160" dirty="0"/>
              <a:t> </a:t>
            </a:r>
            <a:r>
              <a:rPr spc="-50" dirty="0"/>
              <a:t>…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644" y="1094054"/>
            <a:ext cx="7886065" cy="390906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85115" marR="781050" indent="-272415">
              <a:lnSpc>
                <a:spcPts val="3030"/>
              </a:lnSpc>
              <a:spcBef>
                <a:spcPts val="484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7020" algn="l"/>
              </a:tabLst>
            </a:pPr>
            <a:r>
              <a:rPr sz="2800" spc="-185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70" dirty="0">
                <a:latin typeface="Times New Roman"/>
                <a:cs typeface="Times New Roman"/>
              </a:rPr>
              <a:t>REL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attribute,</a:t>
            </a:r>
            <a:r>
              <a:rPr sz="2800" spc="-21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specify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relationship</a:t>
            </a:r>
            <a:r>
              <a:rPr sz="2800" spc="-120" dirty="0">
                <a:latin typeface="Times New Roman"/>
                <a:cs typeface="Times New Roman"/>
              </a:rPr>
              <a:t> with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file 	</a:t>
            </a:r>
            <a:r>
              <a:rPr sz="2800" spc="-10" dirty="0">
                <a:latin typeface="Times New Roman"/>
                <a:cs typeface="Times New Roman"/>
              </a:rPr>
              <a:t>linked.</a:t>
            </a:r>
            <a:endParaRPr sz="28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215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5750" algn="l"/>
              </a:tabLst>
            </a:pPr>
            <a:r>
              <a:rPr sz="2800" spc="-185" dirty="0">
                <a:latin typeface="Times New Roman"/>
                <a:cs typeface="Times New Roman"/>
              </a:rPr>
              <a:t>In</a:t>
            </a:r>
            <a:r>
              <a:rPr sz="2800" spc="-400" dirty="0">
                <a:latin typeface="Times New Roman"/>
                <a:cs typeface="Times New Roman"/>
              </a:rPr>
              <a:t> </a:t>
            </a:r>
            <a:r>
              <a:rPr sz="2800" spc="-260" dirty="0">
                <a:latin typeface="Times New Roman"/>
                <a:cs typeface="Times New Roman"/>
              </a:rPr>
              <a:t>TYPE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attribute,</a:t>
            </a:r>
            <a:r>
              <a:rPr sz="2800" spc="-204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specify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300" dirty="0">
                <a:latin typeface="Times New Roman"/>
                <a:cs typeface="Times New Roman"/>
              </a:rPr>
              <a:t>MIME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type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of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style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file</a:t>
            </a:r>
            <a:endParaRPr sz="2800">
              <a:latin typeface="Times New Roman"/>
              <a:cs typeface="Times New Roman"/>
            </a:endParaRPr>
          </a:p>
          <a:p>
            <a:pPr marL="285115" marR="549275" indent="-272415">
              <a:lnSpc>
                <a:spcPts val="3020"/>
              </a:lnSpc>
              <a:spcBef>
                <a:spcPts val="65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7020" algn="l"/>
              </a:tabLst>
            </a:pPr>
            <a:r>
              <a:rPr sz="2800" spc="-185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250" dirty="0">
                <a:latin typeface="Times New Roman"/>
                <a:cs typeface="Times New Roman"/>
              </a:rPr>
              <a:t>HREF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attribute,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specify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style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FF"/>
                </a:solidFill>
                <a:latin typeface="Times New Roman"/>
                <a:cs typeface="Times New Roman"/>
              </a:rPr>
              <a:t>file</a:t>
            </a:r>
            <a:r>
              <a:rPr sz="2800" b="1" spc="-50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FF"/>
                </a:solidFill>
                <a:latin typeface="Times New Roman"/>
                <a:cs typeface="Times New Roman"/>
              </a:rPr>
              <a:t>location</a:t>
            </a:r>
            <a:r>
              <a:rPr sz="2800" b="1" spc="-35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FF00FF"/>
                </a:solidFill>
                <a:latin typeface="Times New Roman"/>
                <a:cs typeface="Times New Roman"/>
              </a:rPr>
              <a:t>and 	</a:t>
            </a:r>
            <a:r>
              <a:rPr sz="2800" b="1" spc="-20" dirty="0">
                <a:solidFill>
                  <a:srgbClr val="FF00FF"/>
                </a:solidFill>
                <a:latin typeface="Times New Roman"/>
                <a:cs typeface="Times New Roman"/>
              </a:rPr>
              <a:t>name.</a:t>
            </a:r>
            <a:r>
              <a:rPr sz="2800" b="1" spc="-75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(file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extension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.css)</a:t>
            </a:r>
            <a:endParaRPr sz="2800">
              <a:latin typeface="Times New Roman"/>
              <a:cs typeface="Times New Roman"/>
            </a:endParaRPr>
          </a:p>
          <a:p>
            <a:pPr marL="285115" marR="5080" indent="-272415">
              <a:lnSpc>
                <a:spcPts val="303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7020" algn="l"/>
              </a:tabLst>
            </a:pPr>
            <a:r>
              <a:rPr sz="2800" spc="-175" dirty="0">
                <a:latin typeface="Times New Roman"/>
                <a:cs typeface="Times New Roman"/>
              </a:rPr>
              <a:t>Both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absolute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path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and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relative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path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can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be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specified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for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spc="-135" dirty="0">
                <a:latin typeface="Times New Roman"/>
                <a:cs typeface="Times New Roman"/>
              </a:rPr>
              <a:t>style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file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name</a:t>
            </a:r>
            <a:endParaRPr sz="28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215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5750" algn="l"/>
              </a:tabLst>
            </a:pPr>
            <a:r>
              <a:rPr sz="2800" spc="-150" dirty="0">
                <a:latin typeface="Times New Roman"/>
                <a:cs typeface="Times New Roman"/>
              </a:rPr>
              <a:t>Define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only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[rules]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in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style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file</a:t>
            </a:r>
            <a:endParaRPr sz="28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27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5115" algn="l"/>
              </a:tabLst>
            </a:pPr>
            <a:r>
              <a:rPr sz="2800" spc="-160" dirty="0">
                <a:latin typeface="Times New Roman"/>
                <a:cs typeface="Times New Roman"/>
              </a:rPr>
              <a:t>Applied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9900"/>
                </a:solidFill>
                <a:latin typeface="Times New Roman"/>
                <a:cs typeface="Times New Roman"/>
              </a:rPr>
              <a:t>in</a:t>
            </a:r>
            <a:r>
              <a:rPr sz="2800" b="1" spc="-30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800" b="1" spc="-225" dirty="0">
                <a:solidFill>
                  <a:srgbClr val="FF9900"/>
                </a:solidFill>
                <a:latin typeface="Times New Roman"/>
                <a:cs typeface="Times New Roman"/>
              </a:rPr>
              <a:t>BODY</a:t>
            </a:r>
            <a:r>
              <a:rPr sz="2800" b="1" spc="-30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FF9900"/>
                </a:solidFill>
                <a:latin typeface="Times New Roman"/>
                <a:cs typeface="Times New Roman"/>
              </a:rPr>
              <a:t>part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924" y="6333975"/>
            <a:ext cx="220979" cy="22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sz="1400" spc="-4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8</a:t>
            </a:fld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Import</a:t>
            </a:r>
            <a:r>
              <a:rPr spc="-185" dirty="0"/>
              <a:t> </a:t>
            </a:r>
            <a:r>
              <a:rPr spc="-20" dirty="0"/>
              <a:t>Style</a:t>
            </a:r>
            <a:r>
              <a:rPr spc="-160" dirty="0"/>
              <a:t> </a:t>
            </a:r>
            <a:r>
              <a:rPr spc="-10" dirty="0"/>
              <a:t>Sheet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0044" y="795655"/>
            <a:ext cx="7400290" cy="77724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85750" marR="5080" indent="-273050">
              <a:lnSpc>
                <a:spcPts val="2810"/>
              </a:lnSpc>
              <a:spcBef>
                <a:spcPts val="44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75" dirty="0">
                <a:latin typeface="Times New Roman"/>
                <a:cs typeface="Times New Roman"/>
              </a:rPr>
              <a:t>Import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external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file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where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style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has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been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defined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FF9900"/>
                </a:solidFill>
                <a:latin typeface="Times New Roman"/>
                <a:cs typeface="Times New Roman"/>
              </a:rPr>
              <a:t>in 	</a:t>
            </a:r>
            <a:r>
              <a:rPr sz="2600" b="1" spc="-175" dirty="0">
                <a:solidFill>
                  <a:srgbClr val="FF9900"/>
                </a:solidFill>
                <a:latin typeface="Times New Roman"/>
                <a:cs typeface="Times New Roman"/>
              </a:rPr>
              <a:t>HEAD</a:t>
            </a:r>
            <a:r>
              <a:rPr sz="2600" b="1" spc="5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9900"/>
                </a:solidFill>
                <a:latin typeface="Times New Roman"/>
                <a:cs typeface="Times New Roman"/>
              </a:rPr>
              <a:t>part</a:t>
            </a:r>
            <a:r>
              <a:rPr sz="2600" spc="-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924" y="6333975"/>
            <a:ext cx="220979" cy="22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sz="1400" spc="-4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9</a:t>
            </a:fld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5924" y="2287523"/>
            <a:ext cx="6934200" cy="2026920"/>
          </a:xfrm>
          <a:prstGeom prst="rect">
            <a:avLst/>
          </a:prstGeom>
          <a:ln w="9525">
            <a:solidFill>
              <a:srgbClr val="95A9A9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&lt;STYLE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TYPE=“TEXT/CSS”&gt;</a:t>
            </a:r>
            <a:endParaRPr sz="1800">
              <a:latin typeface="Arial MT"/>
              <a:cs typeface="Arial MT"/>
            </a:endParaRPr>
          </a:p>
          <a:p>
            <a:pPr marL="148653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@import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url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(file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URL);</a:t>
            </a:r>
            <a:endParaRPr sz="18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Arial MT"/>
                <a:cs typeface="Arial MT"/>
              </a:rPr>
              <a:t>&lt;/STYLE&gt;</a:t>
            </a:r>
            <a:endParaRPr sz="18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  <a:spcBef>
                <a:spcPts val="1085"/>
              </a:spcBef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78181"/>
            <a:ext cx="723455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/>
              <a:t>The</a:t>
            </a:r>
            <a:r>
              <a:rPr sz="2900" spc="-65" dirty="0"/>
              <a:t> </a:t>
            </a:r>
            <a:r>
              <a:rPr sz="2900" spc="-45" dirty="0"/>
              <a:t>Priority</a:t>
            </a:r>
            <a:r>
              <a:rPr sz="2900" spc="-110" dirty="0"/>
              <a:t> </a:t>
            </a:r>
            <a:r>
              <a:rPr sz="2900" spc="-35" dirty="0"/>
              <a:t>among</a:t>
            </a:r>
            <a:r>
              <a:rPr sz="2900" spc="-50" dirty="0"/>
              <a:t> </a:t>
            </a:r>
            <a:r>
              <a:rPr sz="2900" dirty="0"/>
              <a:t>4</a:t>
            </a:r>
            <a:r>
              <a:rPr sz="2900" spc="-55" dirty="0"/>
              <a:t> Implementation</a:t>
            </a:r>
            <a:r>
              <a:rPr sz="2900" spc="-45" dirty="0"/>
              <a:t> </a:t>
            </a:r>
            <a:r>
              <a:rPr sz="2900" spc="-10" dirty="0"/>
              <a:t>Methods</a:t>
            </a:r>
            <a:endParaRPr sz="29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6244" y="1094054"/>
            <a:ext cx="7449820" cy="8382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85115" marR="5080" indent="-272415">
              <a:lnSpc>
                <a:spcPts val="3030"/>
              </a:lnSpc>
              <a:spcBef>
                <a:spcPts val="484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7020" algn="l"/>
              </a:tabLst>
            </a:pPr>
            <a:r>
              <a:rPr sz="2800" spc="-135" dirty="0">
                <a:latin typeface="Times New Roman"/>
                <a:cs typeface="Times New Roman"/>
              </a:rPr>
              <a:t>When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multiple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styles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are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specified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in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document,</a:t>
            </a:r>
            <a:r>
              <a:rPr sz="2800" spc="-20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spc="-155" dirty="0">
                <a:latin typeface="Times New Roman"/>
                <a:cs typeface="Times New Roman"/>
              </a:rPr>
              <a:t>following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priority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order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shall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applied.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524" y="2820923"/>
            <a:ext cx="2078989" cy="927100"/>
          </a:xfrm>
          <a:prstGeom prst="rect">
            <a:avLst/>
          </a:prstGeom>
          <a:ln w="9525">
            <a:solidFill>
              <a:srgbClr val="95A9A9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170" marR="233679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Arial MT"/>
                <a:cs typeface="Arial MT"/>
              </a:rPr>
              <a:t>Style sheet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by </a:t>
            </a:r>
            <a:r>
              <a:rPr sz="1800" dirty="0">
                <a:latin typeface="Arial MT"/>
                <a:cs typeface="Arial MT"/>
              </a:rPr>
              <a:t>external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files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b="1" spc="-10" dirty="0">
                <a:latin typeface="Arial"/>
                <a:cs typeface="Arial"/>
              </a:rPr>
              <a:t>Linking/Import</a:t>
            </a:r>
            <a:r>
              <a:rPr sz="1800" spc="-10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5284" y="2820923"/>
            <a:ext cx="2078989" cy="652780"/>
          </a:xfrm>
          <a:prstGeom prst="rect">
            <a:avLst/>
          </a:prstGeom>
          <a:ln w="9525">
            <a:solidFill>
              <a:srgbClr val="95A9A9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10"/>
              </a:spcBef>
            </a:pPr>
            <a:r>
              <a:rPr sz="1800" b="1" dirty="0">
                <a:latin typeface="Arial"/>
                <a:cs typeface="Arial"/>
              </a:rPr>
              <a:t>Embedded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Style</a:t>
            </a:r>
            <a:endParaRPr sz="180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sheet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33388" y="2820923"/>
            <a:ext cx="2078989" cy="375285"/>
          </a:xfrm>
          <a:prstGeom prst="rect">
            <a:avLst/>
          </a:prstGeom>
          <a:ln w="9525">
            <a:solidFill>
              <a:srgbClr val="95A9A9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1800" b="1" dirty="0">
                <a:latin typeface="Arial"/>
                <a:cs typeface="Arial"/>
              </a:rPr>
              <a:t>Inline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sheet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20339" y="2820923"/>
            <a:ext cx="347980" cy="685800"/>
          </a:xfrm>
          <a:custGeom>
            <a:avLst/>
            <a:gdLst/>
            <a:ahLst/>
            <a:cxnLst/>
            <a:rect l="l" t="t" r="r" b="b"/>
            <a:pathLst>
              <a:path w="347980" h="685800">
                <a:moveTo>
                  <a:pt x="347472" y="0"/>
                </a:moveTo>
                <a:lnTo>
                  <a:pt x="0" y="381000"/>
                </a:lnTo>
              </a:path>
              <a:path w="347980" h="685800">
                <a:moveTo>
                  <a:pt x="0" y="381000"/>
                </a:moveTo>
                <a:lnTo>
                  <a:pt x="347472" y="685800"/>
                </a:lnTo>
              </a:path>
            </a:pathLst>
          </a:custGeom>
          <a:ln w="28575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53100" y="2820923"/>
            <a:ext cx="347980" cy="685800"/>
          </a:xfrm>
          <a:custGeom>
            <a:avLst/>
            <a:gdLst/>
            <a:ahLst/>
            <a:cxnLst/>
            <a:rect l="l" t="t" r="r" b="b"/>
            <a:pathLst>
              <a:path w="347979" h="685800">
                <a:moveTo>
                  <a:pt x="347472" y="0"/>
                </a:moveTo>
                <a:lnTo>
                  <a:pt x="0" y="381000"/>
                </a:lnTo>
              </a:path>
              <a:path w="347979" h="685800">
                <a:moveTo>
                  <a:pt x="0" y="381000"/>
                </a:moveTo>
                <a:lnTo>
                  <a:pt x="347472" y="685800"/>
                </a:lnTo>
              </a:path>
            </a:pathLst>
          </a:custGeom>
          <a:ln w="28575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340" y="4460494"/>
            <a:ext cx="127000" cy="1346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340" y="4795773"/>
            <a:ext cx="127000" cy="13461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340" y="5131053"/>
            <a:ext cx="127000" cy="13461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80668" y="4309259"/>
            <a:ext cx="7885430" cy="103251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000" dirty="0">
                <a:latin typeface="Arial MT"/>
                <a:cs typeface="Arial MT"/>
              </a:rPr>
              <a:t>Define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style of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Web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[Style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sheet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by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external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files]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2000" dirty="0">
                <a:latin typeface="Arial MT"/>
                <a:cs typeface="Arial MT"/>
              </a:rPr>
              <a:t>Define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style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whole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page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[Embedded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style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sheet]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 MT"/>
                <a:cs typeface="Arial MT"/>
              </a:rPr>
              <a:t>Define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individual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style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[Inline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style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sheet]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1924" y="6333975"/>
            <a:ext cx="220979" cy="22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sz="1400" spc="-4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10</a:t>
            </a:fld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spc="-25" dirty="0"/>
              <a:t>Selector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0044" y="941958"/>
            <a:ext cx="8591550" cy="467233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85115" marR="343535" indent="-272415">
              <a:lnSpc>
                <a:spcPts val="3020"/>
              </a:lnSpc>
              <a:spcBef>
                <a:spcPts val="49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7020" algn="l"/>
              </a:tabLst>
            </a:pPr>
            <a:r>
              <a:rPr sz="2800" spc="-229" dirty="0">
                <a:latin typeface="Times New Roman"/>
                <a:cs typeface="Times New Roman"/>
              </a:rPr>
              <a:t>If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element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used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in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selector,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then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all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style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spc="-35" dirty="0">
                <a:latin typeface="Times New Roman"/>
                <a:cs typeface="Times New Roman"/>
              </a:rPr>
              <a:t>are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applied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in 	</a:t>
            </a:r>
            <a:r>
              <a:rPr sz="2800" b="1" spc="-10" dirty="0">
                <a:latin typeface="Times New Roman"/>
                <a:cs typeface="Times New Roman"/>
              </a:rPr>
              <a:t>that</a:t>
            </a:r>
            <a:r>
              <a:rPr sz="2800" b="1" spc="-1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element.</a:t>
            </a:r>
            <a:endParaRPr sz="28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225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5115" algn="l"/>
              </a:tabLst>
            </a:pPr>
            <a:r>
              <a:rPr sz="2800" spc="-180" dirty="0">
                <a:latin typeface="Times New Roman"/>
                <a:cs typeface="Times New Roman"/>
              </a:rPr>
              <a:t>Styles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can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be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specified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in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details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using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following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spc="-130" dirty="0">
                <a:latin typeface="Times New Roman"/>
                <a:cs typeface="Times New Roman"/>
              </a:rPr>
              <a:t>5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methods.</a:t>
            </a:r>
            <a:endParaRPr sz="2800">
              <a:latin typeface="Times New Roman"/>
              <a:cs typeface="Times New Roman"/>
            </a:endParaRPr>
          </a:p>
          <a:p>
            <a:pPr marL="834390" lvl="1" indent="-227329">
              <a:lnSpc>
                <a:spcPct val="100000"/>
              </a:lnSpc>
              <a:spcBef>
                <a:spcPts val="250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4390" algn="l"/>
              </a:tabLst>
            </a:pPr>
            <a:r>
              <a:rPr sz="2000" b="1" spc="-30" dirty="0">
                <a:latin typeface="Times New Roman"/>
                <a:cs typeface="Times New Roman"/>
              </a:rPr>
              <a:t>Element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Selector</a:t>
            </a:r>
            <a:endParaRPr sz="2000">
              <a:latin typeface="Times New Roman"/>
              <a:cs typeface="Times New Roman"/>
            </a:endParaRPr>
          </a:p>
          <a:p>
            <a:pPr marL="1109980" lvl="2" indent="-228600">
              <a:lnSpc>
                <a:spcPct val="100000"/>
              </a:lnSpc>
              <a:spcBef>
                <a:spcPts val="200"/>
              </a:spcBef>
              <a:buClr>
                <a:srgbClr val="A18E6A"/>
              </a:buClr>
              <a:buSzPct val="80555"/>
              <a:buFont typeface="Segoe UI Symbol"/>
              <a:buChar char="⚫"/>
              <a:tabLst>
                <a:tab pos="1109980" algn="l"/>
              </a:tabLst>
            </a:pPr>
            <a:r>
              <a:rPr sz="1800" spc="-165" dirty="0">
                <a:latin typeface="Times New Roman"/>
                <a:cs typeface="Times New Roman"/>
              </a:rPr>
              <a:t>Always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specify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common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style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toward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element</a:t>
            </a:r>
            <a:endParaRPr sz="1800">
              <a:latin typeface="Times New Roman"/>
              <a:cs typeface="Times New Roman"/>
            </a:endParaRPr>
          </a:p>
          <a:p>
            <a:pPr marL="834390" lvl="1" indent="-227329">
              <a:lnSpc>
                <a:spcPct val="100000"/>
              </a:lnSpc>
              <a:spcBef>
                <a:spcPts val="140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4390" algn="l"/>
              </a:tabLst>
            </a:pPr>
            <a:r>
              <a:rPr sz="2000" b="1" spc="-85" dirty="0">
                <a:latin typeface="Times New Roman"/>
                <a:cs typeface="Times New Roman"/>
              </a:rPr>
              <a:t>Class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Selector</a:t>
            </a:r>
            <a:endParaRPr sz="2000">
              <a:latin typeface="Times New Roman"/>
              <a:cs typeface="Times New Roman"/>
            </a:endParaRPr>
          </a:p>
          <a:p>
            <a:pPr marL="1109980" lvl="2" indent="-228600">
              <a:lnSpc>
                <a:spcPct val="100000"/>
              </a:lnSpc>
              <a:spcBef>
                <a:spcPts val="200"/>
              </a:spcBef>
              <a:buClr>
                <a:srgbClr val="A18E6A"/>
              </a:buClr>
              <a:buSzPct val="80555"/>
              <a:buFont typeface="Segoe UI Symbol"/>
              <a:buChar char="⚫"/>
              <a:tabLst>
                <a:tab pos="1109980" algn="l"/>
              </a:tabLst>
            </a:pPr>
            <a:r>
              <a:rPr sz="1800" spc="-75" dirty="0">
                <a:latin typeface="Times New Roman"/>
                <a:cs typeface="Times New Roman"/>
              </a:rPr>
              <a:t>Create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define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optional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name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specify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style, </a:t>
            </a:r>
            <a:r>
              <a:rPr sz="1800" spc="-70" dirty="0">
                <a:latin typeface="Times New Roman"/>
                <a:cs typeface="Times New Roman"/>
              </a:rPr>
              <a:t>then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apply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it.</a:t>
            </a:r>
            <a:endParaRPr sz="1800">
              <a:latin typeface="Times New Roman"/>
              <a:cs typeface="Times New Roman"/>
            </a:endParaRPr>
          </a:p>
          <a:p>
            <a:pPr marL="834390" lvl="1" indent="-227329">
              <a:lnSpc>
                <a:spcPct val="100000"/>
              </a:lnSpc>
              <a:spcBef>
                <a:spcPts val="135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4390" algn="l"/>
              </a:tabLst>
            </a:pPr>
            <a:r>
              <a:rPr sz="2000" b="1" dirty="0">
                <a:latin typeface="Times New Roman"/>
                <a:cs typeface="Times New Roman"/>
              </a:rPr>
              <a:t>ID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Selector</a:t>
            </a:r>
            <a:endParaRPr sz="2000">
              <a:latin typeface="Times New Roman"/>
              <a:cs typeface="Times New Roman"/>
            </a:endParaRPr>
          </a:p>
          <a:p>
            <a:pPr marL="1109980" marR="6350" lvl="2" indent="-228600">
              <a:lnSpc>
                <a:spcPts val="1939"/>
              </a:lnSpc>
              <a:spcBef>
                <a:spcPts val="475"/>
              </a:spcBef>
              <a:buClr>
                <a:srgbClr val="A18E6A"/>
              </a:buClr>
              <a:buSzPct val="80555"/>
              <a:buFont typeface="Segoe UI Symbol"/>
              <a:buChar char="⚫"/>
              <a:tabLst>
                <a:tab pos="1109980" algn="l"/>
              </a:tabLst>
            </a:pPr>
            <a:r>
              <a:rPr sz="1800" spc="-75" dirty="0">
                <a:latin typeface="Times New Roman"/>
                <a:cs typeface="Times New Roman"/>
              </a:rPr>
              <a:t>Create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define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the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optional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name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towards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the </a:t>
            </a:r>
            <a:r>
              <a:rPr sz="1800" spc="-130" dirty="0">
                <a:latin typeface="Times New Roman"/>
                <a:cs typeface="Times New Roman"/>
              </a:rPr>
              <a:t>specify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style,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apply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it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at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one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place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a </a:t>
            </a:r>
            <a:r>
              <a:rPr sz="1800" spc="-10" dirty="0">
                <a:latin typeface="Times New Roman"/>
                <a:cs typeface="Times New Roman"/>
              </a:rPr>
              <a:t>document</a:t>
            </a:r>
            <a:endParaRPr sz="1800">
              <a:latin typeface="Times New Roman"/>
              <a:cs typeface="Times New Roman"/>
            </a:endParaRPr>
          </a:p>
          <a:p>
            <a:pPr marL="834390" lvl="1" indent="-227329">
              <a:lnSpc>
                <a:spcPct val="100000"/>
              </a:lnSpc>
              <a:spcBef>
                <a:spcPts val="115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4390" algn="l"/>
              </a:tabLst>
            </a:pPr>
            <a:r>
              <a:rPr sz="2000" b="1" spc="-30" dirty="0">
                <a:latin typeface="Times New Roman"/>
                <a:cs typeface="Times New Roman"/>
              </a:rPr>
              <a:t>Group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Selector</a:t>
            </a:r>
            <a:endParaRPr sz="2000">
              <a:latin typeface="Times New Roman"/>
              <a:cs typeface="Times New Roman"/>
            </a:endParaRPr>
          </a:p>
          <a:p>
            <a:pPr marL="1109980" lvl="2" indent="-228600">
              <a:lnSpc>
                <a:spcPct val="100000"/>
              </a:lnSpc>
              <a:spcBef>
                <a:spcPts val="200"/>
              </a:spcBef>
              <a:buClr>
                <a:srgbClr val="A18E6A"/>
              </a:buClr>
              <a:buSzPct val="80555"/>
              <a:buFont typeface="Segoe UI Symbol"/>
              <a:buChar char="⚫"/>
              <a:tabLst>
                <a:tab pos="1109980" algn="l"/>
              </a:tabLst>
            </a:pPr>
            <a:r>
              <a:rPr sz="1800" spc="-145" dirty="0">
                <a:latin typeface="Times New Roman"/>
                <a:cs typeface="Times New Roman"/>
              </a:rPr>
              <a:t>Apply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common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style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multiple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elements</a:t>
            </a:r>
            <a:endParaRPr sz="1800">
              <a:latin typeface="Times New Roman"/>
              <a:cs typeface="Times New Roman"/>
            </a:endParaRPr>
          </a:p>
          <a:p>
            <a:pPr marL="834390" lvl="1" indent="-227329">
              <a:lnSpc>
                <a:spcPct val="100000"/>
              </a:lnSpc>
              <a:spcBef>
                <a:spcPts val="135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34390" algn="l"/>
              </a:tabLst>
            </a:pPr>
            <a:r>
              <a:rPr sz="2000" b="1" dirty="0">
                <a:latin typeface="Times New Roman"/>
                <a:cs typeface="Times New Roman"/>
              </a:rPr>
              <a:t>Context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Selector</a:t>
            </a:r>
            <a:endParaRPr sz="2000">
              <a:latin typeface="Times New Roman"/>
              <a:cs typeface="Times New Roman"/>
            </a:endParaRPr>
          </a:p>
          <a:p>
            <a:pPr marL="1109980" lvl="2" indent="-228600">
              <a:lnSpc>
                <a:spcPct val="100000"/>
              </a:lnSpc>
              <a:spcBef>
                <a:spcPts val="204"/>
              </a:spcBef>
              <a:buClr>
                <a:srgbClr val="A18E6A"/>
              </a:buClr>
              <a:buSzPct val="80555"/>
              <a:buFont typeface="Segoe UI Symbol"/>
              <a:buChar char="⚫"/>
              <a:tabLst>
                <a:tab pos="1109980" algn="l"/>
              </a:tabLst>
            </a:pPr>
            <a:r>
              <a:rPr sz="1800" spc="-145" dirty="0">
                <a:latin typeface="Times New Roman"/>
                <a:cs typeface="Times New Roman"/>
              </a:rPr>
              <a:t>Apply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style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20" dirty="0">
                <a:latin typeface="Times New Roman"/>
                <a:cs typeface="Times New Roman"/>
              </a:rPr>
              <a:t>only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specified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part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where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multiple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elements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are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all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specified.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924" y="6333975"/>
            <a:ext cx="220979" cy="22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sz="1400" spc="-4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11</a:t>
            </a:fld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120" dirty="0"/>
              <a:t> </a:t>
            </a:r>
            <a:r>
              <a:rPr spc="-25" dirty="0"/>
              <a:t>Element</a:t>
            </a:r>
            <a:r>
              <a:rPr spc="-85" dirty="0"/>
              <a:t> </a:t>
            </a:r>
            <a:r>
              <a:rPr spc="-20" dirty="0"/>
              <a:t>Selector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6304" y="2968561"/>
            <a:ext cx="3822700" cy="3743325"/>
            <a:chOff x="146304" y="2968561"/>
            <a:chExt cx="3822700" cy="3743325"/>
          </a:xfrm>
        </p:grpSpPr>
        <p:sp>
          <p:nvSpPr>
            <p:cNvPr id="4" name="object 4"/>
            <p:cNvSpPr/>
            <p:nvPr/>
          </p:nvSpPr>
          <p:spPr>
            <a:xfrm>
              <a:off x="146304" y="62118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599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199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599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924" y="2973323"/>
              <a:ext cx="3810000" cy="3733800"/>
            </a:xfrm>
            <a:custGeom>
              <a:avLst/>
              <a:gdLst/>
              <a:ahLst/>
              <a:cxnLst/>
              <a:rect l="l" t="t" r="r" b="b"/>
              <a:pathLst>
                <a:path w="3810000" h="3733800">
                  <a:moveTo>
                    <a:pt x="0" y="3733800"/>
                  </a:moveTo>
                  <a:lnTo>
                    <a:pt x="3810000" y="3733800"/>
                  </a:lnTo>
                  <a:lnTo>
                    <a:pt x="3810000" y="0"/>
                  </a:lnTo>
                  <a:lnTo>
                    <a:pt x="0" y="0"/>
                  </a:lnTo>
                  <a:lnTo>
                    <a:pt x="0" y="3733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7340" y="843204"/>
            <a:ext cx="6477000" cy="7264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59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spc="-114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common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style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applied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an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element</a:t>
            </a:r>
            <a:r>
              <a:rPr sz="2000" b="1" spc="-20" dirty="0">
                <a:latin typeface="Times New Roman"/>
                <a:cs typeface="Times New Roman"/>
              </a:rPr>
              <a:t> at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time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6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spc="-125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Selector,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specify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element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name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40" dirty="0">
                <a:latin typeface="Times New Roman"/>
                <a:cs typeface="Times New Roman"/>
              </a:rPr>
              <a:t>apply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style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8723" y="1830323"/>
            <a:ext cx="4724400" cy="1813560"/>
          </a:xfrm>
          <a:prstGeom prst="rect">
            <a:avLst/>
          </a:prstGeom>
          <a:ln w="9525">
            <a:solidFill>
              <a:srgbClr val="95A9A9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1600" spc="-10" dirty="0">
                <a:latin typeface="Arial MT"/>
                <a:cs typeface="Arial MT"/>
              </a:rPr>
              <a:t>&lt;HEAD&gt;</a:t>
            </a:r>
            <a:endParaRPr sz="1600">
              <a:latin typeface="Arial MT"/>
              <a:cs typeface="Arial MT"/>
            </a:endParaRPr>
          </a:p>
          <a:p>
            <a:pPr marL="100584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 MT"/>
                <a:cs typeface="Arial MT"/>
              </a:rPr>
              <a:t>&lt;STYLE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TYPE=“text/css”&gt;</a:t>
            </a:r>
            <a:endParaRPr sz="1600">
              <a:latin typeface="Arial MT"/>
              <a:cs typeface="Arial MT"/>
            </a:endParaRPr>
          </a:p>
          <a:p>
            <a:pPr marL="112141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 MT"/>
                <a:cs typeface="Arial MT"/>
              </a:rPr>
              <a:t>Element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{Property:Value}</a:t>
            </a:r>
            <a:endParaRPr sz="1600">
              <a:latin typeface="Arial MT"/>
              <a:cs typeface="Arial MT"/>
            </a:endParaRPr>
          </a:p>
          <a:p>
            <a:pPr marL="100584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 MT"/>
                <a:cs typeface="Arial MT"/>
              </a:rPr>
              <a:t>&lt;/STYLE&gt;</a:t>
            </a:r>
            <a:endParaRPr sz="16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965"/>
              </a:spcBef>
            </a:pPr>
            <a:r>
              <a:rPr sz="1600" spc="-10" dirty="0">
                <a:latin typeface="Arial MT"/>
                <a:cs typeface="Arial MT"/>
              </a:rPr>
              <a:t>&lt;/HEAD&gt;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840" y="3038347"/>
            <a:ext cx="3634104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  <a:p>
            <a:pPr marL="914400" marR="508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&lt;STYLE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TYPE=“text/css”&gt; H1{color:red} H2{color:blue}</a:t>
            </a:r>
            <a:endParaRPr sz="1800">
              <a:latin typeface="Arial MT"/>
              <a:cs typeface="Arial MT"/>
            </a:endParaRPr>
          </a:p>
          <a:p>
            <a:pPr marL="9144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&lt;/STYLE&gt;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  <a:p>
            <a:pPr marL="9144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&lt;H1&gt;Heading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1&lt;/H1&gt;</a:t>
            </a:r>
            <a:endParaRPr sz="1800">
              <a:latin typeface="Arial MT"/>
              <a:cs typeface="Arial MT"/>
            </a:endParaRPr>
          </a:p>
          <a:p>
            <a:pPr marL="9144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&lt;H2&gt;Item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1&lt;/H2&gt;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8440" y="5782157"/>
            <a:ext cx="32016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&lt;H1&gt;Heading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2&lt;/H1&gt;</a:t>
            </a:r>
            <a:endParaRPr sz="1800">
              <a:latin typeface="Arial MT"/>
              <a:cs typeface="Arial MT"/>
            </a:endParaRPr>
          </a:p>
          <a:p>
            <a:pPr marL="9398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&lt;H2&gt;Item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2&lt;/H2&gt;</a:t>
            </a:r>
            <a:endParaRPr sz="18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sz="1800" spc="-735" dirty="0">
                <a:latin typeface="Arial MT"/>
                <a:cs typeface="Arial MT"/>
              </a:rPr>
              <a:t>&lt;</a:t>
            </a:r>
            <a:r>
              <a:rPr sz="2100" spc="135" baseline="19841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r>
              <a:rPr sz="1800" spc="-385" dirty="0">
                <a:latin typeface="Arial MT"/>
                <a:cs typeface="Arial MT"/>
              </a:rPr>
              <a:t>/</a:t>
            </a:r>
            <a:r>
              <a:rPr sz="2100" spc="-330" baseline="19841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</a:t>
            </a:r>
            <a:r>
              <a:rPr sz="1800" spc="100" dirty="0">
                <a:latin typeface="Arial MT"/>
                <a:cs typeface="Arial MT"/>
              </a:rPr>
              <a:t>B</a:t>
            </a:r>
            <a:r>
              <a:rPr sz="1800" spc="90" dirty="0">
                <a:latin typeface="Arial MT"/>
                <a:cs typeface="Arial MT"/>
              </a:rPr>
              <a:t>O</a:t>
            </a:r>
            <a:r>
              <a:rPr sz="1800" spc="100" dirty="0">
                <a:latin typeface="Arial MT"/>
                <a:cs typeface="Arial MT"/>
              </a:rPr>
              <a:t>D</a:t>
            </a:r>
            <a:r>
              <a:rPr sz="1800" spc="70" dirty="0">
                <a:latin typeface="Arial MT"/>
                <a:cs typeface="Arial MT"/>
              </a:rPr>
              <a:t>Y</a:t>
            </a:r>
            <a:r>
              <a:rPr sz="1800" spc="100" dirty="0">
                <a:latin typeface="Arial MT"/>
                <a:cs typeface="Arial MT"/>
              </a:rPr>
              <a:t>&gt;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44723" y="3906773"/>
            <a:ext cx="1538605" cy="2537460"/>
            <a:chOff x="2744723" y="3906773"/>
            <a:chExt cx="1538605" cy="2537460"/>
          </a:xfrm>
        </p:grpSpPr>
        <p:sp>
          <p:nvSpPr>
            <p:cNvPr id="11" name="object 11"/>
            <p:cNvSpPr/>
            <p:nvPr/>
          </p:nvSpPr>
          <p:spPr>
            <a:xfrm>
              <a:off x="3963923" y="5106923"/>
              <a:ext cx="304800" cy="1323340"/>
            </a:xfrm>
            <a:custGeom>
              <a:avLst/>
              <a:gdLst/>
              <a:ahLst/>
              <a:cxnLst/>
              <a:rect l="l" t="t" r="r" b="b"/>
              <a:pathLst>
                <a:path w="304800" h="1323339">
                  <a:moveTo>
                    <a:pt x="0" y="0"/>
                  </a:moveTo>
                  <a:lnTo>
                    <a:pt x="152400" y="0"/>
                  </a:lnTo>
                </a:path>
                <a:path w="304800" h="1323339">
                  <a:moveTo>
                    <a:pt x="0" y="1322832"/>
                  </a:moveTo>
                  <a:lnTo>
                    <a:pt x="152400" y="1322832"/>
                  </a:lnTo>
                </a:path>
                <a:path w="304800" h="1323339">
                  <a:moveTo>
                    <a:pt x="152400" y="0"/>
                  </a:moveTo>
                  <a:lnTo>
                    <a:pt x="152400" y="630935"/>
                  </a:lnTo>
                </a:path>
                <a:path w="304800" h="1323339">
                  <a:moveTo>
                    <a:pt x="152400" y="755904"/>
                  </a:moveTo>
                  <a:lnTo>
                    <a:pt x="152400" y="1322832"/>
                  </a:lnTo>
                </a:path>
                <a:path w="304800" h="1323339">
                  <a:moveTo>
                    <a:pt x="152400" y="630935"/>
                  </a:moveTo>
                  <a:lnTo>
                    <a:pt x="304800" y="691895"/>
                  </a:lnTo>
                </a:path>
                <a:path w="304800" h="1323339">
                  <a:moveTo>
                    <a:pt x="304800" y="691895"/>
                  </a:moveTo>
                  <a:lnTo>
                    <a:pt x="152400" y="755904"/>
                  </a:lnTo>
                </a:path>
              </a:pathLst>
            </a:custGeom>
            <a:ln w="2857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4723" y="3906773"/>
              <a:ext cx="1447800" cy="114300"/>
            </a:xfrm>
            <a:custGeom>
              <a:avLst/>
              <a:gdLst/>
              <a:ahLst/>
              <a:cxnLst/>
              <a:rect l="l" t="t" r="r" b="b"/>
              <a:pathLst>
                <a:path w="144780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144780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1447800" h="114300">
                  <a:moveTo>
                    <a:pt x="1447800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1447800" y="76200"/>
                  </a:lnTo>
                  <a:lnTo>
                    <a:pt x="1447800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47464" y="3838702"/>
            <a:ext cx="2292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Definition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/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declaration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6064" y="5591962"/>
            <a:ext cx="791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Applied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8111" y="4348157"/>
            <a:ext cx="4467690" cy="8937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30" dirty="0"/>
              <a:t> </a:t>
            </a:r>
            <a:r>
              <a:rPr dirty="0"/>
              <a:t>Class</a:t>
            </a:r>
            <a:r>
              <a:rPr spc="-10" dirty="0"/>
              <a:t> </a:t>
            </a:r>
            <a:r>
              <a:rPr spc="-25" dirty="0"/>
              <a:t>Selector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266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13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02123" y="2141220"/>
            <a:ext cx="4227830" cy="1813560"/>
          </a:xfrm>
          <a:custGeom>
            <a:avLst/>
            <a:gdLst/>
            <a:ahLst/>
            <a:cxnLst/>
            <a:rect l="l" t="t" r="r" b="b"/>
            <a:pathLst>
              <a:path w="4227830" h="1813560">
                <a:moveTo>
                  <a:pt x="0" y="1813559"/>
                </a:moveTo>
                <a:lnTo>
                  <a:pt x="4227576" y="1813559"/>
                </a:lnTo>
                <a:lnTo>
                  <a:pt x="4227576" y="0"/>
                </a:lnTo>
                <a:lnTo>
                  <a:pt x="0" y="0"/>
                </a:lnTo>
                <a:lnTo>
                  <a:pt x="0" y="1813559"/>
                </a:lnTo>
                <a:close/>
              </a:path>
            </a:pathLst>
          </a:custGeom>
          <a:ln w="9525">
            <a:solidFill>
              <a:srgbClr val="95A9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7340" y="852347"/>
            <a:ext cx="6610984" cy="15862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2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spc="-125" dirty="0">
                <a:latin typeface="Times New Roman"/>
                <a:cs typeface="Times New Roman"/>
              </a:rPr>
              <a:t>In</a:t>
            </a:r>
            <a:r>
              <a:rPr sz="2000" spc="-275" dirty="0">
                <a:latin typeface="Times New Roman"/>
                <a:cs typeface="Times New Roman"/>
              </a:rPr>
              <a:t> </a:t>
            </a:r>
            <a:r>
              <a:rPr sz="2000" spc="-200" dirty="0">
                <a:latin typeface="Times New Roman"/>
                <a:cs typeface="Times New Roman"/>
              </a:rPr>
              <a:t>TYPE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attribute,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specify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15" dirty="0">
                <a:latin typeface="Times New Roman"/>
                <a:cs typeface="Times New Roman"/>
              </a:rPr>
              <a:t>MIME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type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of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style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definition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part.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b="1" spc="-85" dirty="0">
                <a:latin typeface="Times New Roman"/>
                <a:cs typeface="Times New Roman"/>
              </a:rPr>
              <a:t>Class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name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starts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with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spc="-90" dirty="0">
                <a:latin typeface="Times New Roman"/>
                <a:cs typeface="Times New Roman"/>
              </a:rPr>
              <a:t>a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period </a:t>
            </a:r>
            <a:r>
              <a:rPr sz="2000" b="1" spc="-25" dirty="0">
                <a:latin typeface="Times New Roman"/>
                <a:cs typeface="Times New Roman"/>
              </a:rPr>
              <a:t>(.)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spc="-12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Selector,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specify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name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created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define</a:t>
            </a:r>
            <a:r>
              <a:rPr sz="2000" b="1" spc="-10" dirty="0">
                <a:latin typeface="Times New Roman"/>
                <a:cs typeface="Times New Roman"/>
              </a:rPr>
              <a:t> style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spc="-95" dirty="0">
                <a:latin typeface="Times New Roman"/>
                <a:cs typeface="Times New Roman"/>
              </a:rPr>
              <a:t>When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applying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85" dirty="0">
                <a:latin typeface="Times New Roman"/>
                <a:cs typeface="Times New Roman"/>
              </a:rPr>
              <a:t>CLASS,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remove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period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(.)</a:t>
            </a:r>
            <a:endParaRPr sz="2000">
              <a:latin typeface="Times New Roman"/>
              <a:cs typeface="Times New Roman"/>
            </a:endParaRPr>
          </a:p>
          <a:p>
            <a:pPr marR="1210945" algn="r">
              <a:lnSpc>
                <a:spcPct val="100000"/>
              </a:lnSpc>
              <a:spcBef>
                <a:spcPts val="285"/>
              </a:spcBef>
            </a:pPr>
            <a:r>
              <a:rPr sz="1600" spc="-10" dirty="0">
                <a:latin typeface="Arial MT"/>
                <a:cs typeface="Arial MT"/>
              </a:rPr>
              <a:t>&lt;HEAD&gt;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5898" y="2413203"/>
            <a:ext cx="2972435" cy="112331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dirty="0">
                <a:latin typeface="Arial MT"/>
                <a:cs typeface="Arial MT"/>
              </a:rPr>
              <a:t>&lt;STYLE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TYPE=“text/css”&gt;</a:t>
            </a:r>
            <a:endParaRPr sz="1600">
              <a:latin typeface="Arial MT"/>
              <a:cs typeface="Arial MT"/>
            </a:endParaRPr>
          </a:p>
          <a:p>
            <a:pPr marL="128270">
              <a:lnSpc>
                <a:spcPct val="100000"/>
              </a:lnSpc>
              <a:spcBef>
                <a:spcPts val="960"/>
              </a:spcBef>
            </a:pP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.Class</a:t>
            </a:r>
            <a:r>
              <a:rPr sz="16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sz="16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Arial"/>
                <a:cs typeface="Arial"/>
              </a:rPr>
              <a:t>{Property:Value}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10" dirty="0">
                <a:latin typeface="Arial MT"/>
                <a:cs typeface="Arial MT"/>
              </a:rPr>
              <a:t>&lt;/STYLE&gt;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0864" y="3631438"/>
            <a:ext cx="890269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latin typeface="Arial MT"/>
                <a:cs typeface="Arial MT"/>
              </a:rPr>
              <a:t>&lt;/HEAD&gt;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339" y="3061716"/>
            <a:ext cx="4724400" cy="3733800"/>
          </a:xfrm>
          <a:custGeom>
            <a:avLst/>
            <a:gdLst/>
            <a:ahLst/>
            <a:cxnLst/>
            <a:rect l="l" t="t" r="r" b="b"/>
            <a:pathLst>
              <a:path w="4724400" h="3733800">
                <a:moveTo>
                  <a:pt x="0" y="3733800"/>
                </a:moveTo>
                <a:lnTo>
                  <a:pt x="4724400" y="3733800"/>
                </a:lnTo>
                <a:lnTo>
                  <a:pt x="4724400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165" y="3126689"/>
            <a:ext cx="9283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165" y="3401695"/>
            <a:ext cx="459168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&lt;STYLE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TYPE=“text/css”&gt;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.red{color:#FF0000}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.blue{color:#0000FF}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&lt;/STYLE&gt;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&lt;H1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CLASS=“red”&gt;Heading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1&lt;/H1&gt;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&lt;H2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CLASS=“blue”&gt;Item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1&lt;/H2&gt;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5870" y="5871464"/>
            <a:ext cx="3547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&lt;H1&gt;Heading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2&lt;/H1&gt;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&lt;P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CLASS=“red”&gt;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Paragraph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&lt;/P&gt;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165" y="6420408"/>
            <a:ext cx="1000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&lt;/BODY&gt;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54323" y="3997959"/>
            <a:ext cx="1843405" cy="2096135"/>
            <a:chOff x="3354323" y="3997959"/>
            <a:chExt cx="1843405" cy="209613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8323" y="5104828"/>
              <a:ext cx="319087" cy="48577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54324" y="3997959"/>
              <a:ext cx="1676400" cy="2096135"/>
            </a:xfrm>
            <a:custGeom>
              <a:avLst/>
              <a:gdLst/>
              <a:ahLst/>
              <a:cxnLst/>
              <a:rect l="l" t="t" r="r" b="b"/>
              <a:pathLst>
                <a:path w="1676400" h="2096135">
                  <a:moveTo>
                    <a:pt x="1600200" y="35306"/>
                  </a:moveTo>
                  <a:lnTo>
                    <a:pt x="114236" y="38201"/>
                  </a:lnTo>
                  <a:lnTo>
                    <a:pt x="114173" y="0"/>
                  </a:lnTo>
                  <a:lnTo>
                    <a:pt x="0" y="57404"/>
                  </a:lnTo>
                  <a:lnTo>
                    <a:pt x="114427" y="114300"/>
                  </a:lnTo>
                  <a:lnTo>
                    <a:pt x="114338" y="76327"/>
                  </a:lnTo>
                  <a:lnTo>
                    <a:pt x="95250" y="76327"/>
                  </a:lnTo>
                  <a:lnTo>
                    <a:pt x="114325" y="76301"/>
                  </a:lnTo>
                  <a:lnTo>
                    <a:pt x="1600200" y="73406"/>
                  </a:lnTo>
                  <a:lnTo>
                    <a:pt x="1600200" y="38227"/>
                  </a:lnTo>
                  <a:lnTo>
                    <a:pt x="1600200" y="35306"/>
                  </a:lnTo>
                  <a:close/>
                </a:path>
                <a:path w="1676400" h="2096135">
                  <a:moveTo>
                    <a:pt x="1676400" y="2016506"/>
                  </a:moveTo>
                  <a:lnTo>
                    <a:pt x="190436" y="2019350"/>
                  </a:lnTo>
                  <a:lnTo>
                    <a:pt x="190373" y="1981238"/>
                  </a:lnTo>
                  <a:lnTo>
                    <a:pt x="76200" y="2038604"/>
                  </a:lnTo>
                  <a:lnTo>
                    <a:pt x="190627" y="2095538"/>
                  </a:lnTo>
                  <a:lnTo>
                    <a:pt x="190538" y="2057476"/>
                  </a:lnTo>
                  <a:lnTo>
                    <a:pt x="171450" y="2057476"/>
                  </a:lnTo>
                  <a:lnTo>
                    <a:pt x="190525" y="2057450"/>
                  </a:lnTo>
                  <a:lnTo>
                    <a:pt x="1676400" y="2054606"/>
                  </a:lnTo>
                  <a:lnTo>
                    <a:pt x="1676400" y="2019376"/>
                  </a:lnTo>
                  <a:lnTo>
                    <a:pt x="1676400" y="20165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09717" y="3927170"/>
            <a:ext cx="7258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95A9A9"/>
                </a:solidFill>
                <a:latin typeface="Arial"/>
                <a:cs typeface="Arial"/>
              </a:rPr>
              <a:t>Define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38317" y="5223205"/>
            <a:ext cx="862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95A9A9"/>
                </a:solidFill>
                <a:latin typeface="Arial"/>
                <a:cs typeface="Arial"/>
              </a:rPr>
              <a:t>Applied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8317" y="5759907"/>
            <a:ext cx="143827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800"/>
              </a:lnSpc>
              <a:spcBef>
                <a:spcPts val="100"/>
              </a:spcBef>
            </a:pPr>
            <a:r>
              <a:rPr sz="1800" b="1" dirty="0">
                <a:solidFill>
                  <a:srgbClr val="95A9A9"/>
                </a:solidFill>
                <a:latin typeface="Arial"/>
                <a:cs typeface="Arial"/>
              </a:rPr>
              <a:t>Do</a:t>
            </a:r>
            <a:r>
              <a:rPr sz="1800" b="1" spc="-30" dirty="0">
                <a:solidFill>
                  <a:srgbClr val="95A9A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5A9A9"/>
                </a:solidFill>
                <a:latin typeface="Arial"/>
                <a:cs typeface="Arial"/>
              </a:rPr>
              <a:t>not</a:t>
            </a:r>
            <a:r>
              <a:rPr sz="1800" b="1" spc="-85" dirty="0">
                <a:solidFill>
                  <a:srgbClr val="95A9A9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95A9A9"/>
                </a:solidFill>
                <a:latin typeface="Arial"/>
                <a:cs typeface="Arial"/>
              </a:rPr>
              <a:t>Apply </a:t>
            </a:r>
            <a:r>
              <a:rPr sz="1800" b="1" spc="-10" dirty="0">
                <a:solidFill>
                  <a:srgbClr val="95A9A9"/>
                </a:solidFill>
                <a:latin typeface="Arial"/>
                <a:cs typeface="Arial"/>
              </a:rPr>
              <a:t>Applied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49723" y="6283705"/>
            <a:ext cx="686435" cy="114300"/>
          </a:xfrm>
          <a:custGeom>
            <a:avLst/>
            <a:gdLst/>
            <a:ahLst/>
            <a:cxnLst/>
            <a:rect l="l" t="t" r="r" b="b"/>
            <a:pathLst>
              <a:path w="686435" h="114300">
                <a:moveTo>
                  <a:pt x="114046" y="0"/>
                </a:moveTo>
                <a:lnTo>
                  <a:pt x="0" y="57658"/>
                </a:lnTo>
                <a:lnTo>
                  <a:pt x="114553" y="114300"/>
                </a:lnTo>
                <a:lnTo>
                  <a:pt x="114385" y="76276"/>
                </a:lnTo>
                <a:lnTo>
                  <a:pt x="95376" y="76276"/>
                </a:lnTo>
                <a:lnTo>
                  <a:pt x="95123" y="38176"/>
                </a:lnTo>
                <a:lnTo>
                  <a:pt x="114215" y="38176"/>
                </a:lnTo>
                <a:lnTo>
                  <a:pt x="114046" y="0"/>
                </a:lnTo>
                <a:close/>
              </a:path>
              <a:path w="686435" h="114300">
                <a:moveTo>
                  <a:pt x="685673" y="35560"/>
                </a:moveTo>
                <a:lnTo>
                  <a:pt x="95123" y="38176"/>
                </a:lnTo>
                <a:lnTo>
                  <a:pt x="95252" y="57658"/>
                </a:lnTo>
                <a:lnTo>
                  <a:pt x="95376" y="76276"/>
                </a:lnTo>
                <a:lnTo>
                  <a:pt x="114385" y="76276"/>
                </a:lnTo>
                <a:lnTo>
                  <a:pt x="114302" y="57658"/>
                </a:lnTo>
                <a:lnTo>
                  <a:pt x="114215" y="38176"/>
                </a:lnTo>
                <a:lnTo>
                  <a:pt x="685690" y="38176"/>
                </a:lnTo>
                <a:lnTo>
                  <a:pt x="685673" y="35560"/>
                </a:lnTo>
                <a:close/>
              </a:path>
              <a:path w="686435" h="114300">
                <a:moveTo>
                  <a:pt x="685690" y="38176"/>
                </a:moveTo>
                <a:lnTo>
                  <a:pt x="114215" y="38176"/>
                </a:lnTo>
                <a:lnTo>
                  <a:pt x="114302" y="57658"/>
                </a:lnTo>
                <a:lnTo>
                  <a:pt x="114385" y="76276"/>
                </a:lnTo>
                <a:lnTo>
                  <a:pt x="95377" y="76276"/>
                </a:lnTo>
                <a:lnTo>
                  <a:pt x="685926" y="73660"/>
                </a:lnTo>
                <a:lnTo>
                  <a:pt x="685690" y="381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21082"/>
            <a:ext cx="2620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45" dirty="0"/>
              <a:t> </a:t>
            </a:r>
            <a:r>
              <a:rPr dirty="0"/>
              <a:t>ID</a:t>
            </a:r>
            <a:r>
              <a:rPr spc="-50" dirty="0"/>
              <a:t> </a:t>
            </a:r>
            <a:r>
              <a:rPr spc="-25" dirty="0"/>
              <a:t>Selector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6304" y="3654361"/>
            <a:ext cx="4743450" cy="3014980"/>
            <a:chOff x="146304" y="3654361"/>
            <a:chExt cx="4743450" cy="3014980"/>
          </a:xfrm>
        </p:grpSpPr>
        <p:sp>
          <p:nvSpPr>
            <p:cNvPr id="4" name="object 4"/>
            <p:cNvSpPr/>
            <p:nvPr/>
          </p:nvSpPr>
          <p:spPr>
            <a:xfrm>
              <a:off x="146304" y="62118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599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199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599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924" y="3659123"/>
              <a:ext cx="4730750" cy="2895600"/>
            </a:xfrm>
            <a:custGeom>
              <a:avLst/>
              <a:gdLst/>
              <a:ahLst/>
              <a:cxnLst/>
              <a:rect l="l" t="t" r="r" b="b"/>
              <a:pathLst>
                <a:path w="4730750" h="2895600">
                  <a:moveTo>
                    <a:pt x="0" y="2895600"/>
                  </a:moveTo>
                  <a:lnTo>
                    <a:pt x="4730496" y="2895600"/>
                  </a:lnTo>
                  <a:lnTo>
                    <a:pt x="4730496" y="0"/>
                  </a:lnTo>
                  <a:lnTo>
                    <a:pt x="0" y="0"/>
                  </a:lnTo>
                  <a:lnTo>
                    <a:pt x="0" y="2895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7340" y="850519"/>
            <a:ext cx="8143240" cy="1052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spc="-130" dirty="0">
                <a:latin typeface="Times New Roman"/>
                <a:cs typeface="Times New Roman"/>
              </a:rPr>
              <a:t>Define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name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specific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style,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and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apply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by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specifying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name.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ts val="2595"/>
              </a:lnSpc>
              <a:spcBef>
                <a:spcPts val="2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spc="-150" dirty="0">
                <a:latin typeface="Times New Roman"/>
                <a:cs typeface="Times New Roman"/>
              </a:rPr>
              <a:t>However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cannot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called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twice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but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some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browsers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can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use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like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287020">
              <a:lnSpc>
                <a:spcPts val="2595"/>
              </a:lnSpc>
            </a:pPr>
            <a:r>
              <a:rPr sz="2400" spc="-170" dirty="0">
                <a:latin typeface="Times New Roman"/>
                <a:cs typeface="Times New Roman"/>
              </a:rPr>
              <a:t>class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selector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for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more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than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twice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(using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function)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4523" y="2351532"/>
            <a:ext cx="4038600" cy="1813560"/>
          </a:xfrm>
          <a:prstGeom prst="rect">
            <a:avLst/>
          </a:prstGeom>
          <a:ln w="9525">
            <a:solidFill>
              <a:srgbClr val="95A9A9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1600" spc="-10" dirty="0">
                <a:latin typeface="Arial MT"/>
                <a:cs typeface="Arial MT"/>
              </a:rPr>
              <a:t>&lt;HEAD&gt;</a:t>
            </a:r>
            <a:endParaRPr sz="1600">
              <a:latin typeface="Arial MT"/>
              <a:cs typeface="Arial MT"/>
            </a:endParaRPr>
          </a:p>
          <a:p>
            <a:pPr marL="1006475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 MT"/>
                <a:cs typeface="Arial MT"/>
              </a:rPr>
              <a:t>&lt;STYLE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TYPE=“text/css”&gt;</a:t>
            </a:r>
            <a:endParaRPr sz="1600">
              <a:latin typeface="Arial MT"/>
              <a:cs typeface="Arial MT"/>
            </a:endParaRPr>
          </a:p>
          <a:p>
            <a:pPr marL="1122045">
              <a:lnSpc>
                <a:spcPct val="100000"/>
              </a:lnSpc>
              <a:spcBef>
                <a:spcPts val="965"/>
              </a:spcBef>
            </a:pPr>
            <a:r>
              <a:rPr sz="1600" b="1" dirty="0">
                <a:solidFill>
                  <a:srgbClr val="FF9900"/>
                </a:solidFill>
                <a:latin typeface="Arial"/>
                <a:cs typeface="Arial"/>
              </a:rPr>
              <a:t>#ID</a:t>
            </a:r>
            <a:r>
              <a:rPr sz="1600" b="1" spc="-3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9900"/>
                </a:solidFill>
                <a:latin typeface="Arial"/>
                <a:cs typeface="Arial"/>
              </a:rPr>
              <a:t>{Property:Value}</a:t>
            </a:r>
            <a:endParaRPr sz="1600">
              <a:latin typeface="Arial"/>
              <a:cs typeface="Arial"/>
            </a:endParaRPr>
          </a:p>
          <a:p>
            <a:pPr marL="1006475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 MT"/>
                <a:cs typeface="Arial MT"/>
              </a:rPr>
              <a:t>&lt;/STYLE&gt;</a:t>
            </a:r>
            <a:endParaRPr sz="16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 MT"/>
                <a:cs typeface="Arial MT"/>
              </a:rPr>
              <a:t>&lt;/HEAD&gt;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40" y="3716223"/>
            <a:ext cx="9283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844" y="3991102"/>
            <a:ext cx="27317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&lt;STYLE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TYPE=“text/css”&gt;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#id123{color:red}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140" y="4540122"/>
            <a:ext cx="19919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&lt;/STYLE&gt;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844" y="5363362"/>
            <a:ext cx="3385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&lt;H1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ID=“id123”&gt;Heading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1&lt;/H1&gt;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&lt;P&gt;Content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1&lt;/P&gt;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740" y="6186627"/>
            <a:ext cx="1050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785" dirty="0">
                <a:latin typeface="Arial MT"/>
                <a:cs typeface="Arial MT"/>
              </a:rPr>
              <a:t>&lt;</a:t>
            </a:r>
            <a:r>
              <a:rPr sz="2100" spc="-44" baseline="-25793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r>
              <a:rPr sz="2100" spc="-1162" baseline="-25793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</a:t>
            </a:r>
            <a:r>
              <a:rPr sz="1800" spc="30" dirty="0">
                <a:latin typeface="Arial MT"/>
                <a:cs typeface="Arial MT"/>
              </a:rPr>
              <a:t>/</a:t>
            </a:r>
            <a:r>
              <a:rPr sz="1800" spc="25" dirty="0">
                <a:latin typeface="Arial MT"/>
                <a:cs typeface="Arial MT"/>
              </a:rPr>
              <a:t>B</a:t>
            </a:r>
            <a:r>
              <a:rPr sz="1800" spc="15" dirty="0">
                <a:latin typeface="Arial MT"/>
                <a:cs typeface="Arial MT"/>
              </a:rPr>
              <a:t>O</a:t>
            </a:r>
            <a:r>
              <a:rPr sz="1800" spc="25" dirty="0">
                <a:latin typeface="Arial MT"/>
                <a:cs typeface="Arial MT"/>
              </a:rPr>
              <a:t>D</a:t>
            </a:r>
            <a:r>
              <a:rPr sz="1800" spc="-5" dirty="0">
                <a:latin typeface="Arial MT"/>
                <a:cs typeface="Arial MT"/>
              </a:rPr>
              <a:t>Y</a:t>
            </a:r>
            <a:r>
              <a:rPr sz="1800" spc="25" dirty="0">
                <a:latin typeface="Arial MT"/>
                <a:cs typeface="Arial MT"/>
              </a:rPr>
              <a:t>&gt;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11057" y="4363973"/>
            <a:ext cx="3193415" cy="1290955"/>
            <a:chOff x="2111057" y="4363973"/>
            <a:chExt cx="3193415" cy="1290955"/>
          </a:xfrm>
        </p:grpSpPr>
        <p:sp>
          <p:nvSpPr>
            <p:cNvPr id="14" name="object 14"/>
            <p:cNvSpPr/>
            <p:nvPr/>
          </p:nvSpPr>
          <p:spPr>
            <a:xfrm>
              <a:off x="4985004" y="533552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152400" y="0"/>
                  </a:lnTo>
                </a:path>
                <a:path w="304800" h="304800">
                  <a:moveTo>
                    <a:pt x="0" y="304800"/>
                  </a:moveTo>
                  <a:lnTo>
                    <a:pt x="152400" y="304800"/>
                  </a:lnTo>
                </a:path>
                <a:path w="304800" h="304800">
                  <a:moveTo>
                    <a:pt x="152400" y="0"/>
                  </a:moveTo>
                  <a:lnTo>
                    <a:pt x="152400" y="146303"/>
                  </a:lnTo>
                </a:path>
                <a:path w="304800" h="304800">
                  <a:moveTo>
                    <a:pt x="152400" y="173735"/>
                  </a:moveTo>
                  <a:lnTo>
                    <a:pt x="152400" y="304800"/>
                  </a:lnTo>
                </a:path>
                <a:path w="304800" h="304800">
                  <a:moveTo>
                    <a:pt x="152400" y="146303"/>
                  </a:moveTo>
                  <a:lnTo>
                    <a:pt x="304800" y="158495"/>
                  </a:lnTo>
                </a:path>
                <a:path w="304800" h="304800">
                  <a:moveTo>
                    <a:pt x="304800" y="158495"/>
                  </a:moveTo>
                  <a:lnTo>
                    <a:pt x="152400" y="173735"/>
                  </a:lnTo>
                </a:path>
              </a:pathLst>
            </a:custGeom>
            <a:ln w="2857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6956" y="4363973"/>
              <a:ext cx="2060575" cy="114300"/>
            </a:xfrm>
            <a:custGeom>
              <a:avLst/>
              <a:gdLst/>
              <a:ahLst/>
              <a:cxnLst/>
              <a:rect l="l" t="t" r="r" b="b"/>
              <a:pathLst>
                <a:path w="2060575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2060575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2060575" h="114300">
                  <a:moveTo>
                    <a:pt x="2060447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2060447" y="76200"/>
                  </a:lnTo>
                  <a:lnTo>
                    <a:pt x="2060447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15820" y="4725923"/>
              <a:ext cx="3174365" cy="682625"/>
            </a:xfrm>
            <a:custGeom>
              <a:avLst/>
              <a:gdLst/>
              <a:ahLst/>
              <a:cxnLst/>
              <a:rect l="l" t="t" r="r" b="b"/>
              <a:pathLst>
                <a:path w="3174365" h="682625">
                  <a:moveTo>
                    <a:pt x="580136" y="0"/>
                  </a:moveTo>
                  <a:lnTo>
                    <a:pt x="1012444" y="0"/>
                  </a:lnTo>
                  <a:lnTo>
                    <a:pt x="1660906" y="0"/>
                  </a:lnTo>
                  <a:lnTo>
                    <a:pt x="3173984" y="0"/>
                  </a:lnTo>
                  <a:lnTo>
                    <a:pt x="3173984" y="311150"/>
                  </a:lnTo>
                  <a:lnTo>
                    <a:pt x="3173984" y="444500"/>
                  </a:lnTo>
                  <a:lnTo>
                    <a:pt x="3173984" y="533400"/>
                  </a:lnTo>
                  <a:lnTo>
                    <a:pt x="1660906" y="533400"/>
                  </a:lnTo>
                  <a:lnTo>
                    <a:pt x="0" y="682625"/>
                  </a:lnTo>
                  <a:lnTo>
                    <a:pt x="1012444" y="533400"/>
                  </a:lnTo>
                  <a:lnTo>
                    <a:pt x="580136" y="533400"/>
                  </a:lnTo>
                  <a:lnTo>
                    <a:pt x="580136" y="444500"/>
                  </a:lnTo>
                  <a:lnTo>
                    <a:pt x="580136" y="311150"/>
                  </a:lnTo>
                  <a:lnTo>
                    <a:pt x="58013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217667" y="4219702"/>
            <a:ext cx="725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95A9A9"/>
                </a:solidFill>
                <a:latin typeface="Arial"/>
                <a:cs typeface="Arial"/>
              </a:rPr>
              <a:t>Define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46267" y="5287136"/>
            <a:ext cx="862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95A9A9"/>
                </a:solidFill>
                <a:latin typeface="Arial"/>
                <a:cs typeface="Arial"/>
              </a:rPr>
              <a:t>Applied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71977" y="4756530"/>
            <a:ext cx="2234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When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ID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specified,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“sharp”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51352" y="4939410"/>
            <a:ext cx="1078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10" dirty="0">
                <a:latin typeface="Arial MT"/>
                <a:cs typeface="Arial MT"/>
              </a:rPr>
              <a:t> removed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21082"/>
            <a:ext cx="3865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75" dirty="0"/>
              <a:t> </a:t>
            </a:r>
            <a:r>
              <a:rPr dirty="0"/>
              <a:t>Grouped</a:t>
            </a:r>
            <a:r>
              <a:rPr spc="-40" dirty="0"/>
              <a:t> </a:t>
            </a:r>
            <a:r>
              <a:rPr spc="-20" dirty="0"/>
              <a:t>Selector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266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15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850519"/>
            <a:ext cx="8251825" cy="68389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marR="5080" indent="-274955">
              <a:lnSpc>
                <a:spcPts val="2300"/>
              </a:lnSpc>
              <a:spcBef>
                <a:spcPts val="66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spc="-295" dirty="0">
                <a:latin typeface="Times New Roman"/>
                <a:cs typeface="Times New Roman"/>
              </a:rPr>
              <a:t>By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grouping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multiple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elements,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95A9A9"/>
                </a:solidFill>
                <a:latin typeface="Times New Roman"/>
                <a:cs typeface="Times New Roman"/>
              </a:rPr>
              <a:t>separated</a:t>
            </a:r>
            <a:r>
              <a:rPr sz="2400" b="1" spc="-85" dirty="0">
                <a:solidFill>
                  <a:srgbClr val="95A9A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A9A9"/>
                </a:solidFill>
                <a:latin typeface="Times New Roman"/>
                <a:cs typeface="Times New Roman"/>
              </a:rPr>
              <a:t>with</a:t>
            </a:r>
            <a:r>
              <a:rPr sz="2400" b="1" spc="-10" dirty="0">
                <a:solidFill>
                  <a:srgbClr val="95A9A9"/>
                </a:solidFill>
                <a:latin typeface="Times New Roman"/>
                <a:cs typeface="Times New Roman"/>
              </a:rPr>
              <a:t> comma</a:t>
            </a:r>
            <a:r>
              <a:rPr sz="2400" b="1" spc="-45" dirty="0">
                <a:solidFill>
                  <a:srgbClr val="95A9A9"/>
                </a:solidFill>
                <a:latin typeface="Times New Roman"/>
                <a:cs typeface="Times New Roman"/>
              </a:rPr>
              <a:t> </a:t>
            </a:r>
            <a:r>
              <a:rPr sz="24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(,)</a:t>
            </a:r>
            <a:r>
              <a:rPr sz="2400" b="1" spc="50" dirty="0">
                <a:solidFill>
                  <a:srgbClr val="95A9A9"/>
                </a:solidFill>
                <a:latin typeface="Times New Roman"/>
                <a:cs typeface="Times New Roman"/>
              </a:rPr>
              <a:t>,</a:t>
            </a:r>
            <a:r>
              <a:rPr sz="2400" b="1" spc="-55" dirty="0">
                <a:solidFill>
                  <a:srgbClr val="95A9A9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common </a:t>
            </a:r>
            <a:r>
              <a:rPr sz="2400" spc="-120" dirty="0">
                <a:latin typeface="Times New Roman"/>
                <a:cs typeface="Times New Roman"/>
              </a:rPr>
              <a:t>style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can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30523" y="1601724"/>
            <a:ext cx="5486400" cy="1813560"/>
          </a:xfrm>
          <a:custGeom>
            <a:avLst/>
            <a:gdLst/>
            <a:ahLst/>
            <a:cxnLst/>
            <a:rect l="l" t="t" r="r" b="b"/>
            <a:pathLst>
              <a:path w="5486400" h="1813560">
                <a:moveTo>
                  <a:pt x="0" y="1813560"/>
                </a:moveTo>
                <a:lnTo>
                  <a:pt x="5486400" y="1813560"/>
                </a:lnTo>
                <a:lnTo>
                  <a:pt x="5486400" y="0"/>
                </a:lnTo>
                <a:lnTo>
                  <a:pt x="0" y="0"/>
                </a:lnTo>
                <a:lnTo>
                  <a:pt x="0" y="1813560"/>
                </a:lnTo>
                <a:close/>
              </a:path>
            </a:pathLst>
          </a:custGeom>
          <a:ln w="9525">
            <a:solidFill>
              <a:srgbClr val="95A9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09009" y="1507311"/>
            <a:ext cx="5053965" cy="185483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spc="-10" dirty="0">
                <a:latin typeface="Arial MT"/>
                <a:cs typeface="Arial MT"/>
              </a:rPr>
              <a:t>&lt;HEAD&gt;</a:t>
            </a:r>
            <a:endParaRPr sz="16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 MT"/>
                <a:cs typeface="Arial MT"/>
              </a:rPr>
              <a:t>&lt;STYLE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TYPE=“text/css”&gt;</a:t>
            </a:r>
            <a:endParaRPr sz="1600">
              <a:latin typeface="Arial MT"/>
              <a:cs typeface="Arial MT"/>
            </a:endParaRPr>
          </a:p>
          <a:p>
            <a:pPr marL="1042669">
              <a:lnSpc>
                <a:spcPct val="100000"/>
              </a:lnSpc>
              <a:spcBef>
                <a:spcPts val="965"/>
              </a:spcBef>
            </a:pPr>
            <a:r>
              <a:rPr sz="1600" b="1" dirty="0">
                <a:solidFill>
                  <a:srgbClr val="FF9900"/>
                </a:solidFill>
                <a:latin typeface="Arial"/>
                <a:cs typeface="Arial"/>
              </a:rPr>
              <a:t>Element</a:t>
            </a:r>
            <a:r>
              <a:rPr sz="1600" b="1" spc="-6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9900"/>
                </a:solidFill>
                <a:latin typeface="Arial"/>
                <a:cs typeface="Arial"/>
              </a:rPr>
              <a:t>1,</a:t>
            </a:r>
            <a:r>
              <a:rPr sz="1600" b="1" spc="-1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9900"/>
                </a:solidFill>
                <a:latin typeface="Arial"/>
                <a:cs typeface="Arial"/>
              </a:rPr>
              <a:t>Element</a:t>
            </a:r>
            <a:r>
              <a:rPr sz="1600" b="1" spc="-5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9900"/>
                </a:solidFill>
                <a:latin typeface="Arial"/>
                <a:cs typeface="Arial"/>
              </a:rPr>
              <a:t>2,….</a:t>
            </a:r>
            <a:r>
              <a:rPr sz="1600" b="1" spc="-1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9900"/>
                </a:solidFill>
                <a:latin typeface="Arial"/>
                <a:cs typeface="Arial"/>
              </a:rPr>
              <a:t>{Property:Value}</a:t>
            </a:r>
            <a:endParaRPr sz="16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 MT"/>
                <a:cs typeface="Arial MT"/>
              </a:rPr>
              <a:t>&lt;/STYLE&gt;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 MT"/>
                <a:cs typeface="Arial MT"/>
              </a:rPr>
              <a:t>&lt;/HEAD&gt;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0395" y="3430523"/>
            <a:ext cx="4724400" cy="3276600"/>
          </a:xfrm>
          <a:custGeom>
            <a:avLst/>
            <a:gdLst/>
            <a:ahLst/>
            <a:cxnLst/>
            <a:rect l="l" t="t" r="r" b="b"/>
            <a:pathLst>
              <a:path w="4724400" h="3276600">
                <a:moveTo>
                  <a:pt x="0" y="3276600"/>
                </a:moveTo>
                <a:lnTo>
                  <a:pt x="4724400" y="3276600"/>
                </a:lnTo>
                <a:lnTo>
                  <a:pt x="4724400" y="0"/>
                </a:lnTo>
                <a:lnTo>
                  <a:pt x="0" y="0"/>
                </a:lnTo>
                <a:lnTo>
                  <a:pt x="0" y="3276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7916" y="3404107"/>
            <a:ext cx="92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916" y="3678123"/>
            <a:ext cx="3644900" cy="2496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&lt;STYLE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TYPE=“text/css”&gt;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H1,H2,H3</a:t>
            </a:r>
            <a:r>
              <a:rPr sz="1800" spc="-10" dirty="0">
                <a:latin typeface="Arial MT"/>
                <a:cs typeface="Arial MT"/>
              </a:rPr>
              <a:t> {font:24px;</a:t>
            </a:r>
            <a:endParaRPr sz="1800">
              <a:latin typeface="Arial MT"/>
              <a:cs typeface="Arial MT"/>
            </a:endParaRPr>
          </a:p>
          <a:p>
            <a:pPr marL="2094864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color:blue}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&lt;/STYLE&gt;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&lt;H1&gt;Heading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1&lt;/H1&gt;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&lt;H2&gt;Heading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1&lt;/H2&gt;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&lt;H3&gt;Heading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1&lt;/H3&gt;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916" y="6422542"/>
            <a:ext cx="10007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&lt;/BODY&gt;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30523" y="4225671"/>
            <a:ext cx="1834514" cy="1886585"/>
            <a:chOff x="3430523" y="4225671"/>
            <a:chExt cx="1834514" cy="1886585"/>
          </a:xfrm>
        </p:grpSpPr>
        <p:sp>
          <p:nvSpPr>
            <p:cNvPr id="13" name="object 13"/>
            <p:cNvSpPr/>
            <p:nvPr/>
          </p:nvSpPr>
          <p:spPr>
            <a:xfrm>
              <a:off x="4945379" y="5335524"/>
              <a:ext cx="304800" cy="762000"/>
            </a:xfrm>
            <a:custGeom>
              <a:avLst/>
              <a:gdLst/>
              <a:ahLst/>
              <a:cxnLst/>
              <a:rect l="l" t="t" r="r" b="b"/>
              <a:pathLst>
                <a:path w="304800" h="762000">
                  <a:moveTo>
                    <a:pt x="0" y="0"/>
                  </a:moveTo>
                  <a:lnTo>
                    <a:pt x="152400" y="0"/>
                  </a:lnTo>
                </a:path>
                <a:path w="304800" h="762000">
                  <a:moveTo>
                    <a:pt x="0" y="761999"/>
                  </a:moveTo>
                  <a:lnTo>
                    <a:pt x="152400" y="761999"/>
                  </a:lnTo>
                </a:path>
                <a:path w="304800" h="762000">
                  <a:moveTo>
                    <a:pt x="152400" y="0"/>
                  </a:moveTo>
                  <a:lnTo>
                    <a:pt x="152400" y="362712"/>
                  </a:lnTo>
                </a:path>
                <a:path w="304800" h="762000">
                  <a:moveTo>
                    <a:pt x="152400" y="435863"/>
                  </a:moveTo>
                  <a:lnTo>
                    <a:pt x="152400" y="761999"/>
                  </a:lnTo>
                </a:path>
                <a:path w="304800" h="762000">
                  <a:moveTo>
                    <a:pt x="152400" y="362712"/>
                  </a:moveTo>
                  <a:lnTo>
                    <a:pt x="304800" y="399288"/>
                  </a:lnTo>
                </a:path>
                <a:path w="304800" h="762000">
                  <a:moveTo>
                    <a:pt x="304800" y="399288"/>
                  </a:moveTo>
                  <a:lnTo>
                    <a:pt x="152400" y="435863"/>
                  </a:lnTo>
                </a:path>
              </a:pathLst>
            </a:custGeom>
            <a:ln w="2857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30523" y="4225671"/>
              <a:ext cx="1524635" cy="114300"/>
            </a:xfrm>
            <a:custGeom>
              <a:avLst/>
              <a:gdLst/>
              <a:ahLst/>
              <a:cxnLst/>
              <a:rect l="l" t="t" r="r" b="b"/>
              <a:pathLst>
                <a:path w="1524635" h="114300">
                  <a:moveTo>
                    <a:pt x="113664" y="0"/>
                  </a:moveTo>
                  <a:lnTo>
                    <a:pt x="0" y="58292"/>
                  </a:lnTo>
                  <a:lnTo>
                    <a:pt x="114808" y="114299"/>
                  </a:lnTo>
                  <a:lnTo>
                    <a:pt x="114428" y="76326"/>
                  </a:lnTo>
                  <a:lnTo>
                    <a:pt x="95376" y="76326"/>
                  </a:lnTo>
                  <a:lnTo>
                    <a:pt x="94996" y="38226"/>
                  </a:lnTo>
                  <a:lnTo>
                    <a:pt x="114045" y="38037"/>
                  </a:lnTo>
                  <a:lnTo>
                    <a:pt x="113664" y="0"/>
                  </a:lnTo>
                  <a:close/>
                </a:path>
                <a:path w="1524635" h="114300">
                  <a:moveTo>
                    <a:pt x="114045" y="38037"/>
                  </a:moveTo>
                  <a:lnTo>
                    <a:pt x="94996" y="38226"/>
                  </a:lnTo>
                  <a:lnTo>
                    <a:pt x="95375" y="76137"/>
                  </a:lnTo>
                  <a:lnTo>
                    <a:pt x="95376" y="76326"/>
                  </a:lnTo>
                  <a:lnTo>
                    <a:pt x="114426" y="76137"/>
                  </a:lnTo>
                  <a:lnTo>
                    <a:pt x="114047" y="38226"/>
                  </a:lnTo>
                  <a:lnTo>
                    <a:pt x="114045" y="38037"/>
                  </a:lnTo>
                  <a:close/>
                </a:path>
                <a:path w="1524635" h="114300">
                  <a:moveTo>
                    <a:pt x="114426" y="76137"/>
                  </a:moveTo>
                  <a:lnTo>
                    <a:pt x="95376" y="76326"/>
                  </a:lnTo>
                  <a:lnTo>
                    <a:pt x="114428" y="76326"/>
                  </a:lnTo>
                  <a:lnTo>
                    <a:pt x="114426" y="76137"/>
                  </a:lnTo>
                  <a:close/>
                </a:path>
                <a:path w="1524635" h="114300">
                  <a:moveTo>
                    <a:pt x="1523873" y="24002"/>
                  </a:moveTo>
                  <a:lnTo>
                    <a:pt x="114045" y="38037"/>
                  </a:lnTo>
                  <a:lnTo>
                    <a:pt x="114426" y="76137"/>
                  </a:lnTo>
                  <a:lnTo>
                    <a:pt x="1524253" y="62102"/>
                  </a:lnTo>
                  <a:lnTo>
                    <a:pt x="1523873" y="2400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109717" y="4067302"/>
            <a:ext cx="725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95A9A9"/>
                </a:solidFill>
                <a:latin typeface="Arial"/>
                <a:cs typeface="Arial"/>
              </a:rPr>
              <a:t>Define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4517" y="5591962"/>
            <a:ext cx="862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95A9A9"/>
                </a:solidFill>
                <a:latin typeface="Arial"/>
                <a:cs typeface="Arial"/>
              </a:rPr>
              <a:t>Applied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90" dirty="0"/>
              <a:t> </a:t>
            </a:r>
            <a:r>
              <a:rPr spc="-35" dirty="0"/>
              <a:t>Context</a:t>
            </a:r>
            <a:r>
              <a:rPr spc="-55" dirty="0"/>
              <a:t> </a:t>
            </a:r>
            <a:r>
              <a:rPr spc="-20" dirty="0"/>
              <a:t>Selector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6304" y="1825561"/>
            <a:ext cx="9004300" cy="4843780"/>
            <a:chOff x="146304" y="1825561"/>
            <a:chExt cx="9004300" cy="4843780"/>
          </a:xfrm>
        </p:grpSpPr>
        <p:sp>
          <p:nvSpPr>
            <p:cNvPr id="4" name="object 4"/>
            <p:cNvSpPr/>
            <p:nvPr/>
          </p:nvSpPr>
          <p:spPr>
            <a:xfrm>
              <a:off x="146304" y="62118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599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199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599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63924" y="1830323"/>
              <a:ext cx="5181600" cy="1813560"/>
            </a:xfrm>
            <a:custGeom>
              <a:avLst/>
              <a:gdLst/>
              <a:ahLst/>
              <a:cxnLst/>
              <a:rect l="l" t="t" r="r" b="b"/>
              <a:pathLst>
                <a:path w="5181600" h="1813560">
                  <a:moveTo>
                    <a:pt x="0" y="1813559"/>
                  </a:moveTo>
                  <a:lnTo>
                    <a:pt x="5181600" y="1813559"/>
                  </a:lnTo>
                  <a:lnTo>
                    <a:pt x="5181600" y="0"/>
                  </a:lnTo>
                  <a:lnTo>
                    <a:pt x="0" y="0"/>
                  </a:lnTo>
                  <a:lnTo>
                    <a:pt x="0" y="1813559"/>
                  </a:lnTo>
                  <a:close/>
                </a:path>
              </a:pathLst>
            </a:custGeom>
            <a:ln w="9525">
              <a:solidFill>
                <a:srgbClr val="95A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57317" y="4067302"/>
            <a:ext cx="725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95A9A9"/>
                </a:solidFill>
                <a:latin typeface="Arial"/>
                <a:cs typeface="Arial"/>
              </a:rPr>
              <a:t>Define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723" y="3430523"/>
            <a:ext cx="3843654" cy="3276600"/>
          </a:xfrm>
          <a:custGeom>
            <a:avLst/>
            <a:gdLst/>
            <a:ahLst/>
            <a:cxnLst/>
            <a:rect l="l" t="t" r="r" b="b"/>
            <a:pathLst>
              <a:path w="3843654" h="3276600">
                <a:moveTo>
                  <a:pt x="0" y="3276600"/>
                </a:moveTo>
                <a:lnTo>
                  <a:pt x="3843528" y="3276600"/>
                </a:lnTo>
                <a:lnTo>
                  <a:pt x="3843528" y="0"/>
                </a:lnTo>
                <a:lnTo>
                  <a:pt x="0" y="0"/>
                </a:lnTo>
                <a:lnTo>
                  <a:pt x="0" y="3276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4939" y="852347"/>
            <a:ext cx="8883650" cy="298894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39420" indent="-274320">
              <a:lnSpc>
                <a:spcPct val="100000"/>
              </a:lnSpc>
              <a:spcBef>
                <a:spcPts val="2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439420" algn="l"/>
              </a:tabLst>
            </a:pPr>
            <a:r>
              <a:rPr sz="2000" spc="-28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specific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style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applied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only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when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95A9A9"/>
                </a:solidFill>
                <a:latin typeface="Times New Roman"/>
                <a:cs typeface="Times New Roman"/>
              </a:rPr>
              <a:t>multiple</a:t>
            </a:r>
            <a:r>
              <a:rPr sz="2000" spc="-5" dirty="0">
                <a:solidFill>
                  <a:srgbClr val="95A9A9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95A9A9"/>
                </a:solidFill>
                <a:latin typeface="Times New Roman"/>
                <a:cs typeface="Times New Roman"/>
              </a:rPr>
              <a:t>elements</a:t>
            </a:r>
            <a:r>
              <a:rPr sz="2000" spc="-35" dirty="0">
                <a:solidFill>
                  <a:srgbClr val="95A9A9"/>
                </a:solidFill>
                <a:latin typeface="Times New Roman"/>
                <a:cs typeface="Times New Roman"/>
              </a:rPr>
              <a:t> </a:t>
            </a:r>
            <a:r>
              <a:rPr sz="2000" spc="-90" dirty="0">
                <a:solidFill>
                  <a:srgbClr val="95A9A9"/>
                </a:solidFill>
                <a:latin typeface="Times New Roman"/>
                <a:cs typeface="Times New Roman"/>
              </a:rPr>
              <a:t>are</a:t>
            </a:r>
            <a:r>
              <a:rPr sz="2000" spc="-5" dirty="0">
                <a:solidFill>
                  <a:srgbClr val="95A9A9"/>
                </a:solidFill>
                <a:latin typeface="Times New Roman"/>
                <a:cs typeface="Times New Roman"/>
              </a:rPr>
              <a:t> </a:t>
            </a:r>
            <a:r>
              <a:rPr sz="2000" spc="-114" dirty="0">
                <a:solidFill>
                  <a:srgbClr val="95A9A9"/>
                </a:solidFill>
                <a:latin typeface="Times New Roman"/>
                <a:cs typeface="Times New Roman"/>
              </a:rPr>
              <a:t>specified</a:t>
            </a:r>
            <a:r>
              <a:rPr sz="2000" spc="-15" dirty="0">
                <a:solidFill>
                  <a:srgbClr val="95A9A9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95A9A9"/>
                </a:solidFill>
                <a:latin typeface="Times New Roman"/>
                <a:cs typeface="Times New Roman"/>
              </a:rPr>
              <a:t>simultaneously.</a:t>
            </a:r>
            <a:endParaRPr sz="2000">
              <a:latin typeface="Times New Roman"/>
              <a:cs typeface="Times New Roman"/>
            </a:endParaRPr>
          </a:p>
          <a:p>
            <a:pPr marL="439420" indent="-274320">
              <a:lnSpc>
                <a:spcPct val="100000"/>
              </a:lnSpc>
              <a:spcBef>
                <a:spcPts val="12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439420" algn="l"/>
              </a:tabLst>
            </a:pPr>
            <a:r>
              <a:rPr sz="2000" spc="-125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Selector,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list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elements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separated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blank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000">
              <a:latin typeface="Times New Roman"/>
              <a:cs typeface="Times New Roman"/>
            </a:endParaRPr>
          </a:p>
          <a:p>
            <a:pPr marR="269875" algn="ctr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&lt;HEAD&gt;</a:t>
            </a:r>
            <a:endParaRPr sz="1600">
              <a:latin typeface="Arial MT"/>
              <a:cs typeface="Arial MT"/>
            </a:endParaRPr>
          </a:p>
          <a:p>
            <a:pPr marL="481457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 MT"/>
                <a:cs typeface="Arial MT"/>
              </a:rPr>
              <a:t>&lt;STYLE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TYPE=“text/css”&gt;</a:t>
            </a:r>
            <a:endParaRPr sz="1600">
              <a:latin typeface="Arial MT"/>
              <a:cs typeface="Arial MT"/>
            </a:endParaRPr>
          </a:p>
          <a:p>
            <a:pPr marL="4930775">
              <a:lnSpc>
                <a:spcPct val="100000"/>
              </a:lnSpc>
              <a:spcBef>
                <a:spcPts val="960"/>
              </a:spcBef>
            </a:pPr>
            <a:r>
              <a:rPr sz="1600" b="1" dirty="0">
                <a:solidFill>
                  <a:srgbClr val="006FC0"/>
                </a:solidFill>
                <a:latin typeface="Arial"/>
                <a:cs typeface="Arial"/>
              </a:rPr>
              <a:t>Element</a:t>
            </a:r>
            <a:r>
              <a:rPr sz="1600" b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16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6FC0"/>
                </a:solidFill>
                <a:latin typeface="Arial"/>
                <a:cs typeface="Arial"/>
              </a:rPr>
              <a:t>Element</a:t>
            </a:r>
            <a:r>
              <a:rPr sz="1600" b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6FC0"/>
                </a:solidFill>
                <a:latin typeface="Arial"/>
                <a:cs typeface="Arial"/>
              </a:rPr>
              <a:t>2 ….</a:t>
            </a:r>
            <a:r>
              <a:rPr sz="1600" b="1" spc="-10" dirty="0">
                <a:solidFill>
                  <a:srgbClr val="006FC0"/>
                </a:solidFill>
                <a:latin typeface="Arial"/>
                <a:cs typeface="Arial"/>
              </a:rPr>
              <a:t> {Property:Value}</a:t>
            </a:r>
            <a:endParaRPr sz="1600">
              <a:latin typeface="Arial"/>
              <a:cs typeface="Arial"/>
            </a:endParaRPr>
          </a:p>
          <a:p>
            <a:pPr marL="481457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 MT"/>
                <a:cs typeface="Arial MT"/>
              </a:rPr>
              <a:t>&lt;/STYLE&gt;</a:t>
            </a:r>
            <a:endParaRPr sz="1600">
              <a:latin typeface="Arial MT"/>
              <a:cs typeface="Arial MT"/>
            </a:endParaRPr>
          </a:p>
          <a:p>
            <a:pPr marR="212090" algn="ctr">
              <a:lnSpc>
                <a:spcPts val="1825"/>
              </a:lnSpc>
              <a:spcBef>
                <a:spcPts val="965"/>
              </a:spcBef>
            </a:pPr>
            <a:r>
              <a:rPr sz="1600" spc="-10" dirty="0">
                <a:latin typeface="Arial MT"/>
                <a:cs typeface="Arial MT"/>
              </a:rPr>
              <a:t>&lt;/HEAD&gt;</a:t>
            </a:r>
            <a:endParaRPr sz="1600">
              <a:latin typeface="Arial MT"/>
              <a:cs typeface="Arial MT"/>
            </a:endParaRPr>
          </a:p>
          <a:p>
            <a:pPr marR="7947659" algn="ctr">
              <a:lnSpc>
                <a:spcPts val="2065"/>
              </a:lnSpc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939" y="3815842"/>
            <a:ext cx="3644900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&lt;STYLE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TYPE=“text/css”&gt; </a:t>
            </a:r>
            <a:r>
              <a:rPr sz="1800" dirty="0">
                <a:latin typeface="Arial MT"/>
                <a:cs typeface="Arial MT"/>
              </a:rPr>
              <a:t>H1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{color: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red}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&lt;/STYLE&gt;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&lt;H1&gt;Heading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&lt;I&gt;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1&lt;/I&gt;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&lt;/H1&gt;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539" y="6285687"/>
            <a:ext cx="1050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15" dirty="0">
                <a:latin typeface="Arial MT"/>
                <a:cs typeface="Arial MT"/>
              </a:rPr>
              <a:t>&lt;</a:t>
            </a:r>
            <a:r>
              <a:rPr sz="2100" spc="-944" baseline="5952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r>
              <a:rPr sz="1800" dirty="0">
                <a:latin typeface="Arial MT"/>
                <a:cs typeface="Arial MT"/>
              </a:rPr>
              <a:t>/</a:t>
            </a:r>
            <a:r>
              <a:rPr sz="1800" spc="-1155" dirty="0">
                <a:latin typeface="Arial MT"/>
                <a:cs typeface="Arial MT"/>
              </a:rPr>
              <a:t>B</a:t>
            </a:r>
            <a:r>
              <a:rPr sz="2100" spc="-7" baseline="5952" dirty="0">
                <a:solidFill>
                  <a:srgbClr val="FFFFFF"/>
                </a:solidFill>
                <a:latin typeface="Franklin Gothic Medium"/>
                <a:cs typeface="Franklin Gothic Medium"/>
              </a:rPr>
              <a:t>6</a:t>
            </a:r>
            <a:r>
              <a:rPr sz="2100" spc="-22" baseline="5952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Arial MT"/>
                <a:cs typeface="Arial MT"/>
              </a:rPr>
              <a:t>ODY&gt;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30523" y="4225671"/>
            <a:ext cx="1524635" cy="1886585"/>
            <a:chOff x="3430523" y="4225671"/>
            <a:chExt cx="1524635" cy="1886585"/>
          </a:xfrm>
        </p:grpSpPr>
        <p:sp>
          <p:nvSpPr>
            <p:cNvPr id="12" name="object 12"/>
            <p:cNvSpPr/>
            <p:nvPr/>
          </p:nvSpPr>
          <p:spPr>
            <a:xfrm>
              <a:off x="3963923" y="5335524"/>
              <a:ext cx="304800" cy="762000"/>
            </a:xfrm>
            <a:custGeom>
              <a:avLst/>
              <a:gdLst/>
              <a:ahLst/>
              <a:cxnLst/>
              <a:rect l="l" t="t" r="r" b="b"/>
              <a:pathLst>
                <a:path w="304800" h="762000">
                  <a:moveTo>
                    <a:pt x="0" y="0"/>
                  </a:moveTo>
                  <a:lnTo>
                    <a:pt x="152400" y="0"/>
                  </a:lnTo>
                </a:path>
                <a:path w="304800" h="762000">
                  <a:moveTo>
                    <a:pt x="0" y="761999"/>
                  </a:moveTo>
                  <a:lnTo>
                    <a:pt x="152400" y="761999"/>
                  </a:lnTo>
                </a:path>
                <a:path w="304800" h="762000">
                  <a:moveTo>
                    <a:pt x="152400" y="0"/>
                  </a:moveTo>
                  <a:lnTo>
                    <a:pt x="152400" y="362712"/>
                  </a:lnTo>
                </a:path>
                <a:path w="304800" h="762000">
                  <a:moveTo>
                    <a:pt x="152400" y="435863"/>
                  </a:moveTo>
                  <a:lnTo>
                    <a:pt x="152400" y="761999"/>
                  </a:lnTo>
                </a:path>
                <a:path w="304800" h="762000">
                  <a:moveTo>
                    <a:pt x="152400" y="362712"/>
                  </a:moveTo>
                  <a:lnTo>
                    <a:pt x="304800" y="399288"/>
                  </a:lnTo>
                </a:path>
                <a:path w="304800" h="762000">
                  <a:moveTo>
                    <a:pt x="304800" y="399288"/>
                  </a:moveTo>
                  <a:lnTo>
                    <a:pt x="152400" y="435863"/>
                  </a:lnTo>
                </a:path>
              </a:pathLst>
            </a:custGeom>
            <a:ln w="2857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30523" y="4225671"/>
              <a:ext cx="1524635" cy="114300"/>
            </a:xfrm>
            <a:custGeom>
              <a:avLst/>
              <a:gdLst/>
              <a:ahLst/>
              <a:cxnLst/>
              <a:rect l="l" t="t" r="r" b="b"/>
              <a:pathLst>
                <a:path w="1524635" h="114300">
                  <a:moveTo>
                    <a:pt x="113664" y="0"/>
                  </a:moveTo>
                  <a:lnTo>
                    <a:pt x="0" y="58292"/>
                  </a:lnTo>
                  <a:lnTo>
                    <a:pt x="114808" y="114299"/>
                  </a:lnTo>
                  <a:lnTo>
                    <a:pt x="114428" y="76326"/>
                  </a:lnTo>
                  <a:lnTo>
                    <a:pt x="95376" y="76326"/>
                  </a:lnTo>
                  <a:lnTo>
                    <a:pt x="94996" y="38226"/>
                  </a:lnTo>
                  <a:lnTo>
                    <a:pt x="114045" y="38037"/>
                  </a:lnTo>
                  <a:lnTo>
                    <a:pt x="113664" y="0"/>
                  </a:lnTo>
                  <a:close/>
                </a:path>
                <a:path w="1524635" h="114300">
                  <a:moveTo>
                    <a:pt x="114045" y="38037"/>
                  </a:moveTo>
                  <a:lnTo>
                    <a:pt x="94996" y="38226"/>
                  </a:lnTo>
                  <a:lnTo>
                    <a:pt x="95375" y="76137"/>
                  </a:lnTo>
                  <a:lnTo>
                    <a:pt x="95376" y="76326"/>
                  </a:lnTo>
                  <a:lnTo>
                    <a:pt x="114426" y="76137"/>
                  </a:lnTo>
                  <a:lnTo>
                    <a:pt x="114047" y="38226"/>
                  </a:lnTo>
                  <a:lnTo>
                    <a:pt x="114045" y="38037"/>
                  </a:lnTo>
                  <a:close/>
                </a:path>
                <a:path w="1524635" h="114300">
                  <a:moveTo>
                    <a:pt x="114426" y="76137"/>
                  </a:moveTo>
                  <a:lnTo>
                    <a:pt x="95376" y="76326"/>
                  </a:lnTo>
                  <a:lnTo>
                    <a:pt x="114428" y="76326"/>
                  </a:lnTo>
                  <a:lnTo>
                    <a:pt x="114426" y="76137"/>
                  </a:lnTo>
                  <a:close/>
                </a:path>
                <a:path w="1524635" h="114300">
                  <a:moveTo>
                    <a:pt x="1523873" y="24002"/>
                  </a:moveTo>
                  <a:lnTo>
                    <a:pt x="114045" y="38037"/>
                  </a:lnTo>
                  <a:lnTo>
                    <a:pt x="114426" y="76137"/>
                  </a:lnTo>
                  <a:lnTo>
                    <a:pt x="1524253" y="62102"/>
                  </a:lnTo>
                  <a:lnTo>
                    <a:pt x="1523873" y="2400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99864" y="5515762"/>
            <a:ext cx="862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95A9A9"/>
                </a:solidFill>
                <a:latin typeface="Arial"/>
                <a:cs typeface="Arial"/>
              </a:rPr>
              <a:t>Applied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9229"/>
            <a:ext cx="3983354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CSS</a:t>
            </a:r>
            <a:r>
              <a:rPr sz="4000" spc="-45" dirty="0"/>
              <a:t> </a:t>
            </a:r>
            <a:r>
              <a:rPr sz="4000" spc="-55" dirty="0"/>
              <a:t>Pre-</a:t>
            </a:r>
            <a:r>
              <a:rPr sz="4000" spc="-10" dirty="0"/>
              <a:t>Processor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4819" y="3838702"/>
            <a:ext cx="30460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Problems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traditional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CSS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Difficult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</a:t>
            </a:r>
            <a:r>
              <a:rPr sz="1800" spc="-10" dirty="0">
                <a:latin typeface="Arial MT"/>
                <a:cs typeface="Arial MT"/>
              </a:rPr>
              <a:t>Maintain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Lack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Reusability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Lack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Extensibility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2000" y="1524000"/>
            <a:ext cx="8077200" cy="1569720"/>
          </a:xfrm>
          <a:custGeom>
            <a:avLst/>
            <a:gdLst/>
            <a:ahLst/>
            <a:cxnLst/>
            <a:rect l="l" t="t" r="r" b="b"/>
            <a:pathLst>
              <a:path w="8077200" h="1569720">
                <a:moveTo>
                  <a:pt x="8077200" y="0"/>
                </a:moveTo>
                <a:lnTo>
                  <a:pt x="0" y="0"/>
                </a:lnTo>
                <a:lnTo>
                  <a:pt x="0" y="1569720"/>
                </a:lnTo>
                <a:lnTo>
                  <a:pt x="8077200" y="1569720"/>
                </a:lnTo>
                <a:lnTo>
                  <a:pt x="807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2000" y="1524000"/>
            <a:ext cx="8077200" cy="156972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"/>
              </a:spcBef>
            </a:pPr>
            <a:r>
              <a:rPr sz="2400" spc="-85" dirty="0">
                <a:latin typeface="Times New Roman"/>
                <a:cs typeface="Times New Roman"/>
              </a:rPr>
              <a:t>Pre-</a:t>
            </a:r>
            <a:r>
              <a:rPr sz="2400" spc="-10" dirty="0">
                <a:latin typeface="Times New Roman"/>
                <a:cs typeface="Times New Roman"/>
              </a:rPr>
              <a:t>Processor:</a:t>
            </a:r>
            <a:endParaRPr sz="2400">
              <a:latin typeface="Times New Roman"/>
              <a:cs typeface="Times New Roman"/>
            </a:endParaRPr>
          </a:p>
          <a:p>
            <a:pPr marL="91440" marR="693420">
              <a:lnSpc>
                <a:spcPct val="100000"/>
              </a:lnSpc>
            </a:pP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computer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program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that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modifies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data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conform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with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input </a:t>
            </a:r>
            <a:r>
              <a:rPr sz="2400" spc="-90" dirty="0">
                <a:latin typeface="Times New Roman"/>
                <a:cs typeface="Times New Roman"/>
              </a:rPr>
              <a:t>requirements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another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1623" y="5943600"/>
            <a:ext cx="8053070" cy="368935"/>
          </a:xfrm>
          <a:custGeom>
            <a:avLst/>
            <a:gdLst/>
            <a:ahLst/>
            <a:cxnLst/>
            <a:rect l="l" t="t" r="r" b="b"/>
            <a:pathLst>
              <a:path w="8053070" h="368935">
                <a:moveTo>
                  <a:pt x="8052816" y="0"/>
                </a:moveTo>
                <a:lnTo>
                  <a:pt x="0" y="0"/>
                </a:lnTo>
                <a:lnTo>
                  <a:pt x="0" y="368808"/>
                </a:lnTo>
                <a:lnTo>
                  <a:pt x="8052816" y="368808"/>
                </a:lnTo>
                <a:lnTo>
                  <a:pt x="80528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1623" y="5943600"/>
            <a:ext cx="8053070" cy="368935"/>
          </a:xfrm>
          <a:prstGeom prst="rect">
            <a:avLst/>
          </a:prstGeom>
          <a:ln w="12700">
            <a:solidFill>
              <a:srgbClr val="D24717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14"/>
              </a:spcBef>
            </a:pPr>
            <a:r>
              <a:rPr sz="1800" spc="-105" dirty="0">
                <a:latin typeface="Times New Roman"/>
                <a:cs typeface="Times New Roman"/>
              </a:rPr>
              <a:t>Maintainable,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Reusable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and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Extensible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set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2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styling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instructions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37769"/>
            <a:ext cx="470090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125" dirty="0"/>
              <a:t>Why</a:t>
            </a:r>
            <a:r>
              <a:rPr sz="4000" spc="-80" dirty="0"/>
              <a:t> </a:t>
            </a:r>
            <a:r>
              <a:rPr sz="4000" dirty="0"/>
              <a:t>CSS</a:t>
            </a:r>
            <a:r>
              <a:rPr sz="4000" spc="-65" dirty="0"/>
              <a:t> </a:t>
            </a:r>
            <a:r>
              <a:rPr sz="4000" spc="-10" dirty="0"/>
              <a:t>Prepocessor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81000" y="1524000"/>
            <a:ext cx="8458200" cy="1938655"/>
            <a:chOff x="381000" y="1524000"/>
            <a:chExt cx="8458200" cy="1938655"/>
          </a:xfrm>
        </p:grpSpPr>
        <p:sp>
          <p:nvSpPr>
            <p:cNvPr id="5" name="object 5"/>
            <p:cNvSpPr/>
            <p:nvPr/>
          </p:nvSpPr>
          <p:spPr>
            <a:xfrm>
              <a:off x="381000" y="1524000"/>
              <a:ext cx="8458200" cy="1938655"/>
            </a:xfrm>
            <a:custGeom>
              <a:avLst/>
              <a:gdLst/>
              <a:ahLst/>
              <a:cxnLst/>
              <a:rect l="l" t="t" r="r" b="b"/>
              <a:pathLst>
                <a:path w="8458200" h="1938654">
                  <a:moveTo>
                    <a:pt x="8458200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8458200" y="1938527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744" y="1582801"/>
              <a:ext cx="609599" cy="3505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744" y="2314701"/>
              <a:ext cx="609599" cy="3505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744" y="2680411"/>
              <a:ext cx="609599" cy="3508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744" y="3046475"/>
              <a:ext cx="609599" cy="35052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81000" y="1524000"/>
            <a:ext cx="8458200" cy="19386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91440" marR="94615" indent="304800">
              <a:lnSpc>
                <a:spcPct val="100000"/>
              </a:lnSpc>
              <a:spcBef>
                <a:spcPts val="30"/>
              </a:spcBef>
            </a:pPr>
            <a:r>
              <a:rPr sz="2400" spc="-90" dirty="0">
                <a:latin typeface="Times New Roman"/>
                <a:cs typeface="Times New Roman"/>
              </a:rPr>
              <a:t>Better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code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organization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readability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–Can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reuse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stylesheet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definition </a:t>
            </a:r>
            <a:r>
              <a:rPr sz="2400" spc="-10" dirty="0">
                <a:latin typeface="Times New Roman"/>
                <a:cs typeface="Times New Roman"/>
              </a:rPr>
              <a:t>instructions.</a:t>
            </a:r>
            <a:endParaRPr sz="2400">
              <a:latin typeface="Times New Roman"/>
              <a:cs typeface="Times New Roman"/>
            </a:endParaRPr>
          </a:p>
          <a:p>
            <a:pPr marL="396240" marR="2689860">
              <a:lnSpc>
                <a:spcPct val="100000"/>
              </a:lnSpc>
              <a:spcBef>
                <a:spcPts val="5"/>
              </a:spcBef>
            </a:pPr>
            <a:r>
              <a:rPr sz="2400" spc="-135" dirty="0">
                <a:latin typeface="Times New Roman"/>
                <a:cs typeface="Times New Roman"/>
              </a:rPr>
              <a:t>More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flexible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–Can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add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conditional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statements </a:t>
            </a:r>
            <a:r>
              <a:rPr sz="2400" spc="-150" dirty="0">
                <a:latin typeface="Times New Roman"/>
                <a:cs typeface="Times New Roman"/>
              </a:rPr>
              <a:t>Shareable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–Can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reuse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others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codes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vise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versa </a:t>
            </a:r>
            <a:r>
              <a:rPr sz="2400" spc="-105" dirty="0">
                <a:latin typeface="Times New Roman"/>
                <a:cs typeface="Times New Roman"/>
              </a:rPr>
              <a:t>Cross–browser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compatible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code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generation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6644" y="5903061"/>
            <a:ext cx="342265" cy="531495"/>
            <a:chOff x="1196644" y="5903061"/>
            <a:chExt cx="342265" cy="53149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6644" y="5903061"/>
              <a:ext cx="341985" cy="2563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6644" y="6177991"/>
              <a:ext cx="341985" cy="25603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83944" y="5591962"/>
            <a:ext cx="46316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Resource:</a:t>
            </a:r>
            <a:endParaRPr sz="1800">
              <a:latin typeface="Arial MT"/>
              <a:cs typeface="Arial MT"/>
            </a:endParaRPr>
          </a:p>
          <a:p>
            <a:pPr marL="18351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SAAS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–https:/</a:t>
            </a:r>
            <a:r>
              <a:rPr sz="1800" spc="-10" dirty="0">
                <a:latin typeface="Arial MT"/>
                <a:cs typeface="Arial MT"/>
                <a:hlinkClick r:id="rId4"/>
              </a:rPr>
              <a:t>/www.tutorialspoint.com/sass/</a:t>
            </a:r>
            <a:endParaRPr sz="1800">
              <a:latin typeface="Arial MT"/>
              <a:cs typeface="Arial MT"/>
            </a:endParaRPr>
          </a:p>
          <a:p>
            <a:pPr marL="18351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–</a:t>
            </a:r>
            <a:r>
              <a:rPr sz="1800" spc="-10" dirty="0">
                <a:latin typeface="Arial MT"/>
                <a:cs typeface="Arial MT"/>
                <a:hlinkClick r:id="rId5"/>
              </a:rPr>
              <a:t>http://www.tutorialspoint.com/less/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9229"/>
            <a:ext cx="116649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60" dirty="0"/>
              <a:t>SASS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4739" y="1780413"/>
            <a:ext cx="854011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SASS:</a:t>
            </a:r>
            <a:endParaRPr sz="18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SASS</a:t>
            </a:r>
            <a:r>
              <a:rPr sz="1800" b="1" spc="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(Syntactically</a:t>
            </a:r>
            <a:r>
              <a:rPr sz="1800" b="1" spc="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Awesome</a:t>
            </a:r>
            <a:r>
              <a:rPr sz="1800" b="1" spc="1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Stylesheet)</a:t>
            </a:r>
            <a:r>
              <a:rPr sz="1800" b="1" spc="1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pre-</a:t>
            </a:r>
            <a:r>
              <a:rPr sz="1800" dirty="0">
                <a:latin typeface="Arial MT"/>
                <a:cs typeface="Arial MT"/>
              </a:rPr>
              <a:t>processor,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helps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reduce</a:t>
            </a:r>
            <a:r>
              <a:rPr sz="1800" spc="1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repetition</a:t>
            </a:r>
            <a:r>
              <a:rPr sz="1800" spc="1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saves</a:t>
            </a:r>
            <a:r>
              <a:rPr sz="1800" spc="1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time.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stable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powerful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CSS </a:t>
            </a:r>
            <a:r>
              <a:rPr sz="1800" dirty="0">
                <a:latin typeface="Arial MT"/>
                <a:cs typeface="Arial MT"/>
              </a:rPr>
              <a:t>extension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language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describes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style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document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structurally.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31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was</a:t>
            </a:r>
            <a:r>
              <a:rPr sz="1800" spc="31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initially</a:t>
            </a:r>
            <a:r>
              <a:rPr sz="1800" spc="30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designed</a:t>
            </a:r>
            <a:r>
              <a:rPr sz="1800" spc="31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300" dirty="0">
                <a:latin typeface="Arial MT"/>
                <a:cs typeface="Arial MT"/>
              </a:rPr>
              <a:t>  </a:t>
            </a:r>
            <a:r>
              <a:rPr sz="1800" b="1" dirty="0">
                <a:latin typeface="Arial"/>
                <a:cs typeface="Arial"/>
              </a:rPr>
              <a:t>Hampton</a:t>
            </a:r>
            <a:r>
              <a:rPr sz="1800" b="1" spc="315" dirty="0">
                <a:latin typeface="Arial"/>
                <a:cs typeface="Arial"/>
              </a:rPr>
              <a:t>  </a:t>
            </a:r>
            <a:r>
              <a:rPr sz="1800" b="1" dirty="0">
                <a:latin typeface="Arial"/>
                <a:cs typeface="Arial"/>
              </a:rPr>
              <a:t>Catlin</a:t>
            </a:r>
            <a:r>
              <a:rPr sz="1800" b="1" spc="300" dirty="0">
                <a:latin typeface="Arial"/>
                <a:cs typeface="Arial"/>
              </a:rPr>
              <a:t> 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29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developed</a:t>
            </a:r>
            <a:r>
              <a:rPr sz="1800" spc="32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300" dirty="0">
                <a:latin typeface="Arial MT"/>
                <a:cs typeface="Arial MT"/>
              </a:rPr>
              <a:t>  </a:t>
            </a:r>
            <a:r>
              <a:rPr sz="1800" b="1" spc="-10" dirty="0">
                <a:latin typeface="Arial"/>
                <a:cs typeface="Arial"/>
              </a:rPr>
              <a:t>Natalie </a:t>
            </a:r>
            <a:r>
              <a:rPr sz="1800" b="1" dirty="0">
                <a:latin typeface="Arial"/>
                <a:cs typeface="Arial"/>
              </a:rPr>
              <a:t>Weizenbaum</a:t>
            </a:r>
            <a:r>
              <a:rPr sz="1800" b="1" spc="409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4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2006.</a:t>
            </a:r>
            <a:r>
              <a:rPr sz="1800" spc="4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Later,</a:t>
            </a:r>
            <a:r>
              <a:rPr sz="1800" spc="409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Weizenbaum</a:t>
            </a:r>
            <a:r>
              <a:rPr sz="1800" b="1" spc="4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4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Chris</a:t>
            </a:r>
            <a:r>
              <a:rPr sz="1800" b="1" spc="4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Eppstein</a:t>
            </a:r>
            <a:r>
              <a:rPr sz="1800" b="1" spc="434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4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initial </a:t>
            </a:r>
            <a:r>
              <a:rPr sz="1800" dirty="0">
                <a:latin typeface="Arial MT"/>
                <a:cs typeface="Arial MT"/>
              </a:rPr>
              <a:t>version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extend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Sass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SassScript.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61569"/>
            <a:ext cx="391731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125" dirty="0"/>
              <a:t>Why</a:t>
            </a:r>
            <a:r>
              <a:rPr sz="4000" spc="-105" dirty="0"/>
              <a:t> </a:t>
            </a:r>
            <a:r>
              <a:rPr sz="4000" dirty="0"/>
              <a:t>to</a:t>
            </a:r>
            <a:r>
              <a:rPr sz="4000" spc="-70" dirty="0"/>
              <a:t> </a:t>
            </a:r>
            <a:r>
              <a:rPr sz="4000" dirty="0"/>
              <a:t>Use</a:t>
            </a:r>
            <a:r>
              <a:rPr sz="4000" spc="-75" dirty="0"/>
              <a:t> </a:t>
            </a:r>
            <a:r>
              <a:rPr sz="4000" spc="-30" dirty="0"/>
              <a:t>SASS?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1704213"/>
            <a:ext cx="853376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6985" indent="-285750" algn="just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pre-</a:t>
            </a:r>
            <a:r>
              <a:rPr sz="1800" dirty="0">
                <a:latin typeface="Arial MT"/>
                <a:cs typeface="Arial MT"/>
              </a:rPr>
              <a:t>processing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language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provides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indented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syntax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(its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own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syntax) 	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CSS.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Wingdings"/>
              <a:buChar char=""/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2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provides</a:t>
            </a:r>
            <a:r>
              <a:rPr sz="1800" spc="2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some</a:t>
            </a:r>
            <a:r>
              <a:rPr sz="1800" spc="2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features,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2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2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2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2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creating</a:t>
            </a:r>
            <a:r>
              <a:rPr sz="1800" spc="3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stylesheets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allows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writing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efficiently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maintain.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super</a:t>
            </a:r>
            <a:r>
              <a:rPr sz="1800" spc="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CSS,</a:t>
            </a:r>
            <a:r>
              <a:rPr sz="1800" spc="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means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contains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features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source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pre-processor,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 </a:t>
            </a:r>
            <a:r>
              <a:rPr sz="1800" b="1" spc="-10" dirty="0">
                <a:latin typeface="Arial"/>
                <a:cs typeface="Arial"/>
              </a:rPr>
              <a:t>Ruby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97815" marR="5080" indent="-285750" algn="just">
              <a:lnSpc>
                <a:spcPct val="100000"/>
              </a:lnSpc>
              <a:buFont typeface="Wingdings"/>
              <a:buChar char="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provides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document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good,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structured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format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flat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CSS.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uses 	</a:t>
            </a:r>
            <a:r>
              <a:rPr sz="1800" spc="-10" dirty="0">
                <a:latin typeface="Arial MT"/>
                <a:cs typeface="Arial MT"/>
              </a:rPr>
              <a:t>re-</a:t>
            </a:r>
            <a:r>
              <a:rPr sz="1800" dirty="0">
                <a:latin typeface="Arial MT"/>
                <a:cs typeface="Arial MT"/>
              </a:rPr>
              <a:t>usable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methods,</a:t>
            </a:r>
            <a:r>
              <a:rPr sz="1800" spc="1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logic</a:t>
            </a:r>
            <a:r>
              <a:rPr sz="1800" spc="2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statements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1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some</a:t>
            </a:r>
            <a:r>
              <a:rPr sz="1800" spc="1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built-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1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functions</a:t>
            </a:r>
            <a:r>
              <a:rPr sz="1800" spc="1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19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as 	</a:t>
            </a:r>
            <a:r>
              <a:rPr sz="1800" dirty="0">
                <a:latin typeface="Arial MT"/>
                <a:cs typeface="Arial MT"/>
              </a:rPr>
              <a:t>color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manipulation,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mathematics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parameter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lists.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61569"/>
            <a:ext cx="371411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10" dirty="0"/>
              <a:t>Features</a:t>
            </a:r>
            <a:r>
              <a:rPr sz="4000" spc="-165" dirty="0"/>
              <a:t> </a:t>
            </a:r>
            <a:r>
              <a:rPr sz="4000" dirty="0"/>
              <a:t>of</a:t>
            </a:r>
            <a:r>
              <a:rPr sz="4000" spc="-150" dirty="0"/>
              <a:t> </a:t>
            </a:r>
            <a:r>
              <a:rPr sz="4000" spc="-45" dirty="0"/>
              <a:t>SASS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1652884"/>
            <a:ext cx="8511540" cy="290639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75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stable,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powerful,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compatible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versions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CSS.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super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 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JavaScript.</a:t>
            </a:r>
            <a:endParaRPr sz="1800">
              <a:latin typeface="Arial MT"/>
              <a:cs typeface="Arial MT"/>
            </a:endParaRPr>
          </a:p>
          <a:p>
            <a:pPr marL="297815" marR="5080" indent="-285750">
              <a:lnSpc>
                <a:spcPct val="150100"/>
              </a:lnSpc>
              <a:buFont typeface="Wingdings"/>
              <a:buChar char="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known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syntactic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sugar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CSS, which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easier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way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user 	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express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things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clearly.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own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syntax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compiles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readable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CSS.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85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spc="-30" dirty="0">
                <a:latin typeface="Arial MT"/>
                <a:cs typeface="Arial MT"/>
              </a:rPr>
              <a:t>You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easily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within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source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pre-</a:t>
            </a:r>
            <a:r>
              <a:rPr sz="1800" spc="-10" dirty="0">
                <a:latin typeface="Arial MT"/>
                <a:cs typeface="Arial MT"/>
              </a:rPr>
              <a:t>processor,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 interpreted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20" dirty="0">
                <a:latin typeface="Arial MT"/>
                <a:cs typeface="Arial MT"/>
              </a:rPr>
              <a:t> CSS.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61569"/>
            <a:ext cx="431419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0" dirty="0"/>
              <a:t>Advantages</a:t>
            </a:r>
            <a:r>
              <a:rPr sz="4000" spc="-160" dirty="0"/>
              <a:t> </a:t>
            </a:r>
            <a:r>
              <a:rPr sz="4000" dirty="0"/>
              <a:t>of</a:t>
            </a:r>
            <a:r>
              <a:rPr sz="4000" spc="-145" dirty="0"/>
              <a:t> </a:t>
            </a:r>
            <a:r>
              <a:rPr sz="4000" spc="-40" dirty="0"/>
              <a:t>SASS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1652884"/>
            <a:ext cx="8536305" cy="331851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75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clean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programming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construct.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helps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quickly.</a:t>
            </a:r>
            <a:endParaRPr sz="1800">
              <a:latin typeface="Arial MT"/>
              <a:cs typeface="Arial MT"/>
            </a:endParaRPr>
          </a:p>
          <a:p>
            <a:pPr marL="297815" marR="6350" indent="-285750">
              <a:lnSpc>
                <a:spcPct val="150100"/>
              </a:lnSpc>
              <a:buFont typeface="Wingdings"/>
              <a:buChar char=""/>
              <a:tabLst>
                <a:tab pos="299085" algn="l"/>
                <a:tab pos="558165" algn="l"/>
                <a:tab pos="856615" algn="l"/>
                <a:tab pos="1113155" algn="l"/>
                <a:tab pos="2122170" algn="l"/>
                <a:tab pos="2445385" algn="l"/>
                <a:tab pos="3110230" algn="l"/>
                <a:tab pos="3827145" algn="l"/>
                <a:tab pos="4503420" algn="l"/>
                <a:tab pos="5626100" algn="l"/>
                <a:tab pos="6137910" algn="l"/>
                <a:tab pos="7388225" algn="l"/>
                <a:tab pos="8001000" algn="l"/>
              </a:tabLst>
            </a:pPr>
            <a:r>
              <a:rPr sz="1800" spc="-25" dirty="0">
                <a:latin typeface="Arial MT"/>
                <a:cs typeface="Arial MT"/>
              </a:rPr>
              <a:t>It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is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superset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of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CSS,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which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helps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designers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and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developers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work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more 	</a:t>
            </a:r>
            <a:r>
              <a:rPr sz="1800" dirty="0">
                <a:latin typeface="Arial MT"/>
                <a:cs typeface="Arial MT"/>
              </a:rPr>
              <a:t>efficiently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 </a:t>
            </a:r>
            <a:r>
              <a:rPr sz="1800" spc="-10" dirty="0">
                <a:latin typeface="Arial MT"/>
                <a:cs typeface="Arial MT"/>
              </a:rPr>
              <a:t>quickly.</a:t>
            </a:r>
            <a:endParaRPr sz="1800">
              <a:latin typeface="Arial MT"/>
              <a:cs typeface="Arial MT"/>
            </a:endParaRPr>
          </a:p>
          <a:p>
            <a:pPr marL="297815" marR="5080" indent="-285750">
              <a:lnSpc>
                <a:spcPts val="3240"/>
              </a:lnSpc>
              <a:spcBef>
                <a:spcPts val="290"/>
              </a:spcBef>
              <a:buFont typeface="Wingdings"/>
              <a:buChar char="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As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Sass</a:t>
            </a:r>
            <a:r>
              <a:rPr sz="1800" spc="1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compatible</a:t>
            </a:r>
            <a:r>
              <a:rPr sz="1800" spc="1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versions</a:t>
            </a:r>
            <a:r>
              <a:rPr sz="1800" spc="1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CSS,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available</a:t>
            </a:r>
            <a:r>
              <a:rPr sz="1800" spc="17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CSS 	</a:t>
            </a:r>
            <a:r>
              <a:rPr sz="1800" spc="-10" dirty="0">
                <a:latin typeface="Arial MT"/>
                <a:cs typeface="Arial MT"/>
              </a:rPr>
              <a:t>libraries.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795"/>
              </a:spcBef>
              <a:buFont typeface="Wingdings"/>
              <a:buChar char=""/>
              <a:tabLst>
                <a:tab pos="299085" algn="l"/>
                <a:tab pos="597535" algn="l"/>
                <a:tab pos="935990" algn="l"/>
                <a:tab pos="1945639" algn="l"/>
                <a:tab pos="2308225" algn="l"/>
                <a:tab pos="2847975" algn="l"/>
                <a:tab pos="3705225" algn="l"/>
                <a:tab pos="4533900" algn="l"/>
                <a:tab pos="5088890" algn="l"/>
                <a:tab pos="5872480" algn="l"/>
                <a:tab pos="6960870" algn="l"/>
                <a:tab pos="7613650" algn="l"/>
                <a:tab pos="8028305" algn="l"/>
              </a:tabLst>
            </a:pPr>
            <a:r>
              <a:rPr sz="1800" spc="-25" dirty="0">
                <a:latin typeface="Arial MT"/>
                <a:cs typeface="Arial MT"/>
              </a:rPr>
              <a:t>It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is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possible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to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use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nested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syntax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and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useful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functions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such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as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color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manipulation,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mathematics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10" dirty="0">
                <a:latin typeface="Arial MT"/>
                <a:cs typeface="Arial MT"/>
              </a:rPr>
              <a:t> values.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61569"/>
            <a:ext cx="499745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30" dirty="0"/>
              <a:t>Disadvantages</a:t>
            </a:r>
            <a:r>
              <a:rPr sz="4000" spc="-145" dirty="0"/>
              <a:t> </a:t>
            </a:r>
            <a:r>
              <a:rPr sz="4000" dirty="0"/>
              <a:t>of</a:t>
            </a:r>
            <a:r>
              <a:rPr sz="4000" spc="-130" dirty="0"/>
              <a:t> </a:t>
            </a:r>
            <a:r>
              <a:rPr sz="4000" spc="-20" dirty="0"/>
              <a:t>SASS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1652884"/>
            <a:ext cx="8420100" cy="208343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75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developer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learn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features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present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 this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pre-</a:t>
            </a:r>
            <a:r>
              <a:rPr sz="1800" spc="-10" dirty="0">
                <a:latin typeface="Arial MT"/>
                <a:cs typeface="Arial MT"/>
              </a:rPr>
              <a:t>processor.</a:t>
            </a:r>
            <a:endParaRPr sz="1800">
              <a:latin typeface="Arial MT"/>
              <a:cs typeface="Arial MT"/>
            </a:endParaRPr>
          </a:p>
          <a:p>
            <a:pPr marL="299085" marR="5080" indent="-287020">
              <a:lnSpc>
                <a:spcPts val="3240"/>
              </a:lnSpc>
              <a:spcBef>
                <a:spcPts val="290"/>
              </a:spcBef>
              <a:buFont typeface="Wingdings"/>
              <a:buChar char="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people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site,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should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same </a:t>
            </a:r>
            <a:r>
              <a:rPr sz="1800" spc="-10" dirty="0">
                <a:latin typeface="Arial MT"/>
                <a:cs typeface="Arial MT"/>
              </a:rPr>
              <a:t>preprocessor.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Some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people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Sass and some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people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edit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10" dirty="0">
                <a:latin typeface="Arial MT"/>
                <a:cs typeface="Arial MT"/>
              </a:rPr>
              <a:t>files directly.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Therefore,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becomes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difficult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site.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795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 chances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benefits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browser's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built-in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element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inspector.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9229"/>
            <a:ext cx="66770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55" dirty="0"/>
              <a:t>System</a:t>
            </a:r>
            <a:r>
              <a:rPr sz="4000" spc="-190" dirty="0"/>
              <a:t> </a:t>
            </a:r>
            <a:r>
              <a:rPr sz="4000" spc="-40" dirty="0"/>
              <a:t>Requirements</a:t>
            </a:r>
            <a:r>
              <a:rPr sz="4000" spc="-204" dirty="0"/>
              <a:t> </a:t>
            </a:r>
            <a:r>
              <a:rPr sz="4000" dirty="0"/>
              <a:t>for</a:t>
            </a:r>
            <a:r>
              <a:rPr sz="4000" spc="-190" dirty="0"/>
              <a:t> </a:t>
            </a:r>
            <a:r>
              <a:rPr sz="4000" spc="-40" dirty="0"/>
              <a:t>SASS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540" y="1700864"/>
            <a:ext cx="8229600" cy="1672589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Font typeface="Wingdings"/>
              <a:buChar char="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Operating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System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spc="-760" dirty="0">
                <a:latin typeface="Arial MT"/>
                <a:cs typeface="Arial MT"/>
              </a:rPr>
              <a:t>−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Cross-</a:t>
            </a:r>
            <a:r>
              <a:rPr sz="1800" spc="-10" dirty="0">
                <a:latin typeface="Arial MT"/>
                <a:cs typeface="Arial MT"/>
              </a:rPr>
              <a:t>platform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latin typeface="Arial"/>
                <a:cs typeface="Arial"/>
              </a:rPr>
              <a:t>Browser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Support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spc="-760" dirty="0">
                <a:latin typeface="Arial MT"/>
                <a:cs typeface="Arial MT"/>
              </a:rPr>
              <a:t>−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(Internet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Explorer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8+),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Firefox,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Google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Chrome,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Safari,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Arial MT"/>
                <a:cs typeface="Arial MT"/>
              </a:rPr>
              <a:t>Opera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85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latin typeface="Arial"/>
                <a:cs typeface="Arial"/>
              </a:rPr>
              <a:t>Programming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Language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spc="-760" dirty="0">
                <a:latin typeface="Arial MT"/>
                <a:cs typeface="Arial MT"/>
              </a:rPr>
              <a:t>−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Ruby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45844" y="6055867"/>
            <a:ext cx="5769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 MT"/>
                <a:cs typeface="Arial MT"/>
                <a:hlinkClick r:id="rId2"/>
              </a:rPr>
              <a:t>https://www.tutorialspoint.com/sass/sass_installation.htm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37769"/>
            <a:ext cx="448183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CSS</a:t>
            </a:r>
            <a:r>
              <a:rPr sz="4000" spc="-65" dirty="0"/>
              <a:t> </a:t>
            </a:r>
            <a:r>
              <a:rPr sz="4000" spc="-50" dirty="0"/>
              <a:t>Pre-</a:t>
            </a:r>
            <a:r>
              <a:rPr sz="4000" spc="-25" dirty="0"/>
              <a:t>Processor</a:t>
            </a:r>
            <a:r>
              <a:rPr sz="4000" spc="-100" dirty="0"/>
              <a:t> </a:t>
            </a:r>
            <a:r>
              <a:rPr sz="4000" spc="-50" dirty="0"/>
              <a:t>…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015" y="3305047"/>
            <a:ext cx="8596630" cy="304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Popular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Preprocessors:</a:t>
            </a:r>
            <a:endParaRPr sz="1800">
              <a:latin typeface="Arial MT"/>
              <a:cs typeface="Arial MT"/>
            </a:endParaRPr>
          </a:p>
          <a:p>
            <a:pPr marL="297815" marR="85090" indent="-285750">
              <a:lnSpc>
                <a:spcPct val="100000"/>
              </a:lnSpc>
              <a:buFont typeface="Wingdings"/>
              <a:buChar char=""/>
              <a:tabLst>
                <a:tab pos="927100" algn="l"/>
                <a:tab pos="6219190" algn="l"/>
              </a:tabLst>
            </a:pP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–NodeJSCompiler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Leaner</a:t>
            </a:r>
            <a:r>
              <a:rPr sz="18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Style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Sheets(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Less</a:t>
            </a:r>
            <a:r>
              <a:rPr sz="1800" b="1" dirty="0">
                <a:latin typeface="Arial"/>
                <a:cs typeface="Arial"/>
              </a:rPr>
              <a:t>)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	backwards-</a:t>
            </a:r>
            <a:r>
              <a:rPr sz="1800" spc="-10" dirty="0">
                <a:latin typeface="Arial MT"/>
                <a:cs typeface="Arial MT"/>
              </a:rPr>
              <a:t>compatible 	</a:t>
            </a:r>
            <a:r>
              <a:rPr sz="1800" dirty="0">
                <a:latin typeface="Arial MT"/>
                <a:cs typeface="Arial MT"/>
              </a:rPr>
              <a:t>language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extension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CSS)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–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(Backward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compatibility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property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	</a:t>
            </a:r>
            <a:r>
              <a:rPr sz="1800" dirty="0">
                <a:latin typeface="Arial MT"/>
                <a:cs typeface="Arial MT"/>
              </a:rPr>
              <a:t>system,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technology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interoperability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older 	</a:t>
            </a:r>
            <a:r>
              <a:rPr sz="1800" dirty="0">
                <a:latin typeface="Arial MT"/>
                <a:cs typeface="Arial MT"/>
              </a:rPr>
              <a:t>legacy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- sometimes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also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downward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compatibility)</a:t>
            </a:r>
            <a:endParaRPr sz="1800">
              <a:latin typeface="Arial MT"/>
              <a:cs typeface="Arial MT"/>
            </a:endParaRPr>
          </a:p>
          <a:p>
            <a:pPr marL="298450" marR="5080" indent="-286385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927100" algn="l"/>
              </a:tabLst>
            </a:pPr>
            <a:r>
              <a:rPr sz="1800" dirty="0">
                <a:latin typeface="Arial MT"/>
                <a:cs typeface="Arial MT"/>
              </a:rPr>
              <a:t>SASS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–Ruby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Syntactically</a:t>
            </a:r>
            <a:r>
              <a:rPr sz="18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Awesome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Style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Sheets</a:t>
            </a:r>
            <a:r>
              <a:rPr sz="1800" spc="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800" b="1" dirty="0">
                <a:latin typeface="Arial"/>
                <a:cs typeface="Arial"/>
              </a:rPr>
              <a:t>Sass)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is </a:t>
            </a:r>
            <a:r>
              <a:rPr sz="1800" spc="-10" dirty="0">
                <a:latin typeface="Arial MT"/>
                <a:cs typeface="Arial MT"/>
              </a:rPr>
              <a:t>completely 	</a:t>
            </a:r>
            <a:r>
              <a:rPr sz="1800" dirty="0">
                <a:latin typeface="Arial MT"/>
                <a:cs typeface="Arial MT"/>
              </a:rPr>
              <a:t>compatible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versions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CSS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compatibility</a:t>
            </a:r>
            <a:r>
              <a:rPr sz="1800" spc="5" dirty="0">
                <a:latin typeface="Arial MT"/>
                <a:cs typeface="Arial MT"/>
              </a:rPr>
              <a:t>  </a:t>
            </a:r>
            <a:r>
              <a:rPr sz="1800" spc="-10" dirty="0">
                <a:latin typeface="Arial MT"/>
                <a:cs typeface="Arial MT"/>
              </a:rPr>
              <a:t>seriously,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so 	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seamlessly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450" dirty="0">
                <a:latin typeface="Arial MT"/>
                <a:cs typeface="Arial MT"/>
              </a:rPr>
              <a:t>   </a:t>
            </a:r>
            <a:r>
              <a:rPr sz="1800" dirty="0">
                <a:latin typeface="Arial MT"/>
                <a:cs typeface="Arial MT"/>
              </a:rPr>
              <a:t>available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CSS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libraries.)</a:t>
            </a:r>
            <a:endParaRPr sz="1800">
              <a:latin typeface="Arial MT"/>
              <a:cs typeface="Arial MT"/>
            </a:endParaRPr>
          </a:p>
          <a:p>
            <a:pPr marL="299085" indent="-286385" algn="just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Stylus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–NodeJSCompiler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latin typeface="Arial"/>
                <a:cs typeface="Arial"/>
              </a:rPr>
              <a:t>Stylus</a:t>
            </a:r>
            <a:r>
              <a:rPr sz="1800" b="1" spc="7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dynamic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stylesheet</a:t>
            </a:r>
            <a:r>
              <a:rPr sz="18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language</a:t>
            </a:r>
            <a:r>
              <a:rPr sz="18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is</a:t>
            </a:r>
            <a:endParaRPr sz="1800">
              <a:latin typeface="Arial MT"/>
              <a:cs typeface="Arial MT"/>
            </a:endParaRPr>
          </a:p>
          <a:p>
            <a:pPr marL="927100" algn="just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compiled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Cascading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Sheets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latin typeface="Arial"/>
                <a:cs typeface="Arial"/>
              </a:rPr>
              <a:t>CSS</a:t>
            </a:r>
            <a:r>
              <a:rPr sz="1800" dirty="0">
                <a:latin typeface="Arial MT"/>
                <a:cs typeface="Arial MT"/>
              </a:rPr>
              <a:t>).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influenced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by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Sass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LESS.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" y="1524000"/>
            <a:ext cx="8458200" cy="829310"/>
          </a:xfrm>
          <a:custGeom>
            <a:avLst/>
            <a:gdLst/>
            <a:ahLst/>
            <a:cxnLst/>
            <a:rect l="l" t="t" r="r" b="b"/>
            <a:pathLst>
              <a:path w="8458200" h="829310">
                <a:moveTo>
                  <a:pt x="8458200" y="0"/>
                </a:moveTo>
                <a:lnTo>
                  <a:pt x="0" y="0"/>
                </a:lnTo>
                <a:lnTo>
                  <a:pt x="0" y="829055"/>
                </a:lnTo>
                <a:lnTo>
                  <a:pt x="8458200" y="829055"/>
                </a:lnTo>
                <a:lnTo>
                  <a:pt x="8458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1000" y="1524000"/>
            <a:ext cx="8458200" cy="82931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91440" marR="189865">
              <a:lnSpc>
                <a:spcPct val="100000"/>
              </a:lnSpc>
              <a:spcBef>
                <a:spcPts val="30"/>
              </a:spcBef>
            </a:pP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Scripting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Language</a:t>
            </a:r>
            <a:r>
              <a:rPr sz="2400" spc="-85" dirty="0">
                <a:latin typeface="Times New Roman"/>
                <a:cs typeface="Times New Roman"/>
              </a:rPr>
              <a:t> that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extends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75" dirty="0">
                <a:latin typeface="Times New Roman"/>
                <a:cs typeface="Times New Roman"/>
              </a:rPr>
              <a:t>CSS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gets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compiled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into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regular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00" dirty="0">
                <a:latin typeface="Times New Roman"/>
                <a:cs typeface="Times New Roman"/>
              </a:rPr>
              <a:t>CSS </a:t>
            </a:r>
            <a:r>
              <a:rPr sz="2400" spc="-10" dirty="0">
                <a:latin typeface="Times New Roman"/>
                <a:cs typeface="Times New Roman"/>
              </a:rPr>
              <a:t>syntax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12991" y="2667000"/>
            <a:ext cx="814069" cy="368935"/>
          </a:xfrm>
          <a:custGeom>
            <a:avLst/>
            <a:gdLst/>
            <a:ahLst/>
            <a:cxnLst/>
            <a:rect l="l" t="t" r="r" b="b"/>
            <a:pathLst>
              <a:path w="814070" h="368935">
                <a:moveTo>
                  <a:pt x="813815" y="0"/>
                </a:moveTo>
                <a:lnTo>
                  <a:pt x="0" y="0"/>
                </a:lnTo>
                <a:lnTo>
                  <a:pt x="0" y="368808"/>
                </a:lnTo>
                <a:lnTo>
                  <a:pt x="813815" y="368808"/>
                </a:lnTo>
                <a:lnTo>
                  <a:pt x="8138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12991" y="2667000"/>
            <a:ext cx="814069" cy="368935"/>
          </a:xfrm>
          <a:prstGeom prst="rect">
            <a:avLst/>
          </a:prstGeom>
          <a:ln w="12700">
            <a:solidFill>
              <a:srgbClr val="9B2C1F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</a:pPr>
            <a:r>
              <a:rPr sz="1800" spc="-20" dirty="0">
                <a:latin typeface="Times New Roman"/>
                <a:cs typeface="Times New Roman"/>
              </a:rPr>
              <a:t>HTML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95400" y="2667000"/>
            <a:ext cx="2097405" cy="368935"/>
          </a:xfrm>
          <a:custGeom>
            <a:avLst/>
            <a:gdLst/>
            <a:ahLst/>
            <a:cxnLst/>
            <a:rect l="l" t="t" r="r" b="b"/>
            <a:pathLst>
              <a:path w="2097404" h="368935">
                <a:moveTo>
                  <a:pt x="2097024" y="0"/>
                </a:moveTo>
                <a:lnTo>
                  <a:pt x="0" y="0"/>
                </a:lnTo>
                <a:lnTo>
                  <a:pt x="0" y="368808"/>
                </a:lnTo>
                <a:lnTo>
                  <a:pt x="2097024" y="368808"/>
                </a:lnTo>
                <a:lnTo>
                  <a:pt x="2097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95400" y="2667000"/>
            <a:ext cx="2097405" cy="368935"/>
          </a:xfrm>
          <a:prstGeom prst="rect">
            <a:avLst/>
          </a:prstGeom>
          <a:ln w="12700">
            <a:solidFill>
              <a:srgbClr val="9B2C1F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5"/>
              </a:spcBef>
            </a:pPr>
            <a:r>
              <a:rPr sz="1800" spc="-210" dirty="0">
                <a:latin typeface="Times New Roman"/>
                <a:cs typeface="Times New Roman"/>
              </a:rPr>
              <a:t>CSS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Preprocessor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11623" y="2685288"/>
            <a:ext cx="658495" cy="372110"/>
          </a:xfrm>
          <a:custGeom>
            <a:avLst/>
            <a:gdLst/>
            <a:ahLst/>
            <a:cxnLst/>
            <a:rect l="l" t="t" r="r" b="b"/>
            <a:pathLst>
              <a:path w="658495" h="372110">
                <a:moveTo>
                  <a:pt x="658368" y="0"/>
                </a:moveTo>
                <a:lnTo>
                  <a:pt x="0" y="0"/>
                </a:lnTo>
                <a:lnTo>
                  <a:pt x="0" y="371855"/>
                </a:lnTo>
                <a:lnTo>
                  <a:pt x="658368" y="371855"/>
                </a:lnTo>
                <a:lnTo>
                  <a:pt x="658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11623" y="2685288"/>
            <a:ext cx="658495" cy="372110"/>
          </a:xfrm>
          <a:prstGeom prst="rect">
            <a:avLst/>
          </a:prstGeom>
          <a:ln w="12700">
            <a:solidFill>
              <a:srgbClr val="9B2C1F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Times New Roman"/>
                <a:cs typeface="Times New Roman"/>
              </a:rPr>
              <a:t>CSS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59123" y="2802763"/>
            <a:ext cx="838200" cy="103505"/>
          </a:xfrm>
          <a:custGeom>
            <a:avLst/>
            <a:gdLst/>
            <a:ahLst/>
            <a:cxnLst/>
            <a:rect l="l" t="t" r="r" b="b"/>
            <a:pathLst>
              <a:path w="838200" h="103505">
                <a:moveTo>
                  <a:pt x="813090" y="51688"/>
                </a:moveTo>
                <a:lnTo>
                  <a:pt x="743203" y="92456"/>
                </a:lnTo>
                <a:lnTo>
                  <a:pt x="742188" y="96265"/>
                </a:lnTo>
                <a:lnTo>
                  <a:pt x="745743" y="102362"/>
                </a:lnTo>
                <a:lnTo>
                  <a:pt x="749553" y="103377"/>
                </a:lnTo>
                <a:lnTo>
                  <a:pt x="827309" y="58038"/>
                </a:lnTo>
                <a:lnTo>
                  <a:pt x="825626" y="58038"/>
                </a:lnTo>
                <a:lnTo>
                  <a:pt x="825626" y="57150"/>
                </a:lnTo>
                <a:lnTo>
                  <a:pt x="822451" y="57150"/>
                </a:lnTo>
                <a:lnTo>
                  <a:pt x="813090" y="51688"/>
                </a:lnTo>
                <a:close/>
              </a:path>
              <a:path w="838200" h="103505">
                <a:moveTo>
                  <a:pt x="8022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02204" y="58038"/>
                </a:lnTo>
                <a:lnTo>
                  <a:pt x="813090" y="51688"/>
                </a:lnTo>
                <a:lnTo>
                  <a:pt x="802204" y="45338"/>
                </a:lnTo>
                <a:close/>
              </a:path>
              <a:path w="838200" h="103505">
                <a:moveTo>
                  <a:pt x="827309" y="45338"/>
                </a:moveTo>
                <a:lnTo>
                  <a:pt x="825626" y="45338"/>
                </a:lnTo>
                <a:lnTo>
                  <a:pt x="825626" y="58038"/>
                </a:lnTo>
                <a:lnTo>
                  <a:pt x="827309" y="58038"/>
                </a:lnTo>
                <a:lnTo>
                  <a:pt x="838200" y="51688"/>
                </a:lnTo>
                <a:lnTo>
                  <a:pt x="827309" y="45338"/>
                </a:lnTo>
                <a:close/>
              </a:path>
              <a:path w="838200" h="103505">
                <a:moveTo>
                  <a:pt x="822451" y="46227"/>
                </a:moveTo>
                <a:lnTo>
                  <a:pt x="813090" y="51688"/>
                </a:lnTo>
                <a:lnTo>
                  <a:pt x="822451" y="57150"/>
                </a:lnTo>
                <a:lnTo>
                  <a:pt x="822451" y="46227"/>
                </a:lnTo>
                <a:close/>
              </a:path>
              <a:path w="838200" h="103505">
                <a:moveTo>
                  <a:pt x="825626" y="46227"/>
                </a:moveTo>
                <a:lnTo>
                  <a:pt x="822451" y="46227"/>
                </a:lnTo>
                <a:lnTo>
                  <a:pt x="822451" y="57150"/>
                </a:lnTo>
                <a:lnTo>
                  <a:pt x="825626" y="57150"/>
                </a:lnTo>
                <a:lnTo>
                  <a:pt x="825626" y="46227"/>
                </a:lnTo>
                <a:close/>
              </a:path>
              <a:path w="838200" h="103505">
                <a:moveTo>
                  <a:pt x="749553" y="0"/>
                </a:moveTo>
                <a:lnTo>
                  <a:pt x="745743" y="1015"/>
                </a:lnTo>
                <a:lnTo>
                  <a:pt x="742188" y="7112"/>
                </a:lnTo>
                <a:lnTo>
                  <a:pt x="743203" y="10922"/>
                </a:lnTo>
                <a:lnTo>
                  <a:pt x="813090" y="51688"/>
                </a:lnTo>
                <a:lnTo>
                  <a:pt x="822451" y="46227"/>
                </a:lnTo>
                <a:lnTo>
                  <a:pt x="825626" y="46227"/>
                </a:lnTo>
                <a:lnTo>
                  <a:pt x="825626" y="45338"/>
                </a:lnTo>
                <a:lnTo>
                  <a:pt x="827309" y="45338"/>
                </a:lnTo>
                <a:lnTo>
                  <a:pt x="749553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11596" y="2804667"/>
            <a:ext cx="838835" cy="103505"/>
          </a:xfrm>
          <a:custGeom>
            <a:avLst/>
            <a:gdLst/>
            <a:ahLst/>
            <a:cxnLst/>
            <a:rect l="l" t="t" r="r" b="b"/>
            <a:pathLst>
              <a:path w="838835" h="103505">
                <a:moveTo>
                  <a:pt x="827357" y="43687"/>
                </a:moveTo>
                <a:lnTo>
                  <a:pt x="825626" y="43687"/>
                </a:lnTo>
                <a:lnTo>
                  <a:pt x="825636" y="44179"/>
                </a:lnTo>
                <a:lnTo>
                  <a:pt x="825759" y="50288"/>
                </a:lnTo>
                <a:lnTo>
                  <a:pt x="825880" y="56387"/>
                </a:lnTo>
                <a:lnTo>
                  <a:pt x="802355" y="56876"/>
                </a:lnTo>
                <a:lnTo>
                  <a:pt x="744219" y="92456"/>
                </a:lnTo>
                <a:lnTo>
                  <a:pt x="743203" y="96393"/>
                </a:lnTo>
                <a:lnTo>
                  <a:pt x="745108" y="99441"/>
                </a:lnTo>
                <a:lnTo>
                  <a:pt x="746887" y="102362"/>
                </a:lnTo>
                <a:lnTo>
                  <a:pt x="750824" y="103378"/>
                </a:lnTo>
                <a:lnTo>
                  <a:pt x="753872" y="101473"/>
                </a:lnTo>
                <a:lnTo>
                  <a:pt x="838326" y="49784"/>
                </a:lnTo>
                <a:lnTo>
                  <a:pt x="827357" y="43687"/>
                </a:lnTo>
                <a:close/>
              </a:path>
              <a:path w="838835" h="103505">
                <a:moveTo>
                  <a:pt x="802149" y="44179"/>
                </a:moveTo>
                <a:lnTo>
                  <a:pt x="0" y="60960"/>
                </a:lnTo>
                <a:lnTo>
                  <a:pt x="253" y="73533"/>
                </a:lnTo>
                <a:lnTo>
                  <a:pt x="802355" y="56876"/>
                </a:lnTo>
                <a:lnTo>
                  <a:pt x="813120" y="50288"/>
                </a:lnTo>
                <a:lnTo>
                  <a:pt x="802149" y="44179"/>
                </a:lnTo>
                <a:close/>
              </a:path>
              <a:path w="838835" h="103505">
                <a:moveTo>
                  <a:pt x="813120" y="50288"/>
                </a:moveTo>
                <a:lnTo>
                  <a:pt x="802355" y="56876"/>
                </a:lnTo>
                <a:lnTo>
                  <a:pt x="825880" y="56387"/>
                </a:lnTo>
                <a:lnTo>
                  <a:pt x="825865" y="55626"/>
                </a:lnTo>
                <a:lnTo>
                  <a:pt x="822705" y="55626"/>
                </a:lnTo>
                <a:lnTo>
                  <a:pt x="813120" y="50288"/>
                </a:lnTo>
                <a:close/>
              </a:path>
              <a:path w="838835" h="103505">
                <a:moveTo>
                  <a:pt x="822451" y="44577"/>
                </a:moveTo>
                <a:lnTo>
                  <a:pt x="813120" y="50288"/>
                </a:lnTo>
                <a:lnTo>
                  <a:pt x="822705" y="55626"/>
                </a:lnTo>
                <a:lnTo>
                  <a:pt x="822583" y="50288"/>
                </a:lnTo>
                <a:lnTo>
                  <a:pt x="822571" y="49784"/>
                </a:lnTo>
                <a:lnTo>
                  <a:pt x="822451" y="44577"/>
                </a:lnTo>
                <a:close/>
              </a:path>
              <a:path w="838835" h="103505">
                <a:moveTo>
                  <a:pt x="825644" y="44577"/>
                </a:moveTo>
                <a:lnTo>
                  <a:pt x="822451" y="44577"/>
                </a:lnTo>
                <a:lnTo>
                  <a:pt x="822571" y="49784"/>
                </a:lnTo>
                <a:lnTo>
                  <a:pt x="822583" y="50288"/>
                </a:lnTo>
                <a:lnTo>
                  <a:pt x="822705" y="55626"/>
                </a:lnTo>
                <a:lnTo>
                  <a:pt x="825865" y="55626"/>
                </a:lnTo>
                <a:lnTo>
                  <a:pt x="825748" y="49784"/>
                </a:lnTo>
                <a:lnTo>
                  <a:pt x="825644" y="44577"/>
                </a:lnTo>
                <a:close/>
              </a:path>
              <a:path w="838835" h="103505">
                <a:moveTo>
                  <a:pt x="825626" y="43687"/>
                </a:moveTo>
                <a:lnTo>
                  <a:pt x="802149" y="44179"/>
                </a:lnTo>
                <a:lnTo>
                  <a:pt x="813120" y="50288"/>
                </a:lnTo>
                <a:lnTo>
                  <a:pt x="822451" y="44577"/>
                </a:lnTo>
                <a:lnTo>
                  <a:pt x="825644" y="44577"/>
                </a:lnTo>
                <a:lnTo>
                  <a:pt x="825626" y="43687"/>
                </a:lnTo>
                <a:close/>
              </a:path>
              <a:path w="838835" h="103505">
                <a:moveTo>
                  <a:pt x="748664" y="0"/>
                </a:moveTo>
                <a:lnTo>
                  <a:pt x="744854" y="1016"/>
                </a:lnTo>
                <a:lnTo>
                  <a:pt x="743076" y="4064"/>
                </a:lnTo>
                <a:lnTo>
                  <a:pt x="741426" y="7112"/>
                </a:lnTo>
                <a:lnTo>
                  <a:pt x="742441" y="11049"/>
                </a:lnTo>
                <a:lnTo>
                  <a:pt x="745616" y="12700"/>
                </a:lnTo>
                <a:lnTo>
                  <a:pt x="802149" y="44179"/>
                </a:lnTo>
                <a:lnTo>
                  <a:pt x="825626" y="43687"/>
                </a:lnTo>
                <a:lnTo>
                  <a:pt x="827357" y="43687"/>
                </a:lnTo>
                <a:lnTo>
                  <a:pt x="751713" y="1651"/>
                </a:lnTo>
                <a:lnTo>
                  <a:pt x="748664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9229"/>
            <a:ext cx="38417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000000"/>
                </a:solidFill>
              </a:rPr>
              <a:t>CSS</a:t>
            </a:r>
            <a:r>
              <a:rPr sz="4000" spc="-80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Preprocessor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4291" y="1444828"/>
            <a:ext cx="8763635" cy="3470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94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Preprocessor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scripting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language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extends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compiled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into </a:t>
            </a:r>
            <a:r>
              <a:rPr sz="1800" dirty="0">
                <a:latin typeface="Arial MT"/>
                <a:cs typeface="Arial MT"/>
              </a:rPr>
              <a:t>regular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syntax,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 can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 read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 </a:t>
            </a:r>
            <a:r>
              <a:rPr sz="1800" spc="-10" dirty="0">
                <a:latin typeface="Arial MT"/>
                <a:cs typeface="Arial MT"/>
              </a:rPr>
              <a:t>browser.</a:t>
            </a:r>
            <a:r>
              <a:rPr sz="1800" dirty="0">
                <a:latin typeface="Arial MT"/>
                <a:cs typeface="Arial MT"/>
              </a:rPr>
              <a:t> 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provides </a:t>
            </a:r>
            <a:r>
              <a:rPr sz="1800" dirty="0">
                <a:latin typeface="Arial MT"/>
                <a:cs typeface="Arial MT"/>
              </a:rPr>
              <a:t>functionalities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 </a:t>
            </a:r>
            <a:r>
              <a:rPr sz="1800" i="1" dirty="0">
                <a:latin typeface="Arial"/>
                <a:cs typeface="Arial"/>
              </a:rPr>
              <a:t>variables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functions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mixins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 </a:t>
            </a:r>
            <a:r>
              <a:rPr sz="1800" i="1" dirty="0">
                <a:latin typeface="Arial"/>
                <a:cs typeface="Arial"/>
              </a:rPr>
              <a:t>operations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</a:t>
            </a:r>
            <a:r>
              <a:rPr sz="1800" spc="-10" dirty="0">
                <a:latin typeface="Arial MT"/>
                <a:cs typeface="Arial MT"/>
              </a:rPr>
              <a:t>build </a:t>
            </a:r>
            <a:r>
              <a:rPr sz="1800" dirty="0">
                <a:latin typeface="Arial MT"/>
                <a:cs typeface="Arial MT"/>
              </a:rPr>
              <a:t>dynamic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CSS.</a:t>
            </a:r>
            <a:endParaRPr sz="180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1190"/>
              </a:spcBef>
            </a:pP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3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was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designed</a:t>
            </a:r>
            <a:r>
              <a:rPr sz="1800" spc="3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3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Alexis</a:t>
            </a:r>
            <a:r>
              <a:rPr sz="1800" b="1" spc="3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Sellier</a:t>
            </a:r>
            <a:r>
              <a:rPr sz="1800" b="1" spc="30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3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2009.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2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3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open-</a:t>
            </a:r>
            <a:r>
              <a:rPr sz="1800" dirty="0">
                <a:latin typeface="Arial MT"/>
                <a:cs typeface="Arial MT"/>
              </a:rPr>
              <a:t>source.</a:t>
            </a:r>
            <a:r>
              <a:rPr sz="1800" spc="3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3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first </a:t>
            </a:r>
            <a:r>
              <a:rPr sz="1800" dirty="0">
                <a:latin typeface="Arial MT"/>
                <a:cs typeface="Arial MT"/>
              </a:rPr>
              <a:t>version</a:t>
            </a:r>
            <a:r>
              <a:rPr sz="1800" spc="3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3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was</a:t>
            </a:r>
            <a:r>
              <a:rPr sz="1800" spc="3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written</a:t>
            </a:r>
            <a:r>
              <a:rPr sz="1800" spc="3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Ruby;</a:t>
            </a:r>
            <a:r>
              <a:rPr sz="1800" spc="3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later</a:t>
            </a:r>
            <a:r>
              <a:rPr sz="1800" spc="3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versions,</a:t>
            </a:r>
            <a:r>
              <a:rPr sz="1800" spc="3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3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Ruby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was </a:t>
            </a:r>
            <a:r>
              <a:rPr sz="1800" dirty="0">
                <a:latin typeface="Arial MT"/>
                <a:cs typeface="Arial MT"/>
              </a:rPr>
              <a:t>replaced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JavaScript.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Features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Cleaner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readable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written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organized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way.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 define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 reused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throughout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code.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 based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JavaScript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 a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CSS.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agile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tool that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sorts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problem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redundancy.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9229"/>
            <a:ext cx="30054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000000"/>
                </a:solidFill>
              </a:rPr>
              <a:t>LESS</a:t>
            </a:r>
            <a:r>
              <a:rPr sz="4000" spc="-9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is</a:t>
            </a:r>
            <a:r>
              <a:rPr sz="4000" spc="-7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a</a:t>
            </a:r>
            <a:r>
              <a:rPr sz="4000" spc="-60" dirty="0">
                <a:solidFill>
                  <a:srgbClr val="000000"/>
                </a:solidFill>
              </a:rPr>
              <a:t> </a:t>
            </a:r>
            <a:r>
              <a:rPr sz="4000" spc="-25" dirty="0">
                <a:solidFill>
                  <a:srgbClr val="000000"/>
                </a:solidFill>
              </a:rPr>
              <a:t>CSS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5440" y="1856613"/>
            <a:ext cx="8478520" cy="234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3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12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1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114" dirty="0">
                <a:latin typeface="Arial MT"/>
                <a:cs typeface="Arial MT"/>
              </a:rPr>
              <a:t>  </a:t>
            </a:r>
            <a:r>
              <a:rPr sz="1800" spc="-10" dirty="0">
                <a:latin typeface="Arial MT"/>
                <a:cs typeface="Arial MT"/>
              </a:rPr>
              <a:t>pre-</a:t>
            </a:r>
            <a:r>
              <a:rPr sz="1800" dirty="0">
                <a:latin typeface="Arial MT"/>
                <a:cs typeface="Arial MT"/>
              </a:rPr>
              <a:t>processor</a:t>
            </a:r>
            <a:r>
              <a:rPr sz="1800" spc="13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1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enables</a:t>
            </a:r>
            <a:r>
              <a:rPr sz="1800" spc="12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customizable,</a:t>
            </a:r>
            <a:r>
              <a:rPr sz="1800" spc="12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manageable</a:t>
            </a:r>
            <a:r>
              <a:rPr sz="1800" spc="140" dirty="0">
                <a:latin typeface="Arial MT"/>
                <a:cs typeface="Arial MT"/>
              </a:rPr>
              <a:t> 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reusable</a:t>
            </a:r>
            <a:r>
              <a:rPr sz="1800" spc="3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3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sheet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3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website.</a:t>
            </a:r>
            <a:r>
              <a:rPr sz="1800" spc="3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3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3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3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dynamic</a:t>
            </a:r>
            <a:r>
              <a:rPr sz="1800" spc="3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sheet</a:t>
            </a:r>
            <a:r>
              <a:rPr sz="1800" spc="3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language</a:t>
            </a:r>
            <a:r>
              <a:rPr sz="1800" spc="37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that </a:t>
            </a:r>
            <a:r>
              <a:rPr sz="1800" dirty="0">
                <a:latin typeface="Arial MT"/>
                <a:cs typeface="Arial MT"/>
              </a:rPr>
              <a:t>extends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capability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CSS.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also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cross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browser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friendly.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>
              <a:latin typeface="Arial MT"/>
              <a:cs typeface="Arial MT"/>
            </a:endParaRPr>
          </a:p>
          <a:p>
            <a:pPr marL="33020" marR="5080" algn="just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Preprocessor is 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scripting language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extends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compiled</a:t>
            </a:r>
            <a:r>
              <a:rPr sz="1800" spc="-20" dirty="0">
                <a:latin typeface="Arial MT"/>
                <a:cs typeface="Arial MT"/>
              </a:rPr>
              <a:t> into </a:t>
            </a:r>
            <a:r>
              <a:rPr sz="1800" dirty="0">
                <a:latin typeface="Arial MT"/>
                <a:cs typeface="Arial MT"/>
              </a:rPr>
              <a:t>regular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45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syntax,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browser.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provides </a:t>
            </a:r>
            <a:r>
              <a:rPr sz="1800" dirty="0">
                <a:latin typeface="Arial MT"/>
                <a:cs typeface="Arial MT"/>
              </a:rPr>
              <a:t>functionalities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variables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functions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mixins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operations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build </a:t>
            </a:r>
            <a:r>
              <a:rPr sz="1800" dirty="0">
                <a:latin typeface="Arial MT"/>
                <a:cs typeface="Arial MT"/>
              </a:rPr>
              <a:t>dynamic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CSS.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739" y="413969"/>
            <a:ext cx="799782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0" dirty="0"/>
              <a:t>Advantages</a:t>
            </a:r>
            <a:r>
              <a:rPr sz="4000" spc="-130" dirty="0"/>
              <a:t> </a:t>
            </a:r>
            <a:r>
              <a:rPr sz="4000" dirty="0"/>
              <a:t>and</a:t>
            </a:r>
            <a:r>
              <a:rPr sz="4000" spc="-120" dirty="0"/>
              <a:t> </a:t>
            </a:r>
            <a:r>
              <a:rPr sz="4000" spc="-30" dirty="0"/>
              <a:t>Disadvantages</a:t>
            </a:r>
            <a:r>
              <a:rPr sz="4000" spc="-125" dirty="0"/>
              <a:t> </a:t>
            </a:r>
            <a:r>
              <a:rPr sz="4000" spc="-10" dirty="0"/>
              <a:t>(LSS)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4739" y="1780413"/>
            <a:ext cx="8846185" cy="3593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Advantages</a:t>
            </a:r>
            <a:endParaRPr sz="1800">
              <a:latin typeface="Arial MT"/>
              <a:cs typeface="Arial MT"/>
            </a:endParaRPr>
          </a:p>
          <a:p>
            <a:pPr marL="548640" indent="-88900">
              <a:lnSpc>
                <a:spcPct val="100000"/>
              </a:lnSpc>
              <a:buSzPct val="94444"/>
              <a:buChar char="•"/>
              <a:tabLst>
                <a:tab pos="548640" algn="l"/>
              </a:tabLst>
            </a:pP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easily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generates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 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browsers.</a:t>
            </a:r>
            <a:endParaRPr sz="1800">
              <a:latin typeface="Arial MT"/>
              <a:cs typeface="Arial MT"/>
            </a:endParaRPr>
          </a:p>
          <a:p>
            <a:pPr marL="548640" indent="-88900">
              <a:lnSpc>
                <a:spcPct val="100000"/>
              </a:lnSpc>
              <a:buSzPct val="94444"/>
              <a:buChar char="•"/>
              <a:tabLst>
                <a:tab pos="548640" algn="l"/>
              </a:tabLst>
            </a:pP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enables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better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well-</a:t>
            </a:r>
            <a:r>
              <a:rPr sz="1800" dirty="0">
                <a:latin typeface="Arial MT"/>
                <a:cs typeface="Arial MT"/>
              </a:rPr>
              <a:t>organized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 using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i="1" spc="-10" dirty="0">
                <a:latin typeface="Arial"/>
                <a:cs typeface="Arial"/>
              </a:rPr>
              <a:t>nesting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548640" indent="-88900">
              <a:lnSpc>
                <a:spcPct val="100000"/>
              </a:lnSpc>
              <a:buSzPct val="94444"/>
              <a:buChar char="•"/>
              <a:tabLst>
                <a:tab pos="548640" algn="l"/>
              </a:tabLst>
            </a:pPr>
            <a:r>
              <a:rPr sz="1800" dirty="0">
                <a:latin typeface="Arial MT"/>
                <a:cs typeface="Arial MT"/>
              </a:rPr>
              <a:t>Maintenance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achieved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faster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spc="-10" dirty="0">
                <a:latin typeface="Arial"/>
                <a:cs typeface="Arial"/>
              </a:rPr>
              <a:t>variables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548640" indent="-88900">
              <a:lnSpc>
                <a:spcPct val="100000"/>
              </a:lnSpc>
              <a:buSzPct val="94444"/>
              <a:buChar char="•"/>
              <a:tabLst>
                <a:tab pos="548640" algn="l"/>
              </a:tabLst>
            </a:pP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enables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reuse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whole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classes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easily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referencing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them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your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rule</a:t>
            </a:r>
            <a:r>
              <a:rPr sz="1800" spc="-10" dirty="0">
                <a:latin typeface="Arial MT"/>
                <a:cs typeface="Arial MT"/>
              </a:rPr>
              <a:t> sets.</a:t>
            </a:r>
            <a:endParaRPr sz="1800">
              <a:latin typeface="Arial MT"/>
              <a:cs typeface="Arial MT"/>
            </a:endParaRPr>
          </a:p>
          <a:p>
            <a:pPr marL="548640" indent="-88900">
              <a:lnSpc>
                <a:spcPct val="100000"/>
              </a:lnSpc>
              <a:buSzPct val="94444"/>
              <a:buChar char="•"/>
              <a:tabLst>
                <a:tab pos="548640" algn="l"/>
              </a:tabLst>
            </a:pP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operations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faster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saves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Disadvantages</a:t>
            </a:r>
            <a:endParaRPr sz="1800">
              <a:latin typeface="Arial MT"/>
              <a:cs typeface="Arial MT"/>
            </a:endParaRPr>
          </a:p>
          <a:p>
            <a:pPr marL="548640" indent="-88900">
              <a:lnSpc>
                <a:spcPct val="100000"/>
              </a:lnSpc>
              <a:buSzPct val="94444"/>
              <a:buChar char="•"/>
              <a:tabLst>
                <a:tab pos="548640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preprocessing.</a:t>
            </a:r>
            <a:endParaRPr sz="1800">
              <a:latin typeface="Arial MT"/>
              <a:cs typeface="Arial MT"/>
            </a:endParaRPr>
          </a:p>
          <a:p>
            <a:pPr marL="548640" indent="-88900">
              <a:lnSpc>
                <a:spcPct val="100000"/>
              </a:lnSpc>
              <a:buSzPct val="94444"/>
              <a:buChar char="•"/>
              <a:tabLst>
                <a:tab pos="548640" algn="l"/>
              </a:tabLst>
            </a:pPr>
            <a:r>
              <a:rPr sz="1800" dirty="0">
                <a:latin typeface="Arial MT"/>
                <a:cs typeface="Arial MT"/>
              </a:rPr>
              <a:t>Due</a:t>
            </a:r>
            <a:r>
              <a:rPr sz="1800" spc="1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tight</a:t>
            </a:r>
            <a:r>
              <a:rPr sz="1800" spc="1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coupling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1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modules,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efforts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should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taken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reuse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and/or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dependent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modules.</a:t>
            </a:r>
            <a:endParaRPr sz="1800">
              <a:latin typeface="Arial MT"/>
              <a:cs typeface="Arial MT"/>
            </a:endParaRPr>
          </a:p>
          <a:p>
            <a:pPr marL="548640" indent="-88900">
              <a:lnSpc>
                <a:spcPct val="100000"/>
              </a:lnSpc>
              <a:buSzPct val="94444"/>
              <a:buChar char="•"/>
              <a:tabLst>
                <a:tab pos="548640" algn="l"/>
              </a:tabLst>
            </a:pP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43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4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4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framework</a:t>
            </a:r>
            <a:r>
              <a:rPr sz="1800" spc="4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compared</a:t>
            </a:r>
            <a:r>
              <a:rPr sz="1800" spc="43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4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older</a:t>
            </a:r>
            <a:r>
              <a:rPr sz="1800" spc="4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preprocessor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4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SASS,</a:t>
            </a:r>
            <a:r>
              <a:rPr sz="1800" spc="4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which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consists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frameworks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Compass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Gravity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spc="-10" dirty="0">
                <a:latin typeface="Arial"/>
                <a:cs typeface="Arial"/>
              </a:rPr>
              <a:t>Susy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-40182"/>
            <a:ext cx="448119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CSS</a:t>
            </a:r>
            <a:r>
              <a:rPr sz="4000" spc="-65" dirty="0"/>
              <a:t> </a:t>
            </a:r>
            <a:r>
              <a:rPr sz="4000" spc="-50" dirty="0"/>
              <a:t>Pre-</a:t>
            </a:r>
            <a:r>
              <a:rPr sz="4000" spc="-25" dirty="0"/>
              <a:t>Processor</a:t>
            </a:r>
            <a:r>
              <a:rPr sz="4000" spc="-105" dirty="0"/>
              <a:t> </a:t>
            </a:r>
            <a:r>
              <a:rPr sz="4000" spc="-50" dirty="0"/>
              <a:t>…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33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29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9345" y="682498"/>
            <a:ext cx="3664585" cy="6014720"/>
            <a:chOff x="609345" y="682498"/>
            <a:chExt cx="3664585" cy="6014720"/>
          </a:xfrm>
        </p:grpSpPr>
        <p:sp>
          <p:nvSpPr>
            <p:cNvPr id="6" name="object 6"/>
            <p:cNvSpPr/>
            <p:nvPr/>
          </p:nvSpPr>
          <p:spPr>
            <a:xfrm>
              <a:off x="615695" y="688848"/>
              <a:ext cx="3651885" cy="6002020"/>
            </a:xfrm>
            <a:custGeom>
              <a:avLst/>
              <a:gdLst/>
              <a:ahLst/>
              <a:cxnLst/>
              <a:rect l="l" t="t" r="r" b="b"/>
              <a:pathLst>
                <a:path w="3651885" h="6002020">
                  <a:moveTo>
                    <a:pt x="3651504" y="0"/>
                  </a:moveTo>
                  <a:lnTo>
                    <a:pt x="0" y="0"/>
                  </a:lnTo>
                  <a:lnTo>
                    <a:pt x="0" y="6001512"/>
                  </a:lnTo>
                  <a:lnTo>
                    <a:pt x="3651504" y="6001512"/>
                  </a:lnTo>
                  <a:lnTo>
                    <a:pt x="36515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5695" y="688848"/>
              <a:ext cx="3651885" cy="6002020"/>
            </a:xfrm>
            <a:custGeom>
              <a:avLst/>
              <a:gdLst/>
              <a:ahLst/>
              <a:cxnLst/>
              <a:rect l="l" t="t" r="r" b="b"/>
              <a:pathLst>
                <a:path w="3651885" h="6002020">
                  <a:moveTo>
                    <a:pt x="0" y="6001512"/>
                  </a:moveTo>
                  <a:lnTo>
                    <a:pt x="3651504" y="6001512"/>
                  </a:lnTo>
                  <a:lnTo>
                    <a:pt x="3651504" y="0"/>
                  </a:lnTo>
                  <a:lnTo>
                    <a:pt x="0" y="0"/>
                  </a:lnTo>
                  <a:lnTo>
                    <a:pt x="0" y="6001512"/>
                  </a:lnTo>
                  <a:close/>
                </a:path>
              </a:pathLst>
            </a:custGeom>
            <a:ln w="12699">
              <a:solidFill>
                <a:srgbClr val="9B2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3216" y="692023"/>
            <a:ext cx="2860040" cy="539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60" dirty="0">
                <a:solidFill>
                  <a:srgbClr val="006FC0"/>
                </a:solidFill>
                <a:latin typeface="Times New Roman"/>
                <a:cs typeface="Times New Roman"/>
              </a:rPr>
              <a:t>.large-</a:t>
            </a:r>
            <a:r>
              <a:rPr sz="1600" spc="-105" dirty="0">
                <a:solidFill>
                  <a:srgbClr val="006FC0"/>
                </a:solidFill>
                <a:latin typeface="Times New Roman"/>
                <a:cs typeface="Times New Roman"/>
              </a:rPr>
              <a:t>heading</a:t>
            </a:r>
            <a:r>
              <a:rPr sz="16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60" dirty="0">
                <a:solidFill>
                  <a:srgbClr val="FF0000"/>
                </a:solidFill>
                <a:latin typeface="Times New Roman"/>
                <a:cs typeface="Times New Roman"/>
              </a:rPr>
              <a:t>font-</a:t>
            </a:r>
            <a:r>
              <a:rPr sz="1600" spc="-80" dirty="0">
                <a:solidFill>
                  <a:srgbClr val="FF0000"/>
                </a:solidFill>
                <a:latin typeface="Times New Roman"/>
                <a:cs typeface="Times New Roman"/>
              </a:rPr>
              <a:t>family:Helvetica,Arial,</a:t>
            </a:r>
            <a:r>
              <a:rPr sz="16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5" dirty="0">
                <a:solidFill>
                  <a:srgbClr val="FF0000"/>
                </a:solidFill>
                <a:latin typeface="Times New Roman"/>
                <a:cs typeface="Times New Roman"/>
              </a:rPr>
              <a:t>sans-</a:t>
            </a: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serif;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60" dirty="0">
                <a:solidFill>
                  <a:srgbClr val="FF0000"/>
                </a:solidFill>
                <a:latin typeface="Times New Roman"/>
                <a:cs typeface="Times New Roman"/>
              </a:rPr>
              <a:t>font-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weight:bold;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60" dirty="0">
                <a:latin typeface="Times New Roman"/>
                <a:cs typeface="Times New Roman"/>
              </a:rPr>
              <a:t>font-</a:t>
            </a:r>
            <a:r>
              <a:rPr sz="1600" spc="-10" dirty="0">
                <a:latin typeface="Times New Roman"/>
                <a:cs typeface="Times New Roman"/>
              </a:rPr>
              <a:t>size:24px;</a:t>
            </a:r>
            <a:endParaRPr sz="1600">
              <a:latin typeface="Times New Roman"/>
              <a:cs typeface="Times New Roman"/>
            </a:endParaRPr>
          </a:p>
          <a:p>
            <a:pPr marL="12700" marR="894715">
              <a:lnSpc>
                <a:spcPct val="100000"/>
              </a:lnSpc>
            </a:pP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text-</a:t>
            </a:r>
            <a:r>
              <a:rPr sz="1600" spc="-65" dirty="0">
                <a:solidFill>
                  <a:srgbClr val="FF0000"/>
                </a:solidFill>
                <a:latin typeface="Times New Roman"/>
                <a:cs typeface="Times New Roman"/>
              </a:rPr>
              <a:t>transform:uppercase; </a:t>
            </a:r>
            <a:r>
              <a:rPr sz="1600" spc="-75" dirty="0">
                <a:solidFill>
                  <a:srgbClr val="FF0000"/>
                </a:solidFill>
                <a:latin typeface="Times New Roman"/>
                <a:cs typeface="Times New Roman"/>
              </a:rPr>
              <a:t>line-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height:1.2em; color:#ccc;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45" dirty="0">
                <a:latin typeface="Times New Roman"/>
                <a:cs typeface="Times New Roman"/>
              </a:rPr>
              <a:t>.</a:t>
            </a:r>
            <a:r>
              <a:rPr sz="1600" spc="-45" dirty="0">
                <a:solidFill>
                  <a:srgbClr val="00AF50"/>
                </a:solidFill>
                <a:latin typeface="Times New Roman"/>
                <a:cs typeface="Times New Roman"/>
              </a:rPr>
              <a:t>med-</a:t>
            </a:r>
            <a:r>
              <a:rPr sz="1600" spc="-100" dirty="0">
                <a:solidFill>
                  <a:srgbClr val="00AF50"/>
                </a:solidFill>
                <a:latin typeface="Times New Roman"/>
                <a:cs typeface="Times New Roman"/>
              </a:rPr>
              <a:t>heading</a:t>
            </a:r>
            <a:r>
              <a:rPr sz="16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600" spc="-60" dirty="0">
                <a:solidFill>
                  <a:srgbClr val="FF0000"/>
                </a:solidFill>
                <a:latin typeface="Times New Roman"/>
                <a:cs typeface="Times New Roman"/>
              </a:rPr>
              <a:t>font-</a:t>
            </a:r>
            <a:r>
              <a:rPr sz="1600" spc="-80" dirty="0">
                <a:solidFill>
                  <a:srgbClr val="FF0000"/>
                </a:solidFill>
                <a:latin typeface="Times New Roman"/>
                <a:cs typeface="Times New Roman"/>
              </a:rPr>
              <a:t>family:Helvetica,Arial,</a:t>
            </a:r>
            <a:r>
              <a:rPr sz="16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5" dirty="0">
                <a:solidFill>
                  <a:srgbClr val="FF0000"/>
                </a:solidFill>
                <a:latin typeface="Times New Roman"/>
                <a:cs typeface="Times New Roman"/>
              </a:rPr>
              <a:t>sans-</a:t>
            </a:r>
            <a:r>
              <a:rPr sz="1600" spc="-45" dirty="0">
                <a:solidFill>
                  <a:srgbClr val="FF0000"/>
                </a:solidFill>
                <a:latin typeface="Times New Roman"/>
                <a:cs typeface="Times New Roman"/>
              </a:rPr>
              <a:t>serif; </a:t>
            </a:r>
            <a:r>
              <a:rPr sz="1600" spc="-60" dirty="0">
                <a:solidFill>
                  <a:srgbClr val="FF0000"/>
                </a:solidFill>
                <a:latin typeface="Times New Roman"/>
                <a:cs typeface="Times New Roman"/>
              </a:rPr>
              <a:t>font-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weight:bold;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60" dirty="0">
                <a:latin typeface="Times New Roman"/>
                <a:cs typeface="Times New Roman"/>
              </a:rPr>
              <a:t>font-</a:t>
            </a:r>
            <a:r>
              <a:rPr sz="1600" spc="-10" dirty="0">
                <a:latin typeface="Times New Roman"/>
                <a:cs typeface="Times New Roman"/>
              </a:rPr>
              <a:t>size:18px;</a:t>
            </a:r>
            <a:endParaRPr sz="1600">
              <a:latin typeface="Times New Roman"/>
              <a:cs typeface="Times New Roman"/>
            </a:endParaRPr>
          </a:p>
          <a:p>
            <a:pPr marL="12700" marR="894715">
              <a:lnSpc>
                <a:spcPct val="100000"/>
              </a:lnSpc>
            </a:pP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text-</a:t>
            </a:r>
            <a:r>
              <a:rPr sz="1600" spc="-65" dirty="0">
                <a:solidFill>
                  <a:srgbClr val="FF0000"/>
                </a:solidFill>
                <a:latin typeface="Times New Roman"/>
                <a:cs typeface="Times New Roman"/>
              </a:rPr>
              <a:t>transform:uppercase; </a:t>
            </a:r>
            <a:r>
              <a:rPr sz="1600" spc="-75" dirty="0">
                <a:solidFill>
                  <a:srgbClr val="FF0000"/>
                </a:solidFill>
                <a:latin typeface="Times New Roman"/>
                <a:cs typeface="Times New Roman"/>
              </a:rPr>
              <a:t>line-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height:1.2em; color:#ccc;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80" dirty="0">
                <a:solidFill>
                  <a:srgbClr val="00AF50"/>
                </a:solidFill>
                <a:latin typeface="Times New Roman"/>
                <a:cs typeface="Times New Roman"/>
              </a:rPr>
              <a:t>.small-</a:t>
            </a:r>
            <a:r>
              <a:rPr sz="1600" spc="-105" dirty="0">
                <a:solidFill>
                  <a:srgbClr val="00AF50"/>
                </a:solidFill>
                <a:latin typeface="Times New Roman"/>
                <a:cs typeface="Times New Roman"/>
              </a:rPr>
              <a:t>heading</a:t>
            </a:r>
            <a:r>
              <a:rPr sz="1600" spc="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60" dirty="0">
                <a:solidFill>
                  <a:srgbClr val="FF0000"/>
                </a:solidFill>
                <a:latin typeface="Times New Roman"/>
                <a:cs typeface="Times New Roman"/>
              </a:rPr>
              <a:t>font-</a:t>
            </a:r>
            <a:r>
              <a:rPr sz="1600" spc="-80" dirty="0">
                <a:solidFill>
                  <a:srgbClr val="FF0000"/>
                </a:solidFill>
                <a:latin typeface="Times New Roman"/>
                <a:cs typeface="Times New Roman"/>
              </a:rPr>
              <a:t>family:Helvetica,Arial,</a:t>
            </a:r>
            <a:r>
              <a:rPr sz="16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5" dirty="0">
                <a:solidFill>
                  <a:srgbClr val="FF0000"/>
                </a:solidFill>
                <a:latin typeface="Times New Roman"/>
                <a:cs typeface="Times New Roman"/>
              </a:rPr>
              <a:t>sans-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serif;</a:t>
            </a:r>
            <a:endParaRPr sz="1600">
              <a:latin typeface="Times New Roman"/>
              <a:cs typeface="Times New Roman"/>
            </a:endParaRPr>
          </a:p>
          <a:p>
            <a:pPr marL="12700" marR="1535430">
              <a:lnSpc>
                <a:spcPct val="100000"/>
              </a:lnSpc>
            </a:pPr>
            <a:r>
              <a:rPr sz="1600" spc="-60" dirty="0">
                <a:solidFill>
                  <a:srgbClr val="FF0000"/>
                </a:solidFill>
                <a:latin typeface="Times New Roman"/>
                <a:cs typeface="Times New Roman"/>
              </a:rPr>
              <a:t>font-</a:t>
            </a:r>
            <a:r>
              <a:rPr sz="1600" spc="-70" dirty="0">
                <a:solidFill>
                  <a:srgbClr val="FF0000"/>
                </a:solidFill>
                <a:latin typeface="Times New Roman"/>
                <a:cs typeface="Times New Roman"/>
              </a:rPr>
              <a:t>weight:bold; </a:t>
            </a:r>
            <a:r>
              <a:rPr sz="1600" spc="-60" dirty="0">
                <a:latin typeface="Times New Roman"/>
                <a:cs typeface="Times New Roman"/>
              </a:rPr>
              <a:t>font-</a:t>
            </a:r>
            <a:r>
              <a:rPr sz="1600" spc="-10" dirty="0">
                <a:latin typeface="Times New Roman"/>
                <a:cs typeface="Times New Roman"/>
              </a:rPr>
              <a:t>size:14px;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text-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transform:uppercase;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75" dirty="0">
                <a:latin typeface="Times New Roman"/>
                <a:cs typeface="Times New Roman"/>
              </a:rPr>
              <a:t>line-</a:t>
            </a:r>
            <a:r>
              <a:rPr sz="1600" spc="-10" dirty="0">
                <a:latin typeface="Times New Roman"/>
                <a:cs typeface="Times New Roman"/>
              </a:rPr>
              <a:t>height:1.2em;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216" y="6058611"/>
            <a:ext cx="906780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color:#ccc;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59096" y="688848"/>
            <a:ext cx="3651885" cy="4523740"/>
          </a:xfrm>
          <a:custGeom>
            <a:avLst/>
            <a:gdLst/>
            <a:ahLst/>
            <a:cxnLst/>
            <a:rect l="l" t="t" r="r" b="b"/>
            <a:pathLst>
              <a:path w="3651884" h="4523740">
                <a:moveTo>
                  <a:pt x="3651504" y="0"/>
                </a:moveTo>
                <a:lnTo>
                  <a:pt x="0" y="0"/>
                </a:lnTo>
                <a:lnTo>
                  <a:pt x="0" y="4523232"/>
                </a:lnTo>
                <a:lnTo>
                  <a:pt x="3651504" y="4523232"/>
                </a:lnTo>
                <a:lnTo>
                  <a:pt x="36515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41776" y="6172200"/>
            <a:ext cx="658495" cy="368935"/>
          </a:xfrm>
          <a:prstGeom prst="rect">
            <a:avLst/>
          </a:prstGeom>
          <a:ln w="12700">
            <a:solidFill>
              <a:srgbClr val="9B2C1F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14"/>
              </a:spcBef>
            </a:pP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CSS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952746" y="682498"/>
          <a:ext cx="3651250" cy="4522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4170">
                <a:tc grid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.large-</a:t>
                      </a:r>
                      <a:r>
                        <a:rPr sz="1800" spc="-114" dirty="0">
                          <a:latin typeface="Times New Roman"/>
                          <a:cs typeface="Times New Roman"/>
                        </a:rPr>
                        <a:t>heading</a:t>
                      </a:r>
                      <a:r>
                        <a:rPr sz="18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{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font-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family:Helvetica,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Arial,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sans-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serif;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font-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weight:bold;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font-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size:24px;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 marR="1390015">
                        <a:lnSpc>
                          <a:spcPct val="100000"/>
                        </a:lnSpc>
                      </a:pP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text-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transform:uppercase; 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line-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height:1.2em; color:#ccc;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}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.med-</a:t>
                      </a:r>
                      <a:r>
                        <a:rPr sz="1800" spc="-114" dirty="0">
                          <a:latin typeface="Times New Roman"/>
                          <a:cs typeface="Times New Roman"/>
                        </a:rPr>
                        <a:t>heading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{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 marR="2305050">
                        <a:lnSpc>
                          <a:spcPct val="100000"/>
                        </a:lnSpc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70" dirty="0">
                          <a:solidFill>
                            <a:srgbClr val="006FC0"/>
                          </a:solidFill>
                          <a:latin typeface="Times New Roman"/>
                          <a:cs typeface="Times New Roman"/>
                        </a:rPr>
                        <a:t>large-</a:t>
                      </a:r>
                      <a:r>
                        <a:rPr sz="1800" spc="-85" dirty="0">
                          <a:solidFill>
                            <a:srgbClr val="006FC0"/>
                          </a:solidFill>
                          <a:latin typeface="Times New Roman"/>
                          <a:cs typeface="Times New Roman"/>
                        </a:rPr>
                        <a:t>heading; 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font-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size:18px;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}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.small-</a:t>
                      </a:r>
                      <a:r>
                        <a:rPr sz="1800" spc="-114" dirty="0">
                          <a:latin typeface="Times New Roman"/>
                          <a:cs typeface="Times New Roman"/>
                        </a:rPr>
                        <a:t>heading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{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 marR="2305050">
                        <a:lnSpc>
                          <a:spcPct val="100000"/>
                        </a:lnSpc>
                      </a:pP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70" dirty="0">
                          <a:solidFill>
                            <a:srgbClr val="006FC0"/>
                          </a:solidFill>
                          <a:latin typeface="Times New Roman"/>
                          <a:cs typeface="Times New Roman"/>
                        </a:rPr>
                        <a:t>large-</a:t>
                      </a:r>
                      <a:r>
                        <a:rPr sz="1800" spc="-85" dirty="0">
                          <a:solidFill>
                            <a:srgbClr val="006FC0"/>
                          </a:solidFill>
                          <a:latin typeface="Times New Roman"/>
                          <a:cs typeface="Times New Roman"/>
                        </a:rPr>
                        <a:t>heading; 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font-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size:14px;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9B2C1F"/>
                      </a:solidFill>
                      <a:prstDash val="solid"/>
                    </a:lnL>
                    <a:lnR w="12700">
                      <a:solidFill>
                        <a:srgbClr val="9B2C1F"/>
                      </a:solidFill>
                      <a:prstDash val="solid"/>
                    </a:lnR>
                    <a:lnT w="12700">
                      <a:solidFill>
                        <a:srgbClr val="9B2C1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1440">
                        <a:lnSpc>
                          <a:spcPts val="1960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}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9B2C1F"/>
                      </a:solidFill>
                      <a:prstDash val="solid"/>
                    </a:lnL>
                    <a:lnR w="12700">
                      <a:solidFill>
                        <a:srgbClr val="9B2C1F"/>
                      </a:solidFill>
                      <a:prstDash val="solid"/>
                    </a:lnR>
                    <a:lnB w="12700">
                      <a:solidFill>
                        <a:srgbClr val="9B2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spc="-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LESS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9B2C1F"/>
                      </a:solidFill>
                      <a:prstDash val="solid"/>
                    </a:lnL>
                    <a:lnR w="12700">
                      <a:solidFill>
                        <a:srgbClr val="9B2C1F"/>
                      </a:solidFill>
                      <a:prstDash val="solid"/>
                    </a:lnR>
                    <a:lnT w="12700">
                      <a:solidFill>
                        <a:srgbClr val="9B2C1F"/>
                      </a:solidFill>
                      <a:prstDash val="solid"/>
                    </a:lnT>
                    <a:lnB w="12700">
                      <a:solidFill>
                        <a:srgbClr val="9B2C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9B2C1F"/>
                      </a:solidFill>
                      <a:prstDash val="solid"/>
                    </a:lnL>
                    <a:lnR w="12700">
                      <a:solidFill>
                        <a:srgbClr val="9B2C1F"/>
                      </a:solidFill>
                      <a:prstDash val="solid"/>
                    </a:lnR>
                    <a:lnB w="12700">
                      <a:solidFill>
                        <a:srgbClr val="9B2C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4268723" y="3607434"/>
            <a:ext cx="690880" cy="103505"/>
          </a:xfrm>
          <a:custGeom>
            <a:avLst/>
            <a:gdLst/>
            <a:ahLst/>
            <a:cxnLst/>
            <a:rect l="l" t="t" r="r" b="b"/>
            <a:pathLst>
              <a:path w="690879" h="103504">
                <a:moveTo>
                  <a:pt x="665389" y="51688"/>
                </a:moveTo>
                <a:lnTo>
                  <a:pt x="595502" y="92456"/>
                </a:lnTo>
                <a:lnTo>
                  <a:pt x="594487" y="96265"/>
                </a:lnTo>
                <a:lnTo>
                  <a:pt x="598042" y="102362"/>
                </a:lnTo>
                <a:lnTo>
                  <a:pt x="601979" y="103377"/>
                </a:lnTo>
                <a:lnTo>
                  <a:pt x="679735" y="58038"/>
                </a:lnTo>
                <a:lnTo>
                  <a:pt x="677926" y="58038"/>
                </a:lnTo>
                <a:lnTo>
                  <a:pt x="677926" y="57150"/>
                </a:lnTo>
                <a:lnTo>
                  <a:pt x="674751" y="57150"/>
                </a:lnTo>
                <a:lnTo>
                  <a:pt x="665389" y="51688"/>
                </a:lnTo>
                <a:close/>
              </a:path>
              <a:path w="690879" h="103504">
                <a:moveTo>
                  <a:pt x="654503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654503" y="58038"/>
                </a:lnTo>
                <a:lnTo>
                  <a:pt x="665389" y="51688"/>
                </a:lnTo>
                <a:lnTo>
                  <a:pt x="654503" y="45338"/>
                </a:lnTo>
                <a:close/>
              </a:path>
              <a:path w="690879" h="103504">
                <a:moveTo>
                  <a:pt x="679735" y="45338"/>
                </a:moveTo>
                <a:lnTo>
                  <a:pt x="677926" y="45338"/>
                </a:lnTo>
                <a:lnTo>
                  <a:pt x="677926" y="58038"/>
                </a:lnTo>
                <a:lnTo>
                  <a:pt x="679735" y="58038"/>
                </a:lnTo>
                <a:lnTo>
                  <a:pt x="690626" y="51688"/>
                </a:lnTo>
                <a:lnTo>
                  <a:pt x="679735" y="45338"/>
                </a:lnTo>
                <a:close/>
              </a:path>
              <a:path w="690879" h="103504">
                <a:moveTo>
                  <a:pt x="674751" y="46227"/>
                </a:moveTo>
                <a:lnTo>
                  <a:pt x="665389" y="51688"/>
                </a:lnTo>
                <a:lnTo>
                  <a:pt x="674751" y="57150"/>
                </a:lnTo>
                <a:lnTo>
                  <a:pt x="674751" y="46227"/>
                </a:lnTo>
                <a:close/>
              </a:path>
              <a:path w="690879" h="103504">
                <a:moveTo>
                  <a:pt x="677926" y="46227"/>
                </a:moveTo>
                <a:lnTo>
                  <a:pt x="674751" y="46227"/>
                </a:lnTo>
                <a:lnTo>
                  <a:pt x="674751" y="57150"/>
                </a:lnTo>
                <a:lnTo>
                  <a:pt x="677926" y="57150"/>
                </a:lnTo>
                <a:lnTo>
                  <a:pt x="677926" y="46227"/>
                </a:lnTo>
                <a:close/>
              </a:path>
              <a:path w="690879" h="103504">
                <a:moveTo>
                  <a:pt x="601979" y="0"/>
                </a:moveTo>
                <a:lnTo>
                  <a:pt x="598042" y="1015"/>
                </a:lnTo>
                <a:lnTo>
                  <a:pt x="594487" y="7112"/>
                </a:lnTo>
                <a:lnTo>
                  <a:pt x="595502" y="10921"/>
                </a:lnTo>
                <a:lnTo>
                  <a:pt x="665389" y="51688"/>
                </a:lnTo>
                <a:lnTo>
                  <a:pt x="674751" y="46227"/>
                </a:lnTo>
                <a:lnTo>
                  <a:pt x="677926" y="46227"/>
                </a:lnTo>
                <a:lnTo>
                  <a:pt x="677926" y="45338"/>
                </a:lnTo>
                <a:lnTo>
                  <a:pt x="679735" y="45338"/>
                </a:lnTo>
                <a:lnTo>
                  <a:pt x="601979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50567" y="834516"/>
            <a:ext cx="3585210" cy="2444115"/>
          </a:xfrm>
          <a:custGeom>
            <a:avLst/>
            <a:gdLst/>
            <a:ahLst/>
            <a:cxnLst/>
            <a:rect l="l" t="t" r="r" b="b"/>
            <a:pathLst>
              <a:path w="3585210" h="2444115">
                <a:moveTo>
                  <a:pt x="3483482" y="2423795"/>
                </a:moveTo>
                <a:lnTo>
                  <a:pt x="3480434" y="2426462"/>
                </a:lnTo>
                <a:lnTo>
                  <a:pt x="3479927" y="2433447"/>
                </a:lnTo>
                <a:lnTo>
                  <a:pt x="3482593" y="2436495"/>
                </a:lnTo>
                <a:lnTo>
                  <a:pt x="3584955" y="2443607"/>
                </a:lnTo>
                <a:lnTo>
                  <a:pt x="3584107" y="2441829"/>
                </a:lnTo>
                <a:lnTo>
                  <a:pt x="3571112" y="2441829"/>
                </a:lnTo>
                <a:lnTo>
                  <a:pt x="3551559" y="2428515"/>
                </a:lnTo>
                <a:lnTo>
                  <a:pt x="3483482" y="2423795"/>
                </a:lnTo>
                <a:close/>
              </a:path>
              <a:path w="3585210" h="2444115">
                <a:moveTo>
                  <a:pt x="3551559" y="2428515"/>
                </a:moveTo>
                <a:lnTo>
                  <a:pt x="3571112" y="2441829"/>
                </a:lnTo>
                <a:lnTo>
                  <a:pt x="3572826" y="2439289"/>
                </a:lnTo>
                <a:lnTo>
                  <a:pt x="3568827" y="2439289"/>
                </a:lnTo>
                <a:lnTo>
                  <a:pt x="3564103" y="2429385"/>
                </a:lnTo>
                <a:lnTo>
                  <a:pt x="3551559" y="2428515"/>
                </a:lnTo>
                <a:close/>
              </a:path>
              <a:path w="3585210" h="2444115">
                <a:moveTo>
                  <a:pt x="3537077" y="2349627"/>
                </a:moveTo>
                <a:lnTo>
                  <a:pt x="3530727" y="2352675"/>
                </a:lnTo>
                <a:lnTo>
                  <a:pt x="3529329" y="2356485"/>
                </a:lnTo>
                <a:lnTo>
                  <a:pt x="3558655" y="2417964"/>
                </a:lnTo>
                <a:lnTo>
                  <a:pt x="3578224" y="2431288"/>
                </a:lnTo>
                <a:lnTo>
                  <a:pt x="3571112" y="2441829"/>
                </a:lnTo>
                <a:lnTo>
                  <a:pt x="3584107" y="2441829"/>
                </a:lnTo>
                <a:lnTo>
                  <a:pt x="3540759" y="2351024"/>
                </a:lnTo>
                <a:lnTo>
                  <a:pt x="3537077" y="2349627"/>
                </a:lnTo>
                <a:close/>
              </a:path>
              <a:path w="3585210" h="2444115">
                <a:moveTo>
                  <a:pt x="3564103" y="2429385"/>
                </a:moveTo>
                <a:lnTo>
                  <a:pt x="3568827" y="2439289"/>
                </a:lnTo>
                <a:lnTo>
                  <a:pt x="3575049" y="2430145"/>
                </a:lnTo>
                <a:lnTo>
                  <a:pt x="3564103" y="2429385"/>
                </a:lnTo>
                <a:close/>
              </a:path>
              <a:path w="3585210" h="2444115">
                <a:moveTo>
                  <a:pt x="3558655" y="2417964"/>
                </a:moveTo>
                <a:lnTo>
                  <a:pt x="3564103" y="2429385"/>
                </a:lnTo>
                <a:lnTo>
                  <a:pt x="3575049" y="2430145"/>
                </a:lnTo>
                <a:lnTo>
                  <a:pt x="3568827" y="2439289"/>
                </a:lnTo>
                <a:lnTo>
                  <a:pt x="3572826" y="2439289"/>
                </a:lnTo>
                <a:lnTo>
                  <a:pt x="3578224" y="2431288"/>
                </a:lnTo>
                <a:lnTo>
                  <a:pt x="3558655" y="2417964"/>
                </a:lnTo>
                <a:close/>
              </a:path>
              <a:path w="3585210" h="2444115">
                <a:moveTo>
                  <a:pt x="7111" y="0"/>
                </a:moveTo>
                <a:lnTo>
                  <a:pt x="0" y="10413"/>
                </a:lnTo>
                <a:lnTo>
                  <a:pt x="3551559" y="2428515"/>
                </a:lnTo>
                <a:lnTo>
                  <a:pt x="3564103" y="2429385"/>
                </a:lnTo>
                <a:lnTo>
                  <a:pt x="3558655" y="2417964"/>
                </a:lnTo>
                <a:lnTo>
                  <a:pt x="7111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-42925"/>
            <a:ext cx="18034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/>
              <a:t>Benefits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33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30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2000" y="1143000"/>
            <a:ext cx="6781800" cy="2679700"/>
          </a:xfrm>
          <a:custGeom>
            <a:avLst/>
            <a:gdLst/>
            <a:ahLst/>
            <a:cxnLst/>
            <a:rect l="l" t="t" r="r" b="b"/>
            <a:pathLst>
              <a:path w="6781800" h="2679700">
                <a:moveTo>
                  <a:pt x="6781800" y="0"/>
                </a:moveTo>
                <a:lnTo>
                  <a:pt x="0" y="0"/>
                </a:lnTo>
                <a:lnTo>
                  <a:pt x="0" y="2679192"/>
                </a:lnTo>
                <a:lnTo>
                  <a:pt x="6781800" y="2679192"/>
                </a:lnTo>
                <a:lnTo>
                  <a:pt x="6781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2000" y="1143000"/>
            <a:ext cx="6781800" cy="2679700"/>
          </a:xfrm>
          <a:prstGeom prst="rect">
            <a:avLst/>
          </a:prstGeom>
          <a:ln w="12700">
            <a:solidFill>
              <a:srgbClr val="9B2C1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377190" indent="-285750">
              <a:lnSpc>
                <a:spcPct val="100000"/>
              </a:lnSpc>
              <a:spcBef>
                <a:spcPts val="290"/>
              </a:spcBef>
              <a:buFont typeface="Wingdings"/>
              <a:buChar char=""/>
              <a:tabLst>
                <a:tab pos="377190" algn="l"/>
              </a:tabLst>
            </a:pPr>
            <a:r>
              <a:rPr sz="2400" spc="-10" dirty="0">
                <a:latin typeface="Times New Roman"/>
                <a:cs typeface="Times New Roman"/>
              </a:rPr>
              <a:t>Variables</a:t>
            </a:r>
            <a:endParaRPr sz="2400">
              <a:latin typeface="Times New Roman"/>
              <a:cs typeface="Times New Roman"/>
            </a:endParaRPr>
          </a:p>
          <a:p>
            <a:pPr marL="377190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77190" algn="l"/>
              </a:tabLst>
            </a:pPr>
            <a:r>
              <a:rPr sz="2400" dirty="0">
                <a:latin typeface="Times New Roman"/>
                <a:cs typeface="Times New Roman"/>
              </a:rPr>
              <a:t>Nested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Syntax</a:t>
            </a:r>
            <a:endParaRPr sz="2400">
              <a:latin typeface="Times New Roman"/>
              <a:cs typeface="Times New Roman"/>
            </a:endParaRPr>
          </a:p>
          <a:p>
            <a:pPr marL="377190" indent="-285750">
              <a:lnSpc>
                <a:spcPct val="100000"/>
              </a:lnSpc>
              <a:buFont typeface="Wingdings"/>
              <a:buChar char=""/>
              <a:tabLst>
                <a:tab pos="377190" algn="l"/>
              </a:tabLst>
            </a:pPr>
            <a:r>
              <a:rPr sz="2400" dirty="0">
                <a:latin typeface="Times New Roman"/>
                <a:cs typeface="Times New Roman"/>
              </a:rPr>
              <a:t>Partials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Imports</a:t>
            </a:r>
            <a:endParaRPr sz="2400">
              <a:latin typeface="Times New Roman"/>
              <a:cs typeface="Times New Roman"/>
            </a:endParaRPr>
          </a:p>
          <a:p>
            <a:pPr marL="377190" indent="-285750">
              <a:lnSpc>
                <a:spcPct val="100000"/>
              </a:lnSpc>
              <a:buFont typeface="Wingdings"/>
              <a:buChar char=""/>
              <a:tabLst>
                <a:tab pos="377190" algn="l"/>
              </a:tabLst>
            </a:pPr>
            <a:r>
              <a:rPr sz="2400" spc="-10" dirty="0">
                <a:latin typeface="Times New Roman"/>
                <a:cs typeface="Times New Roman"/>
              </a:rPr>
              <a:t>Mixins</a:t>
            </a:r>
            <a:endParaRPr sz="2400">
              <a:latin typeface="Times New Roman"/>
              <a:cs typeface="Times New Roman"/>
            </a:endParaRPr>
          </a:p>
          <a:p>
            <a:pPr marL="377190" indent="-285750">
              <a:lnSpc>
                <a:spcPct val="100000"/>
              </a:lnSpc>
              <a:buFont typeface="Wingdings"/>
              <a:buChar char=""/>
              <a:tabLst>
                <a:tab pos="377190" algn="l"/>
              </a:tabLst>
            </a:pPr>
            <a:r>
              <a:rPr sz="2400" dirty="0">
                <a:latin typeface="Times New Roman"/>
                <a:cs typeface="Times New Roman"/>
              </a:rPr>
              <a:t>Extend/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Inheritance</a:t>
            </a:r>
            <a:endParaRPr sz="2400">
              <a:latin typeface="Times New Roman"/>
              <a:cs typeface="Times New Roman"/>
            </a:endParaRPr>
          </a:p>
          <a:p>
            <a:pPr marL="377190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77190" algn="l"/>
              </a:tabLst>
            </a:pPr>
            <a:r>
              <a:rPr sz="2400" spc="-10" dirty="0">
                <a:latin typeface="Times New Roman"/>
                <a:cs typeface="Times New Roman"/>
              </a:rPr>
              <a:t>Operators</a:t>
            </a:r>
            <a:endParaRPr sz="2400">
              <a:latin typeface="Times New Roman"/>
              <a:cs typeface="Times New Roman"/>
            </a:endParaRPr>
          </a:p>
          <a:p>
            <a:pPr marL="377190" indent="-285750">
              <a:lnSpc>
                <a:spcPct val="100000"/>
              </a:lnSpc>
              <a:buFont typeface="Wingdings"/>
              <a:buChar char=""/>
              <a:tabLst>
                <a:tab pos="377190" algn="l"/>
              </a:tabLst>
            </a:pPr>
            <a:r>
              <a:rPr sz="2400" spc="-10" dirty="0">
                <a:latin typeface="Times New Roman"/>
                <a:cs typeface="Times New Roman"/>
              </a:rPr>
              <a:t>Functions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-42925"/>
            <a:ext cx="19939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40" dirty="0"/>
              <a:t>Variables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1924" y="6319215"/>
            <a:ext cx="21462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6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31</a:t>
            </a:r>
            <a:endParaRPr sz="1400">
              <a:latin typeface="Franklin Gothic Medium"/>
              <a:cs typeface="Franklin Gothic Mediu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866" y="1055242"/>
            <a:ext cx="341376" cy="25603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29513" y="2051050"/>
            <a:ext cx="8035290" cy="4584700"/>
            <a:chOff x="429513" y="2051050"/>
            <a:chExt cx="8035290" cy="4584700"/>
          </a:xfrm>
        </p:grpSpPr>
        <p:sp>
          <p:nvSpPr>
            <p:cNvPr id="7" name="object 7"/>
            <p:cNvSpPr/>
            <p:nvPr/>
          </p:nvSpPr>
          <p:spPr>
            <a:xfrm>
              <a:off x="435863" y="2057400"/>
              <a:ext cx="4097020" cy="2307590"/>
            </a:xfrm>
            <a:custGeom>
              <a:avLst/>
              <a:gdLst/>
              <a:ahLst/>
              <a:cxnLst/>
              <a:rect l="l" t="t" r="r" b="b"/>
              <a:pathLst>
                <a:path w="4097020" h="2307590">
                  <a:moveTo>
                    <a:pt x="4096512" y="0"/>
                  </a:moveTo>
                  <a:lnTo>
                    <a:pt x="0" y="0"/>
                  </a:lnTo>
                  <a:lnTo>
                    <a:pt x="0" y="2307336"/>
                  </a:lnTo>
                  <a:lnTo>
                    <a:pt x="4096512" y="2307336"/>
                  </a:lnTo>
                  <a:lnTo>
                    <a:pt x="4096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5863" y="2057400"/>
              <a:ext cx="4097020" cy="2307590"/>
            </a:xfrm>
            <a:custGeom>
              <a:avLst/>
              <a:gdLst/>
              <a:ahLst/>
              <a:cxnLst/>
              <a:rect l="l" t="t" r="r" b="b"/>
              <a:pathLst>
                <a:path w="4097020" h="2307590">
                  <a:moveTo>
                    <a:pt x="0" y="2307336"/>
                  </a:moveTo>
                  <a:lnTo>
                    <a:pt x="4096512" y="2307336"/>
                  </a:lnTo>
                  <a:lnTo>
                    <a:pt x="4096512" y="0"/>
                  </a:lnTo>
                  <a:lnTo>
                    <a:pt x="0" y="0"/>
                  </a:lnTo>
                  <a:lnTo>
                    <a:pt x="0" y="2307336"/>
                  </a:lnTo>
                  <a:close/>
                </a:path>
              </a:pathLst>
            </a:custGeom>
            <a:ln w="127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6199" y="5059679"/>
              <a:ext cx="4572000" cy="1569720"/>
            </a:xfrm>
            <a:custGeom>
              <a:avLst/>
              <a:gdLst/>
              <a:ahLst/>
              <a:cxnLst/>
              <a:rect l="l" t="t" r="r" b="b"/>
              <a:pathLst>
                <a:path w="4572000" h="1569720">
                  <a:moveTo>
                    <a:pt x="4572000" y="0"/>
                  </a:moveTo>
                  <a:lnTo>
                    <a:pt x="0" y="0"/>
                  </a:lnTo>
                  <a:lnTo>
                    <a:pt x="0" y="1569720"/>
                  </a:lnTo>
                  <a:lnTo>
                    <a:pt x="4572000" y="156972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86199" y="5059679"/>
              <a:ext cx="4572000" cy="1569720"/>
            </a:xfrm>
            <a:custGeom>
              <a:avLst/>
              <a:gdLst/>
              <a:ahLst/>
              <a:cxnLst/>
              <a:rect l="l" t="t" r="r" b="b"/>
              <a:pathLst>
                <a:path w="4572000" h="1569720">
                  <a:moveTo>
                    <a:pt x="0" y="1569720"/>
                  </a:moveTo>
                  <a:lnTo>
                    <a:pt x="4572000" y="1569720"/>
                  </a:lnTo>
                  <a:lnTo>
                    <a:pt x="4572000" y="0"/>
                  </a:lnTo>
                  <a:lnTo>
                    <a:pt x="0" y="0"/>
                  </a:lnTo>
                  <a:lnTo>
                    <a:pt x="0" y="1569720"/>
                  </a:lnTo>
                  <a:close/>
                </a:path>
              </a:pathLst>
            </a:custGeom>
            <a:ln w="127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92550" y="5051501"/>
            <a:ext cx="455930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sz="2400" spc="-155" dirty="0">
                <a:latin typeface="Times New Roman"/>
                <a:cs typeface="Times New Roman"/>
              </a:rPr>
              <a:t>body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86360" marR="873760">
              <a:lnSpc>
                <a:spcPct val="100000"/>
              </a:lnSpc>
              <a:spcBef>
                <a:spcPts val="5"/>
              </a:spcBef>
            </a:pPr>
            <a:r>
              <a:rPr sz="2400" spc="-70" dirty="0">
                <a:latin typeface="Times New Roman"/>
                <a:cs typeface="Times New Roman"/>
              </a:rPr>
              <a:t>font: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100%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Helvetica,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sans-</a:t>
            </a:r>
            <a:r>
              <a:rPr sz="2400" spc="-70" dirty="0">
                <a:latin typeface="Times New Roman"/>
                <a:cs typeface="Times New Roman"/>
              </a:rPr>
              <a:t>serif; </a:t>
            </a:r>
            <a:r>
              <a:rPr sz="2400" spc="-80" dirty="0">
                <a:latin typeface="Times New Roman"/>
                <a:cs typeface="Times New Roman"/>
              </a:rPr>
              <a:t>color: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#333;</a:t>
            </a:r>
            <a:endParaRPr sz="24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9513" y="1685289"/>
            <a:ext cx="4130675" cy="3378200"/>
            <a:chOff x="429513" y="1685289"/>
            <a:chExt cx="4130675" cy="3378200"/>
          </a:xfrm>
        </p:grpSpPr>
        <p:sp>
          <p:nvSpPr>
            <p:cNvPr id="13" name="object 13"/>
            <p:cNvSpPr/>
            <p:nvPr/>
          </p:nvSpPr>
          <p:spPr>
            <a:xfrm>
              <a:off x="3895343" y="4687823"/>
              <a:ext cx="658495" cy="368935"/>
            </a:xfrm>
            <a:custGeom>
              <a:avLst/>
              <a:gdLst/>
              <a:ahLst/>
              <a:cxnLst/>
              <a:rect l="l" t="t" r="r" b="b"/>
              <a:pathLst>
                <a:path w="658495" h="368935">
                  <a:moveTo>
                    <a:pt x="658368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658368" y="368807"/>
                  </a:lnTo>
                  <a:lnTo>
                    <a:pt x="6583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95343" y="4687823"/>
              <a:ext cx="658495" cy="368935"/>
            </a:xfrm>
            <a:custGeom>
              <a:avLst/>
              <a:gdLst/>
              <a:ahLst/>
              <a:cxnLst/>
              <a:rect l="l" t="t" r="r" b="b"/>
              <a:pathLst>
                <a:path w="658495" h="368935">
                  <a:moveTo>
                    <a:pt x="0" y="368807"/>
                  </a:moveTo>
                  <a:lnTo>
                    <a:pt x="658368" y="368807"/>
                  </a:lnTo>
                  <a:lnTo>
                    <a:pt x="658368" y="0"/>
                  </a:lnTo>
                  <a:lnTo>
                    <a:pt x="0" y="0"/>
                  </a:lnTo>
                  <a:lnTo>
                    <a:pt x="0" y="368807"/>
                  </a:lnTo>
                  <a:close/>
                </a:path>
              </a:pathLst>
            </a:custGeom>
            <a:ln w="12700">
              <a:solidFill>
                <a:srgbClr val="9B2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863" y="1691639"/>
              <a:ext cx="609600" cy="372110"/>
            </a:xfrm>
            <a:custGeom>
              <a:avLst/>
              <a:gdLst/>
              <a:ahLst/>
              <a:cxnLst/>
              <a:rect l="l" t="t" r="r" b="b"/>
              <a:pathLst>
                <a:path w="609600" h="372110">
                  <a:moveTo>
                    <a:pt x="609599" y="0"/>
                  </a:moveTo>
                  <a:lnTo>
                    <a:pt x="0" y="0"/>
                  </a:lnTo>
                  <a:lnTo>
                    <a:pt x="0" y="371855"/>
                  </a:lnTo>
                  <a:lnTo>
                    <a:pt x="609599" y="371855"/>
                  </a:lnTo>
                  <a:lnTo>
                    <a:pt x="609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5863" y="1691639"/>
              <a:ext cx="609600" cy="372110"/>
            </a:xfrm>
            <a:custGeom>
              <a:avLst/>
              <a:gdLst/>
              <a:ahLst/>
              <a:cxnLst/>
              <a:rect l="l" t="t" r="r" b="b"/>
              <a:pathLst>
                <a:path w="609600" h="372110">
                  <a:moveTo>
                    <a:pt x="0" y="371855"/>
                  </a:moveTo>
                  <a:lnTo>
                    <a:pt x="609599" y="371855"/>
                  </a:lnTo>
                  <a:lnTo>
                    <a:pt x="609599" y="0"/>
                  </a:lnTo>
                  <a:lnTo>
                    <a:pt x="0" y="0"/>
                  </a:lnTo>
                  <a:lnTo>
                    <a:pt x="0" y="371855"/>
                  </a:lnTo>
                  <a:close/>
                </a:path>
              </a:pathLst>
            </a:custGeom>
            <a:ln w="12700">
              <a:solidFill>
                <a:srgbClr val="9B2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6166" y="1018159"/>
            <a:ext cx="8212455" cy="3971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01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use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variables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store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repeatedly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used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styling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parameters</a:t>
            </a:r>
            <a:r>
              <a:rPr sz="1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some </a:t>
            </a:r>
            <a:r>
              <a:rPr sz="1800" dirty="0">
                <a:latin typeface="Arial MT"/>
                <a:cs typeface="Arial MT"/>
              </a:rPr>
              <a:t>manipulations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it.</a:t>
            </a:r>
            <a:endParaRPr sz="1800">
              <a:latin typeface="Arial MT"/>
              <a:cs typeface="Arial MT"/>
            </a:endParaRPr>
          </a:p>
          <a:p>
            <a:pPr marL="160020">
              <a:lnSpc>
                <a:spcPct val="100000"/>
              </a:lnSpc>
              <a:spcBef>
                <a:spcPts val="990"/>
              </a:spcBef>
            </a:pP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SASS</a:t>
            </a:r>
            <a:endParaRPr sz="180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  <a:spcBef>
                <a:spcPts val="640"/>
              </a:spcBef>
            </a:pPr>
            <a:r>
              <a:rPr sz="2400" spc="-95" dirty="0">
                <a:solidFill>
                  <a:srgbClr val="00AF50"/>
                </a:solidFill>
                <a:latin typeface="Times New Roman"/>
                <a:cs typeface="Times New Roman"/>
              </a:rPr>
              <a:t>$font-</a:t>
            </a:r>
            <a:r>
              <a:rPr sz="2400" spc="-105" dirty="0">
                <a:solidFill>
                  <a:srgbClr val="00AF50"/>
                </a:solidFill>
                <a:latin typeface="Times New Roman"/>
                <a:cs typeface="Times New Roman"/>
              </a:rPr>
              <a:t>stack:</a:t>
            </a:r>
            <a:r>
              <a:rPr sz="240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Helvetica, </a:t>
            </a:r>
            <a:r>
              <a:rPr sz="2400" spc="-155" dirty="0">
                <a:latin typeface="Times New Roman"/>
                <a:cs typeface="Times New Roman"/>
              </a:rPr>
              <a:t>sans-</a:t>
            </a:r>
            <a:r>
              <a:rPr sz="2400" spc="-10" dirty="0">
                <a:latin typeface="Times New Roman"/>
                <a:cs typeface="Times New Roman"/>
              </a:rPr>
              <a:t>serif;</a:t>
            </a:r>
            <a:endParaRPr sz="2400">
              <a:latin typeface="Times New Roman"/>
              <a:cs typeface="Times New Roman"/>
            </a:endParaRPr>
          </a:p>
          <a:p>
            <a:pPr marL="160020" marR="5490845">
              <a:lnSpc>
                <a:spcPct val="100000"/>
              </a:lnSpc>
              <a:spcBef>
                <a:spcPts val="5"/>
              </a:spcBef>
            </a:pPr>
            <a:r>
              <a:rPr sz="2400" spc="-100" dirty="0">
                <a:solidFill>
                  <a:srgbClr val="6F2F9F"/>
                </a:solidFill>
                <a:latin typeface="Times New Roman"/>
                <a:cs typeface="Times New Roman"/>
              </a:rPr>
              <a:t>$primary-</a:t>
            </a:r>
            <a:r>
              <a:rPr sz="2400" spc="-80" dirty="0">
                <a:solidFill>
                  <a:srgbClr val="6F2F9F"/>
                </a:solidFill>
                <a:latin typeface="Times New Roman"/>
                <a:cs typeface="Times New Roman"/>
              </a:rPr>
              <a:t>color:</a:t>
            </a:r>
            <a:r>
              <a:rPr sz="2400" spc="-4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#333; </a:t>
            </a:r>
            <a:r>
              <a:rPr sz="2400" spc="-155" dirty="0">
                <a:solidFill>
                  <a:srgbClr val="FF9900"/>
                </a:solidFill>
                <a:latin typeface="Times New Roman"/>
                <a:cs typeface="Times New Roman"/>
              </a:rPr>
              <a:t>body</a:t>
            </a:r>
            <a:r>
              <a:rPr sz="2400" spc="-45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60020" marR="5413375">
              <a:lnSpc>
                <a:spcPct val="100000"/>
              </a:lnSpc>
            </a:pPr>
            <a:r>
              <a:rPr sz="2400" spc="-70" dirty="0">
                <a:latin typeface="Times New Roman"/>
                <a:cs typeface="Times New Roman"/>
              </a:rPr>
              <a:t>font: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100%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00AF50"/>
                </a:solidFill>
                <a:latin typeface="Times New Roman"/>
                <a:cs typeface="Times New Roman"/>
              </a:rPr>
              <a:t>$font-</a:t>
            </a:r>
            <a:r>
              <a:rPr sz="2400" spc="-90" dirty="0">
                <a:solidFill>
                  <a:srgbClr val="00AF50"/>
                </a:solidFill>
                <a:latin typeface="Times New Roman"/>
                <a:cs typeface="Times New Roman"/>
              </a:rPr>
              <a:t>stack; </a:t>
            </a:r>
            <a:r>
              <a:rPr sz="2400" spc="-80" dirty="0">
                <a:latin typeface="Times New Roman"/>
                <a:cs typeface="Times New Roman"/>
              </a:rPr>
              <a:t>color: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6F2F9F"/>
                </a:solidFill>
                <a:latin typeface="Times New Roman"/>
                <a:cs typeface="Times New Roman"/>
              </a:rPr>
              <a:t>$primary-</a:t>
            </a:r>
            <a:r>
              <a:rPr sz="2400" spc="-10" dirty="0">
                <a:solidFill>
                  <a:srgbClr val="6F2F9F"/>
                </a:solidFill>
                <a:latin typeface="Times New Roman"/>
                <a:cs typeface="Times New Roman"/>
              </a:rPr>
              <a:t>color</a:t>
            </a:r>
            <a:r>
              <a:rPr sz="2400" spc="-10" dirty="0"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400">
              <a:latin typeface="Times New Roman"/>
              <a:cs typeface="Times New Roman"/>
            </a:endParaRPr>
          </a:p>
          <a:p>
            <a:pPr marR="632460" algn="ctr">
              <a:lnSpc>
                <a:spcPct val="100000"/>
              </a:lnSpc>
            </a:pP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CSS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33900" y="3185541"/>
            <a:ext cx="1768475" cy="1877060"/>
          </a:xfrm>
          <a:custGeom>
            <a:avLst/>
            <a:gdLst/>
            <a:ahLst/>
            <a:cxnLst/>
            <a:rect l="l" t="t" r="r" b="b"/>
            <a:pathLst>
              <a:path w="1768475" h="1877060">
                <a:moveTo>
                  <a:pt x="1536241" y="1620069"/>
                </a:moveTo>
                <a:lnTo>
                  <a:pt x="1525524" y="1623695"/>
                </a:lnTo>
                <a:lnTo>
                  <a:pt x="1517005" y="1631271"/>
                </a:lnTo>
                <a:lnTo>
                  <a:pt x="1512236" y="1641157"/>
                </a:lnTo>
                <a:lnTo>
                  <a:pt x="1511540" y="1652091"/>
                </a:lnTo>
                <a:lnTo>
                  <a:pt x="1515237" y="1662811"/>
                </a:lnTo>
                <a:lnTo>
                  <a:pt x="1639824" y="1876552"/>
                </a:lnTo>
                <a:lnTo>
                  <a:pt x="1672947" y="1819783"/>
                </a:lnTo>
                <a:lnTo>
                  <a:pt x="1611249" y="1819783"/>
                </a:lnTo>
                <a:lnTo>
                  <a:pt x="1611249" y="1714050"/>
                </a:lnTo>
                <a:lnTo>
                  <a:pt x="1564513" y="1633982"/>
                </a:lnTo>
                <a:lnTo>
                  <a:pt x="1557010" y="1625534"/>
                </a:lnTo>
                <a:lnTo>
                  <a:pt x="1547161" y="1620789"/>
                </a:lnTo>
                <a:lnTo>
                  <a:pt x="1536241" y="1620069"/>
                </a:lnTo>
                <a:close/>
              </a:path>
              <a:path w="1768475" h="1877060">
                <a:moveTo>
                  <a:pt x="1611376" y="1714267"/>
                </a:moveTo>
                <a:lnTo>
                  <a:pt x="1611249" y="1819783"/>
                </a:lnTo>
                <a:lnTo>
                  <a:pt x="1668399" y="1819783"/>
                </a:lnTo>
                <a:lnTo>
                  <a:pt x="1668399" y="1805432"/>
                </a:lnTo>
                <a:lnTo>
                  <a:pt x="1615186" y="1805432"/>
                </a:lnTo>
                <a:lnTo>
                  <a:pt x="1639887" y="1763113"/>
                </a:lnTo>
                <a:lnTo>
                  <a:pt x="1611376" y="1714267"/>
                </a:lnTo>
                <a:close/>
              </a:path>
              <a:path w="1768475" h="1877060">
                <a:moveTo>
                  <a:pt x="1743533" y="1620069"/>
                </a:moveTo>
                <a:lnTo>
                  <a:pt x="1668526" y="1714050"/>
                </a:lnTo>
                <a:lnTo>
                  <a:pt x="1668399" y="1819783"/>
                </a:lnTo>
                <a:lnTo>
                  <a:pt x="1672947" y="1819783"/>
                </a:lnTo>
                <a:lnTo>
                  <a:pt x="1764538" y="1662811"/>
                </a:lnTo>
                <a:lnTo>
                  <a:pt x="1768234" y="1652091"/>
                </a:lnTo>
                <a:lnTo>
                  <a:pt x="1767538" y="1641157"/>
                </a:lnTo>
                <a:lnTo>
                  <a:pt x="1762769" y="1631271"/>
                </a:lnTo>
                <a:lnTo>
                  <a:pt x="1754251" y="1623695"/>
                </a:lnTo>
                <a:lnTo>
                  <a:pt x="1743533" y="1620069"/>
                </a:lnTo>
                <a:close/>
              </a:path>
              <a:path w="1768475" h="1877060">
                <a:moveTo>
                  <a:pt x="1639887" y="1763113"/>
                </a:moveTo>
                <a:lnTo>
                  <a:pt x="1615186" y="1805432"/>
                </a:lnTo>
                <a:lnTo>
                  <a:pt x="1664589" y="1805432"/>
                </a:lnTo>
                <a:lnTo>
                  <a:pt x="1639887" y="1763113"/>
                </a:lnTo>
                <a:close/>
              </a:path>
              <a:path w="1768475" h="1877060">
                <a:moveTo>
                  <a:pt x="1668399" y="1714267"/>
                </a:moveTo>
                <a:lnTo>
                  <a:pt x="1639887" y="1763113"/>
                </a:lnTo>
                <a:lnTo>
                  <a:pt x="1664589" y="1805432"/>
                </a:lnTo>
                <a:lnTo>
                  <a:pt x="1668399" y="1805432"/>
                </a:lnTo>
                <a:lnTo>
                  <a:pt x="1668399" y="1714267"/>
                </a:lnTo>
                <a:close/>
              </a:path>
              <a:path w="1768475" h="1877060">
                <a:moveTo>
                  <a:pt x="1611249" y="28575"/>
                </a:moveTo>
                <a:lnTo>
                  <a:pt x="1611376" y="1714267"/>
                </a:lnTo>
                <a:lnTo>
                  <a:pt x="1639887" y="1763113"/>
                </a:lnTo>
                <a:lnTo>
                  <a:pt x="1668399" y="1714267"/>
                </a:lnTo>
                <a:lnTo>
                  <a:pt x="1668399" y="57150"/>
                </a:lnTo>
                <a:lnTo>
                  <a:pt x="1639824" y="57150"/>
                </a:lnTo>
                <a:lnTo>
                  <a:pt x="1611249" y="28575"/>
                </a:lnTo>
                <a:close/>
              </a:path>
              <a:path w="1768475" h="1877060">
                <a:moveTo>
                  <a:pt x="1639824" y="0"/>
                </a:moveTo>
                <a:lnTo>
                  <a:pt x="0" y="0"/>
                </a:lnTo>
                <a:lnTo>
                  <a:pt x="0" y="57150"/>
                </a:lnTo>
                <a:lnTo>
                  <a:pt x="1611249" y="57150"/>
                </a:lnTo>
                <a:lnTo>
                  <a:pt x="1611249" y="28575"/>
                </a:lnTo>
                <a:lnTo>
                  <a:pt x="1668399" y="28575"/>
                </a:lnTo>
                <a:lnTo>
                  <a:pt x="1666166" y="17466"/>
                </a:lnTo>
                <a:lnTo>
                  <a:pt x="1660064" y="8382"/>
                </a:lnTo>
                <a:lnTo>
                  <a:pt x="1650986" y="2250"/>
                </a:lnTo>
                <a:lnTo>
                  <a:pt x="1639824" y="0"/>
                </a:lnTo>
                <a:close/>
              </a:path>
              <a:path w="1768475" h="1877060">
                <a:moveTo>
                  <a:pt x="1668399" y="28575"/>
                </a:moveTo>
                <a:lnTo>
                  <a:pt x="1611249" y="28575"/>
                </a:lnTo>
                <a:lnTo>
                  <a:pt x="1639824" y="57150"/>
                </a:lnTo>
                <a:lnTo>
                  <a:pt x="1668399" y="57150"/>
                </a:lnTo>
                <a:lnTo>
                  <a:pt x="1668399" y="2857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-42925"/>
            <a:ext cx="16592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0" dirty="0"/>
              <a:t>Nesting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849114" y="1209802"/>
            <a:ext cx="3822700" cy="4907915"/>
            <a:chOff x="4849114" y="1209802"/>
            <a:chExt cx="3822700" cy="4907915"/>
          </a:xfrm>
        </p:grpSpPr>
        <p:sp>
          <p:nvSpPr>
            <p:cNvPr id="5" name="object 5"/>
            <p:cNvSpPr/>
            <p:nvPr/>
          </p:nvSpPr>
          <p:spPr>
            <a:xfrm>
              <a:off x="4855464" y="1216152"/>
              <a:ext cx="3810000" cy="4895215"/>
            </a:xfrm>
            <a:custGeom>
              <a:avLst/>
              <a:gdLst/>
              <a:ahLst/>
              <a:cxnLst/>
              <a:rect l="l" t="t" r="r" b="b"/>
              <a:pathLst>
                <a:path w="3810000" h="4895215">
                  <a:moveTo>
                    <a:pt x="3809999" y="0"/>
                  </a:moveTo>
                  <a:lnTo>
                    <a:pt x="0" y="0"/>
                  </a:lnTo>
                  <a:lnTo>
                    <a:pt x="0" y="4895088"/>
                  </a:lnTo>
                  <a:lnTo>
                    <a:pt x="3809999" y="4895088"/>
                  </a:lnTo>
                  <a:lnTo>
                    <a:pt x="3809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55464" y="1216152"/>
              <a:ext cx="3810000" cy="4895215"/>
            </a:xfrm>
            <a:custGeom>
              <a:avLst/>
              <a:gdLst/>
              <a:ahLst/>
              <a:cxnLst/>
              <a:rect l="l" t="t" r="r" b="b"/>
              <a:pathLst>
                <a:path w="3810000" h="4895215">
                  <a:moveTo>
                    <a:pt x="0" y="4895088"/>
                  </a:moveTo>
                  <a:lnTo>
                    <a:pt x="3809999" y="4895088"/>
                  </a:lnTo>
                  <a:lnTo>
                    <a:pt x="3809999" y="0"/>
                  </a:lnTo>
                  <a:lnTo>
                    <a:pt x="0" y="0"/>
                  </a:lnTo>
                  <a:lnTo>
                    <a:pt x="0" y="4895088"/>
                  </a:lnTo>
                  <a:close/>
                </a:path>
              </a:pathLst>
            </a:custGeom>
            <a:ln w="127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3985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</a:rPr>
              <a:t>navul</a:t>
            </a:r>
            <a:r>
              <a:rPr spc="-10" dirty="0"/>
              <a:t>{ </a:t>
            </a:r>
            <a:r>
              <a:rPr spc="-100" dirty="0"/>
              <a:t>margin:</a:t>
            </a:r>
            <a:r>
              <a:rPr spc="-114" dirty="0"/>
              <a:t> </a:t>
            </a:r>
            <a:r>
              <a:rPr spc="-40" dirty="0"/>
              <a:t>0;</a:t>
            </a:r>
          </a:p>
          <a:p>
            <a:pPr marL="12700">
              <a:lnSpc>
                <a:spcPct val="100000"/>
              </a:lnSpc>
            </a:pPr>
            <a:r>
              <a:rPr spc="-120" dirty="0"/>
              <a:t>padding:</a:t>
            </a:r>
            <a:r>
              <a:rPr spc="-130" dirty="0"/>
              <a:t> </a:t>
            </a:r>
            <a:r>
              <a:rPr spc="-25" dirty="0"/>
              <a:t>0;</a:t>
            </a:r>
          </a:p>
          <a:p>
            <a:pPr marL="12700">
              <a:lnSpc>
                <a:spcPct val="100000"/>
              </a:lnSpc>
            </a:pPr>
            <a:r>
              <a:rPr spc="-95" dirty="0"/>
              <a:t>list-style:</a:t>
            </a:r>
            <a:r>
              <a:rPr spc="-65" dirty="0"/>
              <a:t> </a:t>
            </a:r>
            <a:r>
              <a:rPr spc="-10" dirty="0"/>
              <a:t>none;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0" dirty="0"/>
              <a:t>}</a:t>
            </a:r>
          </a:p>
          <a:p>
            <a:pPr marL="12700">
              <a:lnSpc>
                <a:spcPct val="100000"/>
              </a:lnSpc>
            </a:pPr>
            <a:r>
              <a:rPr spc="-160" dirty="0">
                <a:solidFill>
                  <a:srgbClr val="FF0000"/>
                </a:solidFill>
              </a:rPr>
              <a:t>navli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50" dirty="0"/>
              <a:t>{</a:t>
            </a:r>
          </a:p>
          <a:p>
            <a:pPr marL="12700">
              <a:lnSpc>
                <a:spcPct val="100000"/>
              </a:lnSpc>
            </a:pPr>
            <a:r>
              <a:rPr spc="-140" dirty="0"/>
              <a:t>display:</a:t>
            </a:r>
            <a:r>
              <a:rPr spc="-85" dirty="0"/>
              <a:t> </a:t>
            </a:r>
            <a:r>
              <a:rPr spc="-100" dirty="0"/>
              <a:t>inline-</a:t>
            </a:r>
            <a:r>
              <a:rPr spc="-10" dirty="0"/>
              <a:t>block;</a:t>
            </a:r>
          </a:p>
          <a:p>
            <a:pPr marL="12700">
              <a:lnSpc>
                <a:spcPct val="100000"/>
              </a:lnSpc>
            </a:pPr>
            <a:r>
              <a:rPr spc="-50" dirty="0"/>
              <a:t>}</a:t>
            </a:r>
          </a:p>
          <a:p>
            <a:pPr marL="12700" marR="913130">
              <a:lnSpc>
                <a:spcPct val="100000"/>
              </a:lnSpc>
            </a:pPr>
            <a:r>
              <a:rPr spc="-204" dirty="0"/>
              <a:t>nava</a:t>
            </a:r>
            <a:r>
              <a:rPr spc="-65" dirty="0"/>
              <a:t> </a:t>
            </a:r>
            <a:r>
              <a:rPr spc="-50" dirty="0"/>
              <a:t>{</a:t>
            </a:r>
            <a:r>
              <a:rPr spc="600" dirty="0"/>
              <a:t> </a:t>
            </a:r>
            <a:r>
              <a:rPr spc="-140" dirty="0"/>
              <a:t>display:</a:t>
            </a:r>
            <a:r>
              <a:rPr spc="-130" dirty="0"/>
              <a:t> </a:t>
            </a:r>
            <a:r>
              <a:rPr spc="-95" dirty="0"/>
              <a:t>block;</a:t>
            </a: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pc="-120" dirty="0"/>
              <a:t>padding:</a:t>
            </a:r>
            <a:r>
              <a:rPr spc="-165" dirty="0"/>
              <a:t> </a:t>
            </a:r>
            <a:r>
              <a:rPr spc="-110" dirty="0"/>
              <a:t>6px</a:t>
            </a:r>
            <a:r>
              <a:rPr spc="-10" dirty="0"/>
              <a:t> 12px; </a:t>
            </a:r>
            <a:r>
              <a:rPr spc="-50" dirty="0"/>
              <a:t>text-</a:t>
            </a:r>
            <a:r>
              <a:rPr spc="-90" dirty="0"/>
              <a:t>decoration:</a:t>
            </a:r>
            <a:r>
              <a:rPr spc="-70" dirty="0"/>
              <a:t> </a:t>
            </a:r>
            <a:r>
              <a:rPr spc="-55" dirty="0"/>
              <a:t>none;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0" dirty="0"/>
              <a:t>}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855209" y="840994"/>
            <a:ext cx="564515" cy="381635"/>
            <a:chOff x="4855209" y="840994"/>
            <a:chExt cx="564515" cy="381635"/>
          </a:xfrm>
        </p:grpSpPr>
        <p:sp>
          <p:nvSpPr>
            <p:cNvPr id="9" name="object 9"/>
            <p:cNvSpPr/>
            <p:nvPr/>
          </p:nvSpPr>
          <p:spPr>
            <a:xfrm>
              <a:off x="4861559" y="847344"/>
              <a:ext cx="551815" cy="368935"/>
            </a:xfrm>
            <a:custGeom>
              <a:avLst/>
              <a:gdLst/>
              <a:ahLst/>
              <a:cxnLst/>
              <a:rect l="l" t="t" r="r" b="b"/>
              <a:pathLst>
                <a:path w="551814" h="368934">
                  <a:moveTo>
                    <a:pt x="551688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551688" y="368808"/>
                  </a:lnTo>
                  <a:lnTo>
                    <a:pt x="5516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61559" y="847344"/>
              <a:ext cx="551815" cy="368935"/>
            </a:xfrm>
            <a:custGeom>
              <a:avLst/>
              <a:gdLst/>
              <a:ahLst/>
              <a:cxnLst/>
              <a:rect l="l" t="t" r="r" b="b"/>
              <a:pathLst>
                <a:path w="551814" h="368934">
                  <a:moveTo>
                    <a:pt x="0" y="368808"/>
                  </a:moveTo>
                  <a:lnTo>
                    <a:pt x="551688" y="368808"/>
                  </a:lnTo>
                  <a:lnTo>
                    <a:pt x="551688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12700">
              <a:solidFill>
                <a:srgbClr val="9B2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43094" y="846201"/>
            <a:ext cx="35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90" dirty="0">
                <a:solidFill>
                  <a:srgbClr val="FF0000"/>
                </a:solidFill>
                <a:latin typeface="Times New Roman"/>
                <a:cs typeface="Times New Roman"/>
              </a:rPr>
              <a:t>CSS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5129" y="831850"/>
            <a:ext cx="3639820" cy="5273675"/>
            <a:chOff x="405129" y="831850"/>
            <a:chExt cx="3639820" cy="5273675"/>
          </a:xfrm>
        </p:grpSpPr>
        <p:sp>
          <p:nvSpPr>
            <p:cNvPr id="13" name="object 13"/>
            <p:cNvSpPr/>
            <p:nvPr/>
          </p:nvSpPr>
          <p:spPr>
            <a:xfrm>
              <a:off x="411479" y="1203959"/>
              <a:ext cx="3627120" cy="4895215"/>
            </a:xfrm>
            <a:custGeom>
              <a:avLst/>
              <a:gdLst/>
              <a:ahLst/>
              <a:cxnLst/>
              <a:rect l="l" t="t" r="r" b="b"/>
              <a:pathLst>
                <a:path w="3627120" h="4895215">
                  <a:moveTo>
                    <a:pt x="3627120" y="0"/>
                  </a:moveTo>
                  <a:lnTo>
                    <a:pt x="0" y="0"/>
                  </a:lnTo>
                  <a:lnTo>
                    <a:pt x="0" y="4895088"/>
                  </a:lnTo>
                  <a:lnTo>
                    <a:pt x="3627120" y="4895088"/>
                  </a:lnTo>
                  <a:lnTo>
                    <a:pt x="3627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1479" y="1203959"/>
              <a:ext cx="3627120" cy="4895215"/>
            </a:xfrm>
            <a:custGeom>
              <a:avLst/>
              <a:gdLst/>
              <a:ahLst/>
              <a:cxnLst/>
              <a:rect l="l" t="t" r="r" b="b"/>
              <a:pathLst>
                <a:path w="3627120" h="4895215">
                  <a:moveTo>
                    <a:pt x="0" y="4895088"/>
                  </a:moveTo>
                  <a:lnTo>
                    <a:pt x="3627120" y="4895088"/>
                  </a:lnTo>
                  <a:lnTo>
                    <a:pt x="3627120" y="0"/>
                  </a:lnTo>
                  <a:lnTo>
                    <a:pt x="0" y="0"/>
                  </a:lnTo>
                  <a:lnTo>
                    <a:pt x="0" y="4895088"/>
                  </a:lnTo>
                  <a:close/>
                </a:path>
              </a:pathLst>
            </a:custGeom>
            <a:ln w="127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1479" y="838200"/>
              <a:ext cx="542925" cy="368935"/>
            </a:xfrm>
            <a:custGeom>
              <a:avLst/>
              <a:gdLst/>
              <a:ahLst/>
              <a:cxnLst/>
              <a:rect l="l" t="t" r="r" b="b"/>
              <a:pathLst>
                <a:path w="542925" h="368934">
                  <a:moveTo>
                    <a:pt x="542544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542544" y="368808"/>
                  </a:lnTo>
                  <a:lnTo>
                    <a:pt x="542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1479" y="838200"/>
              <a:ext cx="542925" cy="368935"/>
            </a:xfrm>
            <a:custGeom>
              <a:avLst/>
              <a:gdLst/>
              <a:ahLst/>
              <a:cxnLst/>
              <a:rect l="l" t="t" r="r" b="b"/>
              <a:pathLst>
                <a:path w="542925" h="368934">
                  <a:moveTo>
                    <a:pt x="0" y="368808"/>
                  </a:moveTo>
                  <a:lnTo>
                    <a:pt x="542544" y="368808"/>
                  </a:lnTo>
                  <a:lnTo>
                    <a:pt x="542544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12700">
              <a:solidFill>
                <a:srgbClr val="9B2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7830" y="777081"/>
            <a:ext cx="3614420" cy="52000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580"/>
              </a:spcBef>
            </a:pP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SASS</a:t>
            </a:r>
            <a:endParaRPr sz="1800">
              <a:latin typeface="Times New Roman"/>
              <a:cs typeface="Times New Roman"/>
            </a:endParaRPr>
          </a:p>
          <a:p>
            <a:pPr marL="86360" marR="3001645">
              <a:lnSpc>
                <a:spcPct val="100000"/>
              </a:lnSpc>
              <a:spcBef>
                <a:spcPts val="645"/>
              </a:spcBef>
            </a:pPr>
            <a:r>
              <a:rPr sz="2400" spc="-150" dirty="0">
                <a:solidFill>
                  <a:srgbClr val="FF0000"/>
                </a:solidFill>
                <a:latin typeface="Times New Roman"/>
                <a:cs typeface="Times New Roman"/>
              </a:rPr>
              <a:t>nav</a:t>
            </a:r>
            <a:r>
              <a:rPr sz="2400" spc="-150" dirty="0">
                <a:latin typeface="Times New Roman"/>
                <a:cs typeface="Times New Roman"/>
              </a:rPr>
              <a:t>{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ul</a:t>
            </a:r>
            <a:r>
              <a:rPr sz="2400" spc="-25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2400" spc="-105" dirty="0">
                <a:latin typeface="Times New Roman"/>
                <a:cs typeface="Times New Roman"/>
              </a:rPr>
              <a:t>margin: </a:t>
            </a:r>
            <a:r>
              <a:rPr sz="2400" spc="-25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5"/>
              </a:spcBef>
            </a:pPr>
            <a:r>
              <a:rPr sz="2400" spc="-120" dirty="0">
                <a:latin typeface="Times New Roman"/>
                <a:cs typeface="Times New Roman"/>
              </a:rPr>
              <a:t>padding: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2400" spc="-95" dirty="0">
                <a:latin typeface="Times New Roman"/>
                <a:cs typeface="Times New Roman"/>
              </a:rPr>
              <a:t>list-</a:t>
            </a:r>
            <a:r>
              <a:rPr sz="2400" spc="-90" dirty="0">
                <a:latin typeface="Times New Roman"/>
                <a:cs typeface="Times New Roman"/>
              </a:rPr>
              <a:t>style: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none;</a:t>
            </a:r>
            <a:endParaRPr sz="24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86360" marR="599440">
              <a:lnSpc>
                <a:spcPct val="100000"/>
              </a:lnSpc>
            </a:pPr>
            <a:r>
              <a:rPr sz="2400" spc="-110" dirty="0">
                <a:solidFill>
                  <a:srgbClr val="FF0000"/>
                </a:solidFill>
                <a:latin typeface="Times New Roman"/>
                <a:cs typeface="Times New Roman"/>
              </a:rPr>
              <a:t>li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display: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inline-</a:t>
            </a:r>
            <a:r>
              <a:rPr sz="2400" spc="-110" dirty="0">
                <a:latin typeface="Times New Roman"/>
                <a:cs typeface="Times New Roman"/>
              </a:rPr>
              <a:t>block;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}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86360" marR="1030605">
              <a:lnSpc>
                <a:spcPct val="100000"/>
              </a:lnSpc>
              <a:spcBef>
                <a:spcPts val="5"/>
              </a:spcBef>
            </a:pPr>
            <a:r>
              <a:rPr sz="2400" spc="-140" dirty="0">
                <a:latin typeface="Times New Roman"/>
                <a:cs typeface="Times New Roman"/>
              </a:rPr>
              <a:t>display: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block; </a:t>
            </a:r>
            <a:r>
              <a:rPr sz="2400" spc="-120" dirty="0">
                <a:latin typeface="Times New Roman"/>
                <a:cs typeface="Times New Roman"/>
              </a:rPr>
              <a:t>padding: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6px</a:t>
            </a:r>
            <a:r>
              <a:rPr sz="2400" spc="-10" dirty="0">
                <a:latin typeface="Times New Roman"/>
                <a:cs typeface="Times New Roman"/>
              </a:rPr>
              <a:t> 12px; </a:t>
            </a:r>
            <a:r>
              <a:rPr sz="2400" spc="-50" dirty="0">
                <a:latin typeface="Times New Roman"/>
                <a:cs typeface="Times New Roman"/>
              </a:rPr>
              <a:t>text-</a:t>
            </a:r>
            <a:r>
              <a:rPr sz="2400" spc="-90" dirty="0">
                <a:latin typeface="Times New Roman"/>
                <a:cs typeface="Times New Roman"/>
              </a:rPr>
              <a:t>decoration: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none;</a:t>
            </a:r>
            <a:endParaRPr sz="24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40123" y="3149784"/>
            <a:ext cx="816610" cy="257175"/>
          </a:xfrm>
          <a:custGeom>
            <a:avLst/>
            <a:gdLst/>
            <a:ahLst/>
            <a:cxnLst/>
            <a:rect l="l" t="t" r="r" b="b"/>
            <a:pathLst>
              <a:path w="816610" h="257175">
                <a:moveTo>
                  <a:pt x="702718" y="128339"/>
                </a:moveTo>
                <a:lnTo>
                  <a:pt x="573531" y="203650"/>
                </a:lnTo>
                <a:lnTo>
                  <a:pt x="565084" y="211226"/>
                </a:lnTo>
                <a:lnTo>
                  <a:pt x="560339" y="221112"/>
                </a:lnTo>
                <a:lnTo>
                  <a:pt x="559619" y="232046"/>
                </a:lnTo>
                <a:lnTo>
                  <a:pt x="563245" y="242766"/>
                </a:lnTo>
                <a:lnTo>
                  <a:pt x="570821" y="251213"/>
                </a:lnTo>
                <a:lnTo>
                  <a:pt x="580707" y="255958"/>
                </a:lnTo>
                <a:lnTo>
                  <a:pt x="591641" y="256678"/>
                </a:lnTo>
                <a:lnTo>
                  <a:pt x="602361" y="253053"/>
                </a:lnTo>
                <a:lnTo>
                  <a:pt x="767128" y="156914"/>
                </a:lnTo>
                <a:lnTo>
                  <a:pt x="759333" y="156914"/>
                </a:lnTo>
                <a:lnTo>
                  <a:pt x="759333" y="152977"/>
                </a:lnTo>
                <a:lnTo>
                  <a:pt x="744981" y="152977"/>
                </a:lnTo>
                <a:lnTo>
                  <a:pt x="702718" y="128339"/>
                </a:lnTo>
                <a:close/>
              </a:path>
              <a:path w="816610" h="257175">
                <a:moveTo>
                  <a:pt x="653701" y="99764"/>
                </a:moveTo>
                <a:lnTo>
                  <a:pt x="0" y="99764"/>
                </a:lnTo>
                <a:lnTo>
                  <a:pt x="0" y="156914"/>
                </a:lnTo>
                <a:lnTo>
                  <a:pt x="653701" y="156914"/>
                </a:lnTo>
                <a:lnTo>
                  <a:pt x="702718" y="128339"/>
                </a:lnTo>
                <a:lnTo>
                  <a:pt x="653701" y="99764"/>
                </a:lnTo>
                <a:close/>
              </a:path>
              <a:path w="816610" h="257175">
                <a:moveTo>
                  <a:pt x="767128" y="99764"/>
                </a:moveTo>
                <a:lnTo>
                  <a:pt x="759333" y="99764"/>
                </a:lnTo>
                <a:lnTo>
                  <a:pt x="759333" y="156914"/>
                </a:lnTo>
                <a:lnTo>
                  <a:pt x="767128" y="156914"/>
                </a:lnTo>
                <a:lnTo>
                  <a:pt x="816101" y="128339"/>
                </a:lnTo>
                <a:lnTo>
                  <a:pt x="767128" y="99764"/>
                </a:lnTo>
                <a:close/>
              </a:path>
              <a:path w="816610" h="257175">
                <a:moveTo>
                  <a:pt x="744981" y="103701"/>
                </a:moveTo>
                <a:lnTo>
                  <a:pt x="702718" y="128339"/>
                </a:lnTo>
                <a:lnTo>
                  <a:pt x="744981" y="152977"/>
                </a:lnTo>
                <a:lnTo>
                  <a:pt x="744981" y="103701"/>
                </a:lnTo>
                <a:close/>
              </a:path>
              <a:path w="816610" h="257175">
                <a:moveTo>
                  <a:pt x="759333" y="103701"/>
                </a:moveTo>
                <a:lnTo>
                  <a:pt x="744981" y="103701"/>
                </a:lnTo>
                <a:lnTo>
                  <a:pt x="744981" y="152977"/>
                </a:lnTo>
                <a:lnTo>
                  <a:pt x="759333" y="152977"/>
                </a:lnTo>
                <a:lnTo>
                  <a:pt x="759333" y="103701"/>
                </a:lnTo>
                <a:close/>
              </a:path>
              <a:path w="816610" h="257175">
                <a:moveTo>
                  <a:pt x="591641" y="0"/>
                </a:moveTo>
                <a:lnTo>
                  <a:pt x="580707" y="720"/>
                </a:lnTo>
                <a:lnTo>
                  <a:pt x="570821" y="5464"/>
                </a:lnTo>
                <a:lnTo>
                  <a:pt x="563245" y="13912"/>
                </a:lnTo>
                <a:lnTo>
                  <a:pt x="559619" y="24632"/>
                </a:lnTo>
                <a:lnTo>
                  <a:pt x="560339" y="35565"/>
                </a:lnTo>
                <a:lnTo>
                  <a:pt x="565084" y="45452"/>
                </a:lnTo>
                <a:lnTo>
                  <a:pt x="573531" y="53028"/>
                </a:lnTo>
                <a:lnTo>
                  <a:pt x="702718" y="128339"/>
                </a:lnTo>
                <a:lnTo>
                  <a:pt x="744981" y="103701"/>
                </a:lnTo>
                <a:lnTo>
                  <a:pt x="759333" y="103701"/>
                </a:lnTo>
                <a:lnTo>
                  <a:pt x="759333" y="99764"/>
                </a:lnTo>
                <a:lnTo>
                  <a:pt x="767128" y="99764"/>
                </a:lnTo>
                <a:lnTo>
                  <a:pt x="602361" y="3625"/>
                </a:lnTo>
                <a:lnTo>
                  <a:pt x="591641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-42925"/>
            <a:ext cx="139954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/>
              <a:t>Mixins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46650" y="2529585"/>
            <a:ext cx="3822700" cy="2689225"/>
            <a:chOff x="4946650" y="2529585"/>
            <a:chExt cx="3822700" cy="2689225"/>
          </a:xfrm>
        </p:grpSpPr>
        <p:sp>
          <p:nvSpPr>
            <p:cNvPr id="5" name="object 5"/>
            <p:cNvSpPr/>
            <p:nvPr/>
          </p:nvSpPr>
          <p:spPr>
            <a:xfrm>
              <a:off x="4953000" y="2535935"/>
              <a:ext cx="3810000" cy="2676525"/>
            </a:xfrm>
            <a:custGeom>
              <a:avLst/>
              <a:gdLst/>
              <a:ahLst/>
              <a:cxnLst/>
              <a:rect l="l" t="t" r="r" b="b"/>
              <a:pathLst>
                <a:path w="3810000" h="2676525">
                  <a:moveTo>
                    <a:pt x="3810000" y="0"/>
                  </a:moveTo>
                  <a:lnTo>
                    <a:pt x="0" y="0"/>
                  </a:lnTo>
                  <a:lnTo>
                    <a:pt x="0" y="2676144"/>
                  </a:lnTo>
                  <a:lnTo>
                    <a:pt x="3810000" y="2676144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53000" y="2535935"/>
              <a:ext cx="3810000" cy="2676525"/>
            </a:xfrm>
            <a:custGeom>
              <a:avLst/>
              <a:gdLst/>
              <a:ahLst/>
              <a:cxnLst/>
              <a:rect l="l" t="t" r="r" b="b"/>
              <a:pathLst>
                <a:path w="3810000" h="2676525">
                  <a:moveTo>
                    <a:pt x="0" y="2676144"/>
                  </a:moveTo>
                  <a:lnTo>
                    <a:pt x="3810000" y="2676144"/>
                  </a:lnTo>
                  <a:lnTo>
                    <a:pt x="3810000" y="0"/>
                  </a:lnTo>
                  <a:lnTo>
                    <a:pt x="0" y="0"/>
                  </a:lnTo>
                  <a:lnTo>
                    <a:pt x="0" y="2676144"/>
                  </a:lnTo>
                  <a:close/>
                </a:path>
              </a:pathLst>
            </a:custGeom>
            <a:ln w="127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16002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00"/>
                </a:solidFill>
              </a:rPr>
              <a:t>.error{ </a:t>
            </a:r>
            <a:r>
              <a:rPr spc="-25" dirty="0"/>
              <a:t>padding:10px; </a:t>
            </a:r>
            <a:r>
              <a:rPr spc="-75" dirty="0"/>
              <a:t>border-</a:t>
            </a:r>
            <a:r>
              <a:rPr spc="-85" dirty="0"/>
              <a:t>radius:5px; </a:t>
            </a:r>
            <a:r>
              <a:rPr spc="-90" dirty="0"/>
              <a:t>font-</a:t>
            </a:r>
            <a:r>
              <a:rPr spc="-10" dirty="0"/>
              <a:t>size:1em; </a:t>
            </a:r>
            <a:r>
              <a:rPr spc="-25" dirty="0"/>
              <a:t>background:red; </a:t>
            </a:r>
            <a:r>
              <a:rPr spc="-10" dirty="0"/>
              <a:t>color:white;</a:t>
            </a:r>
          </a:p>
          <a:p>
            <a:pPr marL="86360">
              <a:lnSpc>
                <a:spcPct val="100000"/>
              </a:lnSpc>
              <a:spcBef>
                <a:spcPts val="5"/>
              </a:spcBef>
            </a:pPr>
            <a:r>
              <a:rPr spc="-50" dirty="0">
                <a:solidFill>
                  <a:srgbClr val="000000"/>
                </a:solidFill>
              </a:rPr>
              <a:t>}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955794" y="2157729"/>
            <a:ext cx="561340" cy="381635"/>
            <a:chOff x="4955794" y="2157729"/>
            <a:chExt cx="561340" cy="381635"/>
          </a:xfrm>
        </p:grpSpPr>
        <p:sp>
          <p:nvSpPr>
            <p:cNvPr id="9" name="object 9"/>
            <p:cNvSpPr/>
            <p:nvPr/>
          </p:nvSpPr>
          <p:spPr>
            <a:xfrm>
              <a:off x="4962144" y="2164079"/>
              <a:ext cx="548640" cy="368935"/>
            </a:xfrm>
            <a:custGeom>
              <a:avLst/>
              <a:gdLst/>
              <a:ahLst/>
              <a:cxnLst/>
              <a:rect l="l" t="t" r="r" b="b"/>
              <a:pathLst>
                <a:path w="548639" h="368935">
                  <a:moveTo>
                    <a:pt x="548639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548639" y="368808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62144" y="2164079"/>
              <a:ext cx="548640" cy="368935"/>
            </a:xfrm>
            <a:custGeom>
              <a:avLst/>
              <a:gdLst/>
              <a:ahLst/>
              <a:cxnLst/>
              <a:rect l="l" t="t" r="r" b="b"/>
              <a:pathLst>
                <a:path w="548639" h="368935">
                  <a:moveTo>
                    <a:pt x="0" y="368808"/>
                  </a:moveTo>
                  <a:lnTo>
                    <a:pt x="548639" y="368808"/>
                  </a:lnTo>
                  <a:lnTo>
                    <a:pt x="548639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12700">
              <a:solidFill>
                <a:srgbClr val="9B2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59350" y="2163902"/>
            <a:ext cx="5454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CSS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7530" y="2099817"/>
            <a:ext cx="3517900" cy="3798570"/>
            <a:chOff x="557530" y="2099817"/>
            <a:chExt cx="3517900" cy="3798570"/>
          </a:xfrm>
        </p:grpSpPr>
        <p:sp>
          <p:nvSpPr>
            <p:cNvPr id="13" name="object 13"/>
            <p:cNvSpPr/>
            <p:nvPr/>
          </p:nvSpPr>
          <p:spPr>
            <a:xfrm>
              <a:off x="563880" y="2106167"/>
              <a:ext cx="3505200" cy="3785870"/>
            </a:xfrm>
            <a:custGeom>
              <a:avLst/>
              <a:gdLst/>
              <a:ahLst/>
              <a:cxnLst/>
              <a:rect l="l" t="t" r="r" b="b"/>
              <a:pathLst>
                <a:path w="3505200" h="3785870">
                  <a:moveTo>
                    <a:pt x="3505200" y="0"/>
                  </a:moveTo>
                  <a:lnTo>
                    <a:pt x="0" y="0"/>
                  </a:lnTo>
                  <a:lnTo>
                    <a:pt x="0" y="3785616"/>
                  </a:lnTo>
                  <a:lnTo>
                    <a:pt x="3505200" y="3785616"/>
                  </a:lnTo>
                  <a:lnTo>
                    <a:pt x="3505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3880" y="2106167"/>
              <a:ext cx="3505200" cy="3785870"/>
            </a:xfrm>
            <a:custGeom>
              <a:avLst/>
              <a:gdLst/>
              <a:ahLst/>
              <a:cxnLst/>
              <a:rect l="l" t="t" r="r" b="b"/>
              <a:pathLst>
                <a:path w="3505200" h="3785870">
                  <a:moveTo>
                    <a:pt x="0" y="3785616"/>
                  </a:moveTo>
                  <a:lnTo>
                    <a:pt x="3505200" y="3785616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3785616"/>
                  </a:lnTo>
                  <a:close/>
                </a:path>
              </a:pathLst>
            </a:custGeom>
            <a:ln w="12699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0230" y="2098040"/>
            <a:ext cx="3492500" cy="3684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 marR="945515">
              <a:lnSpc>
                <a:spcPct val="100000"/>
              </a:lnSpc>
              <a:spcBef>
                <a:spcPts val="100"/>
              </a:spcBef>
            </a:pPr>
            <a:r>
              <a:rPr sz="2400" spc="-110" dirty="0">
                <a:latin typeface="Times New Roman"/>
                <a:cs typeface="Times New Roman"/>
              </a:rPr>
              <a:t>@mixin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14" dirty="0">
                <a:solidFill>
                  <a:srgbClr val="6F2F9F"/>
                </a:solidFill>
                <a:latin typeface="Times New Roman"/>
                <a:cs typeface="Times New Roman"/>
              </a:rPr>
              <a:t>notification</a:t>
            </a:r>
            <a:r>
              <a:rPr sz="2400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{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padding:10px;</a:t>
            </a:r>
            <a:endParaRPr sz="2400">
              <a:latin typeface="Times New Roman"/>
              <a:cs typeface="Times New Roman"/>
            </a:endParaRPr>
          </a:p>
          <a:p>
            <a:pPr marL="85090" marR="1297305">
              <a:lnSpc>
                <a:spcPct val="100000"/>
              </a:lnSpc>
            </a:pPr>
            <a:r>
              <a:rPr sz="2400" spc="-75" dirty="0">
                <a:solidFill>
                  <a:srgbClr val="FF0000"/>
                </a:solidFill>
                <a:latin typeface="Times New Roman"/>
                <a:cs typeface="Times New Roman"/>
              </a:rPr>
              <a:t>border-</a:t>
            </a:r>
            <a:r>
              <a:rPr sz="2400" spc="-85" dirty="0">
                <a:solidFill>
                  <a:srgbClr val="FF0000"/>
                </a:solidFill>
                <a:latin typeface="Times New Roman"/>
                <a:cs typeface="Times New Roman"/>
              </a:rPr>
              <a:t>radius:5px; </a:t>
            </a:r>
            <a:r>
              <a:rPr sz="2400" spc="-90" dirty="0">
                <a:solidFill>
                  <a:srgbClr val="FF0000"/>
                </a:solidFill>
                <a:latin typeface="Times New Roman"/>
                <a:cs typeface="Times New Roman"/>
              </a:rPr>
              <a:t>font-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size:1em</a:t>
            </a:r>
            <a:r>
              <a:rPr sz="2400" spc="-10" dirty="0"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.error{</a:t>
            </a:r>
            <a:endParaRPr sz="2400">
              <a:latin typeface="Times New Roman"/>
              <a:cs typeface="Times New Roman"/>
            </a:endParaRPr>
          </a:p>
          <a:p>
            <a:pPr marL="85090" marR="904875">
              <a:lnSpc>
                <a:spcPct val="100000"/>
              </a:lnSpc>
            </a:pPr>
            <a:r>
              <a:rPr sz="2400" spc="-105" dirty="0">
                <a:latin typeface="Times New Roman"/>
                <a:cs typeface="Times New Roman"/>
              </a:rPr>
              <a:t>@</a:t>
            </a:r>
            <a:r>
              <a:rPr sz="2400" spc="-105" dirty="0">
                <a:solidFill>
                  <a:srgbClr val="00AF50"/>
                </a:solidFill>
                <a:latin typeface="Times New Roman"/>
                <a:cs typeface="Times New Roman"/>
              </a:rPr>
              <a:t>include</a:t>
            </a:r>
            <a:r>
              <a:rPr sz="2400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90" dirty="0">
                <a:solidFill>
                  <a:srgbClr val="6F2F9F"/>
                </a:solidFill>
                <a:latin typeface="Times New Roman"/>
                <a:cs typeface="Times New Roman"/>
              </a:rPr>
              <a:t>notification</a:t>
            </a:r>
            <a:r>
              <a:rPr sz="2400" spc="-90" dirty="0">
                <a:latin typeface="Times New Roman"/>
                <a:cs typeface="Times New Roman"/>
              </a:rPr>
              <a:t>;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background:red;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color:white</a:t>
            </a:r>
            <a:r>
              <a:rPr sz="2400" spc="-10" dirty="0"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7530" y="1734057"/>
            <a:ext cx="534035" cy="384810"/>
            <a:chOff x="557530" y="1734057"/>
            <a:chExt cx="534035" cy="384810"/>
          </a:xfrm>
        </p:grpSpPr>
        <p:sp>
          <p:nvSpPr>
            <p:cNvPr id="17" name="object 17"/>
            <p:cNvSpPr/>
            <p:nvPr/>
          </p:nvSpPr>
          <p:spPr>
            <a:xfrm>
              <a:off x="563880" y="1740407"/>
              <a:ext cx="521334" cy="372110"/>
            </a:xfrm>
            <a:custGeom>
              <a:avLst/>
              <a:gdLst/>
              <a:ahLst/>
              <a:cxnLst/>
              <a:rect l="l" t="t" r="r" b="b"/>
              <a:pathLst>
                <a:path w="521334" h="372110">
                  <a:moveTo>
                    <a:pt x="521208" y="0"/>
                  </a:moveTo>
                  <a:lnTo>
                    <a:pt x="0" y="0"/>
                  </a:lnTo>
                  <a:lnTo>
                    <a:pt x="0" y="371856"/>
                  </a:lnTo>
                  <a:lnTo>
                    <a:pt x="521208" y="371856"/>
                  </a:lnTo>
                  <a:lnTo>
                    <a:pt x="521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3880" y="1740407"/>
              <a:ext cx="521334" cy="372110"/>
            </a:xfrm>
            <a:custGeom>
              <a:avLst/>
              <a:gdLst/>
              <a:ahLst/>
              <a:cxnLst/>
              <a:rect l="l" t="t" r="r" b="b"/>
              <a:pathLst>
                <a:path w="521334" h="372110">
                  <a:moveTo>
                    <a:pt x="0" y="371856"/>
                  </a:moveTo>
                  <a:lnTo>
                    <a:pt x="521208" y="371856"/>
                  </a:lnTo>
                  <a:lnTo>
                    <a:pt x="521208" y="0"/>
                  </a:lnTo>
                  <a:lnTo>
                    <a:pt x="0" y="0"/>
                  </a:lnTo>
                  <a:lnTo>
                    <a:pt x="0" y="371856"/>
                  </a:lnTo>
                  <a:close/>
                </a:path>
              </a:pathLst>
            </a:custGeom>
            <a:ln w="12700">
              <a:solidFill>
                <a:srgbClr val="9B2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70230" y="1741373"/>
            <a:ext cx="5086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sz="1800" spc="-260" dirty="0">
                <a:solidFill>
                  <a:srgbClr val="FF0000"/>
                </a:solidFill>
                <a:latin typeface="Times New Roman"/>
                <a:cs typeface="Times New Roman"/>
              </a:rPr>
              <a:t>SASS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40123" y="3149784"/>
            <a:ext cx="816610" cy="257175"/>
          </a:xfrm>
          <a:custGeom>
            <a:avLst/>
            <a:gdLst/>
            <a:ahLst/>
            <a:cxnLst/>
            <a:rect l="l" t="t" r="r" b="b"/>
            <a:pathLst>
              <a:path w="816610" h="257175">
                <a:moveTo>
                  <a:pt x="702718" y="128339"/>
                </a:moveTo>
                <a:lnTo>
                  <a:pt x="573531" y="203650"/>
                </a:lnTo>
                <a:lnTo>
                  <a:pt x="565084" y="211226"/>
                </a:lnTo>
                <a:lnTo>
                  <a:pt x="560339" y="221112"/>
                </a:lnTo>
                <a:lnTo>
                  <a:pt x="559619" y="232046"/>
                </a:lnTo>
                <a:lnTo>
                  <a:pt x="563245" y="242766"/>
                </a:lnTo>
                <a:lnTo>
                  <a:pt x="570821" y="251213"/>
                </a:lnTo>
                <a:lnTo>
                  <a:pt x="580707" y="255958"/>
                </a:lnTo>
                <a:lnTo>
                  <a:pt x="591641" y="256678"/>
                </a:lnTo>
                <a:lnTo>
                  <a:pt x="602361" y="253053"/>
                </a:lnTo>
                <a:lnTo>
                  <a:pt x="767128" y="156914"/>
                </a:lnTo>
                <a:lnTo>
                  <a:pt x="759333" y="156914"/>
                </a:lnTo>
                <a:lnTo>
                  <a:pt x="759333" y="152977"/>
                </a:lnTo>
                <a:lnTo>
                  <a:pt x="744981" y="152977"/>
                </a:lnTo>
                <a:lnTo>
                  <a:pt x="702718" y="128339"/>
                </a:lnTo>
                <a:close/>
              </a:path>
              <a:path w="816610" h="257175">
                <a:moveTo>
                  <a:pt x="653701" y="99764"/>
                </a:moveTo>
                <a:lnTo>
                  <a:pt x="0" y="99764"/>
                </a:lnTo>
                <a:lnTo>
                  <a:pt x="0" y="156914"/>
                </a:lnTo>
                <a:lnTo>
                  <a:pt x="653701" y="156914"/>
                </a:lnTo>
                <a:lnTo>
                  <a:pt x="702718" y="128339"/>
                </a:lnTo>
                <a:lnTo>
                  <a:pt x="653701" y="99764"/>
                </a:lnTo>
                <a:close/>
              </a:path>
              <a:path w="816610" h="257175">
                <a:moveTo>
                  <a:pt x="767128" y="99764"/>
                </a:moveTo>
                <a:lnTo>
                  <a:pt x="759333" y="99764"/>
                </a:lnTo>
                <a:lnTo>
                  <a:pt x="759333" y="156914"/>
                </a:lnTo>
                <a:lnTo>
                  <a:pt x="767128" y="156914"/>
                </a:lnTo>
                <a:lnTo>
                  <a:pt x="816101" y="128339"/>
                </a:lnTo>
                <a:lnTo>
                  <a:pt x="767128" y="99764"/>
                </a:lnTo>
                <a:close/>
              </a:path>
              <a:path w="816610" h="257175">
                <a:moveTo>
                  <a:pt x="744981" y="103701"/>
                </a:moveTo>
                <a:lnTo>
                  <a:pt x="702718" y="128339"/>
                </a:lnTo>
                <a:lnTo>
                  <a:pt x="744981" y="152977"/>
                </a:lnTo>
                <a:lnTo>
                  <a:pt x="744981" y="103701"/>
                </a:lnTo>
                <a:close/>
              </a:path>
              <a:path w="816610" h="257175">
                <a:moveTo>
                  <a:pt x="759333" y="103701"/>
                </a:moveTo>
                <a:lnTo>
                  <a:pt x="744981" y="103701"/>
                </a:lnTo>
                <a:lnTo>
                  <a:pt x="744981" y="152977"/>
                </a:lnTo>
                <a:lnTo>
                  <a:pt x="759333" y="152977"/>
                </a:lnTo>
                <a:lnTo>
                  <a:pt x="759333" y="103701"/>
                </a:lnTo>
                <a:close/>
              </a:path>
              <a:path w="816610" h="257175">
                <a:moveTo>
                  <a:pt x="591641" y="0"/>
                </a:moveTo>
                <a:lnTo>
                  <a:pt x="580707" y="720"/>
                </a:lnTo>
                <a:lnTo>
                  <a:pt x="570821" y="5464"/>
                </a:lnTo>
                <a:lnTo>
                  <a:pt x="563245" y="13912"/>
                </a:lnTo>
                <a:lnTo>
                  <a:pt x="559619" y="24632"/>
                </a:lnTo>
                <a:lnTo>
                  <a:pt x="560339" y="35565"/>
                </a:lnTo>
                <a:lnTo>
                  <a:pt x="565084" y="45452"/>
                </a:lnTo>
                <a:lnTo>
                  <a:pt x="573531" y="53028"/>
                </a:lnTo>
                <a:lnTo>
                  <a:pt x="702718" y="128339"/>
                </a:lnTo>
                <a:lnTo>
                  <a:pt x="744981" y="103701"/>
                </a:lnTo>
                <a:lnTo>
                  <a:pt x="759333" y="103701"/>
                </a:lnTo>
                <a:lnTo>
                  <a:pt x="759333" y="99764"/>
                </a:lnTo>
                <a:lnTo>
                  <a:pt x="767128" y="99764"/>
                </a:lnTo>
                <a:lnTo>
                  <a:pt x="602361" y="3625"/>
                </a:lnTo>
                <a:lnTo>
                  <a:pt x="591641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3880" y="633983"/>
            <a:ext cx="8199120" cy="923925"/>
          </a:xfrm>
          <a:custGeom>
            <a:avLst/>
            <a:gdLst/>
            <a:ahLst/>
            <a:cxnLst/>
            <a:rect l="l" t="t" r="r" b="b"/>
            <a:pathLst>
              <a:path w="8199120" h="923925">
                <a:moveTo>
                  <a:pt x="8199120" y="0"/>
                </a:moveTo>
                <a:lnTo>
                  <a:pt x="0" y="0"/>
                </a:lnTo>
                <a:lnTo>
                  <a:pt x="0" y="923544"/>
                </a:lnTo>
                <a:lnTo>
                  <a:pt x="8199120" y="923544"/>
                </a:lnTo>
                <a:lnTo>
                  <a:pt x="81991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63880" y="633983"/>
            <a:ext cx="8199120" cy="923925"/>
          </a:xfrm>
          <a:prstGeom prst="rect">
            <a:avLst/>
          </a:prstGeom>
          <a:ln w="12700">
            <a:solidFill>
              <a:srgbClr val="D24717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91440" marR="290830">
              <a:lnSpc>
                <a:spcPct val="100000"/>
              </a:lnSpc>
              <a:spcBef>
                <a:spcPts val="90"/>
              </a:spcBef>
            </a:pPr>
            <a:r>
              <a:rPr sz="1800" spc="-100" dirty="0">
                <a:latin typeface="Times New Roman"/>
                <a:cs typeface="Times New Roman"/>
              </a:rPr>
              <a:t>Grouping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2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multiple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code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lines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together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that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can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then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be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85" dirty="0">
                <a:solidFill>
                  <a:srgbClr val="FF0000"/>
                </a:solidFill>
                <a:latin typeface="Times New Roman"/>
                <a:cs typeface="Times New Roman"/>
              </a:rPr>
              <a:t>reused</a:t>
            </a:r>
            <a:r>
              <a:rPr sz="18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80" dirty="0">
                <a:solidFill>
                  <a:srgbClr val="FF0000"/>
                </a:solidFill>
                <a:latin typeface="Times New Roman"/>
                <a:cs typeface="Times New Roman"/>
              </a:rPr>
              <a:t>throughout</a:t>
            </a:r>
            <a:r>
              <a:rPr sz="1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stylesheet</a:t>
            </a:r>
            <a:r>
              <a:rPr sz="1800" spc="-10" dirty="0">
                <a:latin typeface="Times New Roman"/>
                <a:cs typeface="Times New Roman"/>
              </a:rPr>
              <a:t>.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b="1" dirty="0">
                <a:latin typeface="Times New Roman"/>
                <a:cs typeface="Times New Roman"/>
              </a:rPr>
              <a:t>Mixins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allow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document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authors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define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patterns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2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property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value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pairs,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which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can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then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be </a:t>
            </a:r>
            <a:r>
              <a:rPr sz="1800" spc="-85" dirty="0">
                <a:latin typeface="Times New Roman"/>
                <a:cs typeface="Times New Roman"/>
              </a:rPr>
              <a:t>reused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in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other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rule </a:t>
            </a:r>
            <a:r>
              <a:rPr sz="1800" spc="-20" dirty="0">
                <a:latin typeface="Times New Roman"/>
                <a:cs typeface="Times New Roman"/>
              </a:rPr>
              <a:t>sets)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-42925"/>
            <a:ext cx="14820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5" dirty="0"/>
              <a:t>Extend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61559" y="1886711"/>
            <a:ext cx="3810000" cy="2679700"/>
          </a:xfrm>
          <a:custGeom>
            <a:avLst/>
            <a:gdLst/>
            <a:ahLst/>
            <a:cxnLst/>
            <a:rect l="l" t="t" r="r" b="b"/>
            <a:pathLst>
              <a:path w="3810000" h="2679700">
                <a:moveTo>
                  <a:pt x="3809999" y="0"/>
                </a:moveTo>
                <a:lnTo>
                  <a:pt x="0" y="0"/>
                </a:lnTo>
                <a:lnTo>
                  <a:pt x="0" y="2679192"/>
                </a:lnTo>
                <a:lnTo>
                  <a:pt x="3809999" y="2679192"/>
                </a:lnTo>
                <a:lnTo>
                  <a:pt x="380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61559" y="1886711"/>
            <a:ext cx="3810000" cy="2679700"/>
          </a:xfrm>
          <a:prstGeom prst="rect">
            <a:avLst/>
          </a:prstGeom>
          <a:ln w="12700">
            <a:solidFill>
              <a:srgbClr val="D24717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92075" marR="1304290">
              <a:lnSpc>
                <a:spcPct val="100000"/>
              </a:lnSpc>
              <a:spcBef>
                <a:spcPts val="35"/>
              </a:spcBef>
            </a:pPr>
            <a:r>
              <a:rPr sz="2400" spc="-30" dirty="0">
                <a:latin typeface="Times New Roman"/>
                <a:cs typeface="Times New Roman"/>
              </a:rPr>
              <a:t>.error,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.seriousError{ </a:t>
            </a:r>
            <a:r>
              <a:rPr sz="2400" spc="-90" dirty="0">
                <a:latin typeface="Times New Roman"/>
                <a:cs typeface="Times New Roman"/>
              </a:rPr>
              <a:t>border:solid1px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red; </a:t>
            </a:r>
            <a:r>
              <a:rPr sz="2400" spc="-10" dirty="0">
                <a:latin typeface="Times New Roman"/>
                <a:cs typeface="Times New Roman"/>
              </a:rPr>
              <a:t>background:#fdd;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92075" marR="162941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.seriousError{ </a:t>
            </a:r>
            <a:r>
              <a:rPr sz="2400" spc="-75" dirty="0">
                <a:latin typeface="Times New Roman"/>
                <a:cs typeface="Times New Roman"/>
              </a:rPr>
              <a:t>border-</a:t>
            </a:r>
            <a:r>
              <a:rPr sz="2400" spc="-70" dirty="0">
                <a:latin typeface="Times New Roman"/>
                <a:cs typeface="Times New Roman"/>
              </a:rPr>
              <a:t>width:3px;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67655" y="1514855"/>
            <a:ext cx="551815" cy="372110"/>
          </a:xfrm>
          <a:custGeom>
            <a:avLst/>
            <a:gdLst/>
            <a:ahLst/>
            <a:cxnLst/>
            <a:rect l="l" t="t" r="r" b="b"/>
            <a:pathLst>
              <a:path w="551814" h="372110">
                <a:moveTo>
                  <a:pt x="551688" y="0"/>
                </a:moveTo>
                <a:lnTo>
                  <a:pt x="0" y="0"/>
                </a:lnTo>
                <a:lnTo>
                  <a:pt x="0" y="371856"/>
                </a:lnTo>
                <a:lnTo>
                  <a:pt x="551688" y="371856"/>
                </a:lnTo>
                <a:lnTo>
                  <a:pt x="5516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61559" y="1514855"/>
            <a:ext cx="558165" cy="372110"/>
          </a:xfrm>
          <a:prstGeom prst="rect">
            <a:avLst/>
          </a:prstGeom>
          <a:ln w="12700">
            <a:solidFill>
              <a:srgbClr val="9B2C1F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CSS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8762" y="1880361"/>
            <a:ext cx="3517900" cy="3058160"/>
            <a:chOff x="508762" y="1880361"/>
            <a:chExt cx="3517900" cy="3058160"/>
          </a:xfrm>
        </p:grpSpPr>
        <p:sp>
          <p:nvSpPr>
            <p:cNvPr id="9" name="object 9"/>
            <p:cNvSpPr/>
            <p:nvPr/>
          </p:nvSpPr>
          <p:spPr>
            <a:xfrm>
              <a:off x="515112" y="1886711"/>
              <a:ext cx="3505200" cy="3045460"/>
            </a:xfrm>
            <a:custGeom>
              <a:avLst/>
              <a:gdLst/>
              <a:ahLst/>
              <a:cxnLst/>
              <a:rect l="l" t="t" r="r" b="b"/>
              <a:pathLst>
                <a:path w="3505200" h="3045460">
                  <a:moveTo>
                    <a:pt x="3505200" y="0"/>
                  </a:moveTo>
                  <a:lnTo>
                    <a:pt x="0" y="0"/>
                  </a:lnTo>
                  <a:lnTo>
                    <a:pt x="0" y="3044952"/>
                  </a:lnTo>
                  <a:lnTo>
                    <a:pt x="3505200" y="3044952"/>
                  </a:lnTo>
                  <a:lnTo>
                    <a:pt x="3505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5112" y="1886711"/>
              <a:ext cx="3505200" cy="3045460"/>
            </a:xfrm>
            <a:custGeom>
              <a:avLst/>
              <a:gdLst/>
              <a:ahLst/>
              <a:cxnLst/>
              <a:rect l="l" t="t" r="r" b="b"/>
              <a:pathLst>
                <a:path w="3505200" h="3045460">
                  <a:moveTo>
                    <a:pt x="0" y="3044952"/>
                  </a:moveTo>
                  <a:lnTo>
                    <a:pt x="3505200" y="3044952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3044952"/>
                  </a:lnTo>
                  <a:close/>
                </a:path>
              </a:pathLst>
            </a:custGeom>
            <a:ln w="127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1462" y="1877314"/>
            <a:ext cx="349250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 marR="110617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.error{ </a:t>
            </a:r>
            <a:r>
              <a:rPr sz="2400" spc="-90" dirty="0">
                <a:latin typeface="Times New Roman"/>
                <a:cs typeface="Times New Roman"/>
              </a:rPr>
              <a:t>border:solid1px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red; </a:t>
            </a:r>
            <a:r>
              <a:rPr sz="2400" spc="-10" dirty="0">
                <a:latin typeface="Times New Roman"/>
                <a:cs typeface="Times New Roman"/>
              </a:rPr>
              <a:t>background:#fdd;</a:t>
            </a:r>
            <a:endParaRPr sz="24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84455" marR="132143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.seriousError{ </a:t>
            </a:r>
            <a:r>
              <a:rPr sz="2400" spc="-80" dirty="0">
                <a:solidFill>
                  <a:srgbClr val="FF0000"/>
                </a:solidFill>
                <a:latin typeface="Times New Roman"/>
                <a:cs typeface="Times New Roman"/>
              </a:rPr>
              <a:t>@extend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.error</a:t>
            </a:r>
            <a:r>
              <a:rPr sz="2400" spc="-10" dirty="0">
                <a:latin typeface="Times New Roman"/>
                <a:cs typeface="Times New Roman"/>
              </a:rPr>
              <a:t>; </a:t>
            </a:r>
            <a:r>
              <a:rPr sz="2400" spc="-75" dirty="0">
                <a:latin typeface="Times New Roman"/>
                <a:cs typeface="Times New Roman"/>
              </a:rPr>
              <a:t>border-width:3px;</a:t>
            </a:r>
            <a:endParaRPr sz="24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8762" y="1514602"/>
            <a:ext cx="534035" cy="381635"/>
            <a:chOff x="508762" y="1514602"/>
            <a:chExt cx="534035" cy="381635"/>
          </a:xfrm>
        </p:grpSpPr>
        <p:sp>
          <p:nvSpPr>
            <p:cNvPr id="13" name="object 13"/>
            <p:cNvSpPr/>
            <p:nvPr/>
          </p:nvSpPr>
          <p:spPr>
            <a:xfrm>
              <a:off x="515112" y="1520952"/>
              <a:ext cx="521334" cy="368935"/>
            </a:xfrm>
            <a:custGeom>
              <a:avLst/>
              <a:gdLst/>
              <a:ahLst/>
              <a:cxnLst/>
              <a:rect l="l" t="t" r="r" b="b"/>
              <a:pathLst>
                <a:path w="521334" h="368935">
                  <a:moveTo>
                    <a:pt x="521207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521207" y="368808"/>
                  </a:lnTo>
                  <a:lnTo>
                    <a:pt x="52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5112" y="1520952"/>
              <a:ext cx="521334" cy="368935"/>
            </a:xfrm>
            <a:custGeom>
              <a:avLst/>
              <a:gdLst/>
              <a:ahLst/>
              <a:cxnLst/>
              <a:rect l="l" t="t" r="r" b="b"/>
              <a:pathLst>
                <a:path w="521334" h="368935">
                  <a:moveTo>
                    <a:pt x="0" y="368808"/>
                  </a:moveTo>
                  <a:lnTo>
                    <a:pt x="521207" y="368808"/>
                  </a:lnTo>
                  <a:lnTo>
                    <a:pt x="521207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12700">
              <a:solidFill>
                <a:srgbClr val="9B2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1462" y="1521078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z="1800" spc="-260" dirty="0">
                <a:solidFill>
                  <a:srgbClr val="FF0000"/>
                </a:solidFill>
                <a:latin typeface="Times New Roman"/>
                <a:cs typeface="Times New Roman"/>
              </a:rPr>
              <a:t>SASS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40123" y="3149784"/>
            <a:ext cx="816610" cy="257175"/>
          </a:xfrm>
          <a:custGeom>
            <a:avLst/>
            <a:gdLst/>
            <a:ahLst/>
            <a:cxnLst/>
            <a:rect l="l" t="t" r="r" b="b"/>
            <a:pathLst>
              <a:path w="816610" h="257175">
                <a:moveTo>
                  <a:pt x="702718" y="128339"/>
                </a:moveTo>
                <a:lnTo>
                  <a:pt x="573531" y="203650"/>
                </a:lnTo>
                <a:lnTo>
                  <a:pt x="565084" y="211226"/>
                </a:lnTo>
                <a:lnTo>
                  <a:pt x="560339" y="221112"/>
                </a:lnTo>
                <a:lnTo>
                  <a:pt x="559619" y="232046"/>
                </a:lnTo>
                <a:lnTo>
                  <a:pt x="563245" y="242766"/>
                </a:lnTo>
                <a:lnTo>
                  <a:pt x="570821" y="251213"/>
                </a:lnTo>
                <a:lnTo>
                  <a:pt x="580707" y="255958"/>
                </a:lnTo>
                <a:lnTo>
                  <a:pt x="591641" y="256678"/>
                </a:lnTo>
                <a:lnTo>
                  <a:pt x="602361" y="253053"/>
                </a:lnTo>
                <a:lnTo>
                  <a:pt x="767128" y="156914"/>
                </a:lnTo>
                <a:lnTo>
                  <a:pt x="759333" y="156914"/>
                </a:lnTo>
                <a:lnTo>
                  <a:pt x="759333" y="152977"/>
                </a:lnTo>
                <a:lnTo>
                  <a:pt x="744981" y="152977"/>
                </a:lnTo>
                <a:lnTo>
                  <a:pt x="702718" y="128339"/>
                </a:lnTo>
                <a:close/>
              </a:path>
              <a:path w="816610" h="257175">
                <a:moveTo>
                  <a:pt x="653701" y="99764"/>
                </a:moveTo>
                <a:lnTo>
                  <a:pt x="0" y="99764"/>
                </a:lnTo>
                <a:lnTo>
                  <a:pt x="0" y="156914"/>
                </a:lnTo>
                <a:lnTo>
                  <a:pt x="653701" y="156914"/>
                </a:lnTo>
                <a:lnTo>
                  <a:pt x="702718" y="128339"/>
                </a:lnTo>
                <a:lnTo>
                  <a:pt x="653701" y="99764"/>
                </a:lnTo>
                <a:close/>
              </a:path>
              <a:path w="816610" h="257175">
                <a:moveTo>
                  <a:pt x="767128" y="99764"/>
                </a:moveTo>
                <a:lnTo>
                  <a:pt x="759333" y="99764"/>
                </a:lnTo>
                <a:lnTo>
                  <a:pt x="759333" y="156914"/>
                </a:lnTo>
                <a:lnTo>
                  <a:pt x="767128" y="156914"/>
                </a:lnTo>
                <a:lnTo>
                  <a:pt x="816101" y="128339"/>
                </a:lnTo>
                <a:lnTo>
                  <a:pt x="767128" y="99764"/>
                </a:lnTo>
                <a:close/>
              </a:path>
              <a:path w="816610" h="257175">
                <a:moveTo>
                  <a:pt x="744981" y="103701"/>
                </a:moveTo>
                <a:lnTo>
                  <a:pt x="702718" y="128339"/>
                </a:lnTo>
                <a:lnTo>
                  <a:pt x="744981" y="152977"/>
                </a:lnTo>
                <a:lnTo>
                  <a:pt x="744981" y="103701"/>
                </a:lnTo>
                <a:close/>
              </a:path>
              <a:path w="816610" h="257175">
                <a:moveTo>
                  <a:pt x="759333" y="103701"/>
                </a:moveTo>
                <a:lnTo>
                  <a:pt x="744981" y="103701"/>
                </a:lnTo>
                <a:lnTo>
                  <a:pt x="744981" y="152977"/>
                </a:lnTo>
                <a:lnTo>
                  <a:pt x="759333" y="152977"/>
                </a:lnTo>
                <a:lnTo>
                  <a:pt x="759333" y="103701"/>
                </a:lnTo>
                <a:close/>
              </a:path>
              <a:path w="816610" h="257175">
                <a:moveTo>
                  <a:pt x="591641" y="0"/>
                </a:moveTo>
                <a:lnTo>
                  <a:pt x="580707" y="720"/>
                </a:lnTo>
                <a:lnTo>
                  <a:pt x="570821" y="5464"/>
                </a:lnTo>
                <a:lnTo>
                  <a:pt x="563245" y="13912"/>
                </a:lnTo>
                <a:lnTo>
                  <a:pt x="559619" y="24632"/>
                </a:lnTo>
                <a:lnTo>
                  <a:pt x="560339" y="35565"/>
                </a:lnTo>
                <a:lnTo>
                  <a:pt x="565084" y="45452"/>
                </a:lnTo>
                <a:lnTo>
                  <a:pt x="573531" y="53028"/>
                </a:lnTo>
                <a:lnTo>
                  <a:pt x="702718" y="128339"/>
                </a:lnTo>
                <a:lnTo>
                  <a:pt x="744981" y="103701"/>
                </a:lnTo>
                <a:lnTo>
                  <a:pt x="759333" y="103701"/>
                </a:lnTo>
                <a:lnTo>
                  <a:pt x="759333" y="99764"/>
                </a:lnTo>
                <a:lnTo>
                  <a:pt x="767128" y="99764"/>
                </a:lnTo>
                <a:lnTo>
                  <a:pt x="602361" y="3625"/>
                </a:lnTo>
                <a:lnTo>
                  <a:pt x="591641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1000" y="633983"/>
            <a:ext cx="8610600" cy="460375"/>
          </a:xfrm>
          <a:custGeom>
            <a:avLst/>
            <a:gdLst/>
            <a:ahLst/>
            <a:cxnLst/>
            <a:rect l="l" t="t" r="r" b="b"/>
            <a:pathLst>
              <a:path w="8610600" h="460375">
                <a:moveTo>
                  <a:pt x="8610600" y="0"/>
                </a:moveTo>
                <a:lnTo>
                  <a:pt x="0" y="0"/>
                </a:lnTo>
                <a:lnTo>
                  <a:pt x="0" y="460248"/>
                </a:lnTo>
                <a:lnTo>
                  <a:pt x="8610600" y="460248"/>
                </a:lnTo>
                <a:lnTo>
                  <a:pt x="861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1000" y="633983"/>
            <a:ext cx="8610600" cy="460375"/>
          </a:xfrm>
          <a:prstGeom prst="rect">
            <a:avLst/>
          </a:prstGeom>
          <a:ln w="12700">
            <a:solidFill>
              <a:srgbClr val="D24717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435609" indent="-34417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435609" algn="l"/>
              </a:tabLst>
            </a:pPr>
            <a:r>
              <a:rPr sz="2400" spc="-155" dirty="0">
                <a:latin typeface="Times New Roman"/>
                <a:cs typeface="Times New Roman"/>
              </a:rPr>
              <a:t>Using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80" dirty="0">
                <a:solidFill>
                  <a:srgbClr val="FF0000"/>
                </a:solidFill>
                <a:latin typeface="Times New Roman"/>
                <a:cs typeface="Times New Roman"/>
              </a:rPr>
              <a:t>@extend</a:t>
            </a:r>
            <a:r>
              <a:rPr sz="24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40" dirty="0">
                <a:solidFill>
                  <a:srgbClr val="FF0000"/>
                </a:solidFill>
                <a:latin typeface="Times New Roman"/>
                <a:cs typeface="Times New Roman"/>
              </a:rPr>
              <a:t>enables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FF0000"/>
                </a:solidFill>
                <a:latin typeface="Times New Roman"/>
                <a:cs typeface="Times New Roman"/>
              </a:rPr>
              <a:t>selector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solidFill>
                  <a:srgbClr val="FF0000"/>
                </a:solidFill>
                <a:latin typeface="Times New Roman"/>
                <a:cs typeface="Times New Roman"/>
              </a:rPr>
              <a:t>inherit</a:t>
            </a:r>
            <a:r>
              <a:rPr sz="2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imes New Roman"/>
                <a:cs typeface="Times New Roman"/>
              </a:rPr>
              <a:t>rules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4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FF0000"/>
                </a:solidFill>
                <a:latin typeface="Times New Roman"/>
                <a:cs typeface="Times New Roman"/>
              </a:rPr>
              <a:t>another</a:t>
            </a:r>
            <a:r>
              <a:rPr sz="24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selector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846" y="-95250"/>
            <a:ext cx="41998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5" dirty="0"/>
              <a:t>Control</a:t>
            </a:r>
            <a:r>
              <a:rPr sz="4000" spc="-204" dirty="0"/>
              <a:t> </a:t>
            </a:r>
            <a:r>
              <a:rPr sz="4000" spc="-10" dirty="0"/>
              <a:t>Instructions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61559" y="1886711"/>
            <a:ext cx="3810000" cy="1941830"/>
          </a:xfrm>
          <a:custGeom>
            <a:avLst/>
            <a:gdLst/>
            <a:ahLst/>
            <a:cxnLst/>
            <a:rect l="l" t="t" r="r" b="b"/>
            <a:pathLst>
              <a:path w="3810000" h="1941829">
                <a:moveTo>
                  <a:pt x="3809999" y="0"/>
                </a:moveTo>
                <a:lnTo>
                  <a:pt x="0" y="0"/>
                </a:lnTo>
                <a:lnTo>
                  <a:pt x="0" y="1941576"/>
                </a:lnTo>
                <a:lnTo>
                  <a:pt x="3809999" y="1941576"/>
                </a:lnTo>
                <a:lnTo>
                  <a:pt x="380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61559" y="1886711"/>
            <a:ext cx="3810000" cy="1941830"/>
          </a:xfrm>
          <a:prstGeom prst="rect">
            <a:avLst/>
          </a:prstGeom>
          <a:ln w="12700">
            <a:solidFill>
              <a:srgbClr val="D24717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"/>
              </a:spcBef>
            </a:pPr>
            <a:r>
              <a:rPr sz="2400" spc="-60" dirty="0">
                <a:latin typeface="Times New Roman"/>
                <a:cs typeface="Times New Roman"/>
              </a:rPr>
              <a:t>@for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$ifrom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1px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3px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2400" spc="-55" dirty="0">
                <a:latin typeface="Times New Roman"/>
                <a:cs typeface="Times New Roman"/>
              </a:rPr>
              <a:t>.border-</a:t>
            </a:r>
            <a:r>
              <a:rPr sz="2400" spc="70" dirty="0">
                <a:latin typeface="Times New Roman"/>
                <a:cs typeface="Times New Roman"/>
              </a:rPr>
              <a:t>#{i}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2400" spc="-60" dirty="0">
                <a:latin typeface="Times New Roman"/>
                <a:cs typeface="Times New Roman"/>
              </a:rPr>
              <a:t>border: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$isolid</a:t>
            </a:r>
            <a:r>
              <a:rPr sz="2400" spc="-20" dirty="0">
                <a:latin typeface="Times New Roman"/>
                <a:cs typeface="Times New Roman"/>
              </a:rPr>
              <a:t> blue;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67655" y="1514855"/>
            <a:ext cx="551815" cy="372110"/>
          </a:xfrm>
          <a:custGeom>
            <a:avLst/>
            <a:gdLst/>
            <a:ahLst/>
            <a:cxnLst/>
            <a:rect l="l" t="t" r="r" b="b"/>
            <a:pathLst>
              <a:path w="551814" h="372110">
                <a:moveTo>
                  <a:pt x="551688" y="0"/>
                </a:moveTo>
                <a:lnTo>
                  <a:pt x="0" y="0"/>
                </a:lnTo>
                <a:lnTo>
                  <a:pt x="0" y="371856"/>
                </a:lnTo>
                <a:lnTo>
                  <a:pt x="551688" y="371856"/>
                </a:lnTo>
                <a:lnTo>
                  <a:pt x="5516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61559" y="1514855"/>
            <a:ext cx="558165" cy="372110"/>
          </a:xfrm>
          <a:prstGeom prst="rect">
            <a:avLst/>
          </a:prstGeom>
          <a:ln w="12700">
            <a:solidFill>
              <a:srgbClr val="9B2C1F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CSS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8762" y="1880361"/>
            <a:ext cx="3517900" cy="2689225"/>
            <a:chOff x="508762" y="1880361"/>
            <a:chExt cx="3517900" cy="2689225"/>
          </a:xfrm>
        </p:grpSpPr>
        <p:sp>
          <p:nvSpPr>
            <p:cNvPr id="9" name="object 9"/>
            <p:cNvSpPr/>
            <p:nvPr/>
          </p:nvSpPr>
          <p:spPr>
            <a:xfrm>
              <a:off x="515112" y="1886711"/>
              <a:ext cx="3505200" cy="2676525"/>
            </a:xfrm>
            <a:custGeom>
              <a:avLst/>
              <a:gdLst/>
              <a:ahLst/>
              <a:cxnLst/>
              <a:rect l="l" t="t" r="r" b="b"/>
              <a:pathLst>
                <a:path w="3505200" h="2676525">
                  <a:moveTo>
                    <a:pt x="3505200" y="0"/>
                  </a:moveTo>
                  <a:lnTo>
                    <a:pt x="0" y="0"/>
                  </a:lnTo>
                  <a:lnTo>
                    <a:pt x="0" y="2676144"/>
                  </a:lnTo>
                  <a:lnTo>
                    <a:pt x="3505200" y="2676144"/>
                  </a:lnTo>
                  <a:lnTo>
                    <a:pt x="3505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5112" y="1886711"/>
              <a:ext cx="3505200" cy="2676525"/>
            </a:xfrm>
            <a:custGeom>
              <a:avLst/>
              <a:gdLst/>
              <a:ahLst/>
              <a:cxnLst/>
              <a:rect l="l" t="t" r="r" b="b"/>
              <a:pathLst>
                <a:path w="3505200" h="2676525">
                  <a:moveTo>
                    <a:pt x="0" y="2676144"/>
                  </a:moveTo>
                  <a:lnTo>
                    <a:pt x="3505200" y="2676144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2676144"/>
                  </a:lnTo>
                  <a:close/>
                </a:path>
              </a:pathLst>
            </a:custGeom>
            <a:ln w="127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1462" y="1877314"/>
            <a:ext cx="3492500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z="2400" spc="-100" dirty="0">
                <a:latin typeface="Times New Roman"/>
                <a:cs typeface="Times New Roman"/>
              </a:rPr>
              <a:t>@if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lightness($color)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240" dirty="0">
                <a:latin typeface="Times New Roman"/>
                <a:cs typeface="Times New Roman"/>
              </a:rPr>
              <a:t>&gt;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30%</a:t>
            </a:r>
            <a:endParaRPr sz="24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</a:pPr>
            <a:r>
              <a:rPr sz="2400" spc="-120" dirty="0">
                <a:latin typeface="Times New Roman"/>
                <a:cs typeface="Times New Roman"/>
              </a:rPr>
              <a:t>background-</a:t>
            </a:r>
            <a:r>
              <a:rPr sz="2400" spc="-80" dirty="0">
                <a:latin typeface="Times New Roman"/>
                <a:cs typeface="Times New Roman"/>
              </a:rPr>
              <a:t>color: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black;</a:t>
            </a:r>
            <a:endParaRPr sz="24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  <a:spcBef>
                <a:spcPts val="5"/>
              </a:spcBef>
            </a:pPr>
            <a:r>
              <a:rPr sz="2400" spc="-100" dirty="0">
                <a:latin typeface="Times New Roman"/>
                <a:cs typeface="Times New Roman"/>
              </a:rPr>
              <a:t>@else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</a:pPr>
            <a:r>
              <a:rPr sz="2400" spc="-120" dirty="0">
                <a:latin typeface="Times New Roman"/>
                <a:cs typeface="Times New Roman"/>
              </a:rPr>
              <a:t>background-</a:t>
            </a:r>
            <a:r>
              <a:rPr sz="2400" spc="-80" dirty="0">
                <a:latin typeface="Times New Roman"/>
                <a:cs typeface="Times New Roman"/>
              </a:rPr>
              <a:t>color: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white;</a:t>
            </a:r>
            <a:endParaRPr sz="24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8762" y="1514602"/>
            <a:ext cx="534035" cy="381635"/>
            <a:chOff x="508762" y="1514602"/>
            <a:chExt cx="534035" cy="381635"/>
          </a:xfrm>
        </p:grpSpPr>
        <p:sp>
          <p:nvSpPr>
            <p:cNvPr id="13" name="object 13"/>
            <p:cNvSpPr/>
            <p:nvPr/>
          </p:nvSpPr>
          <p:spPr>
            <a:xfrm>
              <a:off x="515112" y="1520952"/>
              <a:ext cx="521334" cy="368935"/>
            </a:xfrm>
            <a:custGeom>
              <a:avLst/>
              <a:gdLst/>
              <a:ahLst/>
              <a:cxnLst/>
              <a:rect l="l" t="t" r="r" b="b"/>
              <a:pathLst>
                <a:path w="521334" h="368935">
                  <a:moveTo>
                    <a:pt x="521207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521207" y="368808"/>
                  </a:lnTo>
                  <a:lnTo>
                    <a:pt x="52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5112" y="1520952"/>
              <a:ext cx="521334" cy="368935"/>
            </a:xfrm>
            <a:custGeom>
              <a:avLst/>
              <a:gdLst/>
              <a:ahLst/>
              <a:cxnLst/>
              <a:rect l="l" t="t" r="r" b="b"/>
              <a:pathLst>
                <a:path w="521334" h="368935">
                  <a:moveTo>
                    <a:pt x="0" y="368808"/>
                  </a:moveTo>
                  <a:lnTo>
                    <a:pt x="521207" y="368808"/>
                  </a:lnTo>
                  <a:lnTo>
                    <a:pt x="521207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12700">
              <a:solidFill>
                <a:srgbClr val="9B2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1462" y="1521078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z="1800" spc="-260" dirty="0">
                <a:solidFill>
                  <a:srgbClr val="FF0000"/>
                </a:solidFill>
                <a:latin typeface="Times New Roman"/>
                <a:cs typeface="Times New Roman"/>
              </a:rPr>
              <a:t>SASS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1000" y="633983"/>
            <a:ext cx="8610600" cy="460375"/>
          </a:xfrm>
          <a:custGeom>
            <a:avLst/>
            <a:gdLst/>
            <a:ahLst/>
            <a:cxnLst/>
            <a:rect l="l" t="t" r="r" b="b"/>
            <a:pathLst>
              <a:path w="8610600" h="460375">
                <a:moveTo>
                  <a:pt x="8610600" y="0"/>
                </a:moveTo>
                <a:lnTo>
                  <a:pt x="0" y="0"/>
                </a:lnTo>
                <a:lnTo>
                  <a:pt x="0" y="460248"/>
                </a:lnTo>
                <a:lnTo>
                  <a:pt x="8610600" y="460248"/>
                </a:lnTo>
                <a:lnTo>
                  <a:pt x="861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4040123" y="3149784"/>
            <a:ext cx="3150235" cy="1181735"/>
            <a:chOff x="4040123" y="3149784"/>
            <a:chExt cx="3150235" cy="1181735"/>
          </a:xfrm>
        </p:grpSpPr>
        <p:sp>
          <p:nvSpPr>
            <p:cNvPr id="18" name="object 18"/>
            <p:cNvSpPr/>
            <p:nvPr/>
          </p:nvSpPr>
          <p:spPr>
            <a:xfrm>
              <a:off x="4040123" y="3149784"/>
              <a:ext cx="816610" cy="257175"/>
            </a:xfrm>
            <a:custGeom>
              <a:avLst/>
              <a:gdLst/>
              <a:ahLst/>
              <a:cxnLst/>
              <a:rect l="l" t="t" r="r" b="b"/>
              <a:pathLst>
                <a:path w="816610" h="257175">
                  <a:moveTo>
                    <a:pt x="702718" y="128339"/>
                  </a:moveTo>
                  <a:lnTo>
                    <a:pt x="573531" y="203650"/>
                  </a:lnTo>
                  <a:lnTo>
                    <a:pt x="565084" y="211226"/>
                  </a:lnTo>
                  <a:lnTo>
                    <a:pt x="560339" y="221112"/>
                  </a:lnTo>
                  <a:lnTo>
                    <a:pt x="559619" y="232046"/>
                  </a:lnTo>
                  <a:lnTo>
                    <a:pt x="563245" y="242766"/>
                  </a:lnTo>
                  <a:lnTo>
                    <a:pt x="570821" y="251213"/>
                  </a:lnTo>
                  <a:lnTo>
                    <a:pt x="580707" y="255958"/>
                  </a:lnTo>
                  <a:lnTo>
                    <a:pt x="591641" y="256678"/>
                  </a:lnTo>
                  <a:lnTo>
                    <a:pt x="602361" y="253053"/>
                  </a:lnTo>
                  <a:lnTo>
                    <a:pt x="767128" y="156914"/>
                  </a:lnTo>
                  <a:lnTo>
                    <a:pt x="759333" y="156914"/>
                  </a:lnTo>
                  <a:lnTo>
                    <a:pt x="759333" y="152977"/>
                  </a:lnTo>
                  <a:lnTo>
                    <a:pt x="744981" y="152977"/>
                  </a:lnTo>
                  <a:lnTo>
                    <a:pt x="702718" y="128339"/>
                  </a:lnTo>
                  <a:close/>
                </a:path>
                <a:path w="816610" h="257175">
                  <a:moveTo>
                    <a:pt x="653701" y="99764"/>
                  </a:moveTo>
                  <a:lnTo>
                    <a:pt x="0" y="99764"/>
                  </a:lnTo>
                  <a:lnTo>
                    <a:pt x="0" y="156914"/>
                  </a:lnTo>
                  <a:lnTo>
                    <a:pt x="653701" y="156914"/>
                  </a:lnTo>
                  <a:lnTo>
                    <a:pt x="702718" y="128339"/>
                  </a:lnTo>
                  <a:lnTo>
                    <a:pt x="653701" y="99764"/>
                  </a:lnTo>
                  <a:close/>
                </a:path>
                <a:path w="816610" h="257175">
                  <a:moveTo>
                    <a:pt x="767128" y="99764"/>
                  </a:moveTo>
                  <a:lnTo>
                    <a:pt x="759333" y="99764"/>
                  </a:lnTo>
                  <a:lnTo>
                    <a:pt x="759333" y="156914"/>
                  </a:lnTo>
                  <a:lnTo>
                    <a:pt x="767128" y="156914"/>
                  </a:lnTo>
                  <a:lnTo>
                    <a:pt x="816101" y="128339"/>
                  </a:lnTo>
                  <a:lnTo>
                    <a:pt x="767128" y="99764"/>
                  </a:lnTo>
                  <a:close/>
                </a:path>
                <a:path w="816610" h="257175">
                  <a:moveTo>
                    <a:pt x="744981" y="103701"/>
                  </a:moveTo>
                  <a:lnTo>
                    <a:pt x="702718" y="128339"/>
                  </a:lnTo>
                  <a:lnTo>
                    <a:pt x="744981" y="152977"/>
                  </a:lnTo>
                  <a:lnTo>
                    <a:pt x="744981" y="103701"/>
                  </a:lnTo>
                  <a:close/>
                </a:path>
                <a:path w="816610" h="257175">
                  <a:moveTo>
                    <a:pt x="759333" y="103701"/>
                  </a:moveTo>
                  <a:lnTo>
                    <a:pt x="744981" y="103701"/>
                  </a:lnTo>
                  <a:lnTo>
                    <a:pt x="744981" y="152977"/>
                  </a:lnTo>
                  <a:lnTo>
                    <a:pt x="759333" y="152977"/>
                  </a:lnTo>
                  <a:lnTo>
                    <a:pt x="759333" y="103701"/>
                  </a:lnTo>
                  <a:close/>
                </a:path>
                <a:path w="816610" h="257175">
                  <a:moveTo>
                    <a:pt x="591641" y="0"/>
                  </a:moveTo>
                  <a:lnTo>
                    <a:pt x="580707" y="720"/>
                  </a:lnTo>
                  <a:lnTo>
                    <a:pt x="570821" y="5464"/>
                  </a:lnTo>
                  <a:lnTo>
                    <a:pt x="563245" y="13912"/>
                  </a:lnTo>
                  <a:lnTo>
                    <a:pt x="559619" y="24632"/>
                  </a:lnTo>
                  <a:lnTo>
                    <a:pt x="560339" y="35565"/>
                  </a:lnTo>
                  <a:lnTo>
                    <a:pt x="565084" y="45452"/>
                  </a:lnTo>
                  <a:lnTo>
                    <a:pt x="573531" y="53028"/>
                  </a:lnTo>
                  <a:lnTo>
                    <a:pt x="702718" y="128339"/>
                  </a:lnTo>
                  <a:lnTo>
                    <a:pt x="744981" y="103701"/>
                  </a:lnTo>
                  <a:lnTo>
                    <a:pt x="759333" y="103701"/>
                  </a:lnTo>
                  <a:lnTo>
                    <a:pt x="759333" y="99764"/>
                  </a:lnTo>
                  <a:lnTo>
                    <a:pt x="767128" y="99764"/>
                  </a:lnTo>
                  <a:lnTo>
                    <a:pt x="602361" y="3625"/>
                  </a:lnTo>
                  <a:lnTo>
                    <a:pt x="591641" y="0"/>
                  </a:lnTo>
                  <a:close/>
                </a:path>
              </a:pathLst>
            </a:custGeom>
            <a:solidFill>
              <a:srgbClr val="AE34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36207" y="3962399"/>
              <a:ext cx="954405" cy="368935"/>
            </a:xfrm>
            <a:custGeom>
              <a:avLst/>
              <a:gdLst/>
              <a:ahLst/>
              <a:cxnLst/>
              <a:rect l="l" t="t" r="r" b="b"/>
              <a:pathLst>
                <a:path w="954404" h="368935">
                  <a:moveTo>
                    <a:pt x="954024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954024" y="368807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1000" y="633983"/>
            <a:ext cx="8610600" cy="460375"/>
          </a:xfrm>
          <a:prstGeom prst="rect">
            <a:avLst/>
          </a:prstGeom>
          <a:ln w="12700">
            <a:solidFill>
              <a:srgbClr val="D24717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435609" indent="-34417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435609" algn="l"/>
              </a:tabLst>
            </a:pPr>
            <a:r>
              <a:rPr sz="2400" spc="-155" dirty="0">
                <a:latin typeface="Times New Roman"/>
                <a:cs typeface="Times New Roman"/>
              </a:rPr>
              <a:t>Using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@extend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enables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selector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75" dirty="0">
                <a:solidFill>
                  <a:srgbClr val="FF0000"/>
                </a:solidFill>
                <a:latin typeface="Times New Roman"/>
                <a:cs typeface="Times New Roman"/>
              </a:rPr>
              <a:t>inherit</a:t>
            </a:r>
            <a:r>
              <a:rPr sz="2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imes New Roman"/>
                <a:cs typeface="Times New Roman"/>
              </a:rPr>
              <a:t>rules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4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srgbClr val="FF0000"/>
                </a:solidFill>
                <a:latin typeface="Times New Roman"/>
                <a:cs typeface="Times New Roman"/>
              </a:rPr>
              <a:t>another</a:t>
            </a:r>
            <a:r>
              <a:rPr sz="24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selector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00200" y="4800600"/>
            <a:ext cx="713740" cy="368935"/>
          </a:xfrm>
          <a:custGeom>
            <a:avLst/>
            <a:gdLst/>
            <a:ahLst/>
            <a:cxnLst/>
            <a:rect l="l" t="t" r="r" b="b"/>
            <a:pathLst>
              <a:path w="713739" h="368935">
                <a:moveTo>
                  <a:pt x="713232" y="0"/>
                </a:moveTo>
                <a:lnTo>
                  <a:pt x="0" y="0"/>
                </a:lnTo>
                <a:lnTo>
                  <a:pt x="0" y="368807"/>
                </a:lnTo>
                <a:lnTo>
                  <a:pt x="713232" y="368807"/>
                </a:lnTo>
                <a:lnTo>
                  <a:pt x="7132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00200" y="4800600"/>
            <a:ext cx="713740" cy="368935"/>
          </a:xfrm>
          <a:prstGeom prst="rect">
            <a:avLst/>
          </a:prstGeom>
          <a:ln w="12700">
            <a:solidFill>
              <a:srgbClr val="9B2C1F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0"/>
              </a:spcBef>
            </a:pPr>
            <a:r>
              <a:rPr sz="1800" spc="-130" dirty="0">
                <a:solidFill>
                  <a:srgbClr val="FF0000"/>
                </a:solidFill>
                <a:latin typeface="Times New Roman"/>
                <a:cs typeface="Times New Roman"/>
              </a:rPr>
              <a:t>If-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Else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23" name="object 23"/>
          <p:cNvSpPr txBox="1"/>
          <p:nvPr/>
        </p:nvSpPr>
        <p:spPr>
          <a:xfrm>
            <a:off x="6236208" y="3962400"/>
            <a:ext cx="954405" cy="368935"/>
          </a:xfrm>
          <a:prstGeom prst="rect">
            <a:avLst/>
          </a:prstGeom>
          <a:ln w="12700">
            <a:solidFill>
              <a:srgbClr val="9B2C1F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10"/>
              </a:spcBef>
            </a:pPr>
            <a:r>
              <a:rPr sz="1800" spc="-11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Loop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6050" y="1517650"/>
            <a:ext cx="5478145" cy="3822700"/>
            <a:chOff x="146050" y="1517650"/>
            <a:chExt cx="5478145" cy="3822700"/>
          </a:xfrm>
        </p:grpSpPr>
        <p:sp>
          <p:nvSpPr>
            <p:cNvPr id="3" name="object 3"/>
            <p:cNvSpPr/>
            <p:nvPr/>
          </p:nvSpPr>
          <p:spPr>
            <a:xfrm>
              <a:off x="152400" y="1524000"/>
              <a:ext cx="5465445" cy="3810000"/>
            </a:xfrm>
            <a:custGeom>
              <a:avLst/>
              <a:gdLst/>
              <a:ahLst/>
              <a:cxnLst/>
              <a:rect l="l" t="t" r="r" b="b"/>
              <a:pathLst>
                <a:path w="5465445" h="3810000">
                  <a:moveTo>
                    <a:pt x="0" y="3810000"/>
                  </a:moveTo>
                  <a:lnTo>
                    <a:pt x="5465064" y="3810000"/>
                  </a:lnTo>
                  <a:lnTo>
                    <a:pt x="5465064" y="0"/>
                  </a:lnTo>
                  <a:lnTo>
                    <a:pt x="0" y="0"/>
                  </a:lnTo>
                  <a:lnTo>
                    <a:pt x="0" y="3810000"/>
                  </a:lnTo>
                  <a:close/>
                </a:path>
              </a:pathLst>
            </a:custGeom>
            <a:ln w="12700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62200" y="2551175"/>
              <a:ext cx="3100070" cy="1755775"/>
            </a:xfrm>
            <a:custGeom>
              <a:avLst/>
              <a:gdLst/>
              <a:ahLst/>
              <a:cxnLst/>
              <a:rect l="l" t="t" r="r" b="b"/>
              <a:pathLst>
                <a:path w="3100070" h="1755775">
                  <a:moveTo>
                    <a:pt x="3099816" y="0"/>
                  </a:moveTo>
                  <a:lnTo>
                    <a:pt x="0" y="0"/>
                  </a:lnTo>
                  <a:lnTo>
                    <a:pt x="0" y="1755648"/>
                  </a:lnTo>
                  <a:lnTo>
                    <a:pt x="3099816" y="1755648"/>
                  </a:lnTo>
                  <a:lnTo>
                    <a:pt x="3099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3846" y="-95250"/>
            <a:ext cx="14439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40" dirty="0"/>
              <a:t>Import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62200" y="2551176"/>
            <a:ext cx="3100070" cy="1755775"/>
          </a:xfrm>
          <a:prstGeom prst="rect">
            <a:avLst/>
          </a:prstGeom>
          <a:ln w="12700">
            <a:solidFill>
              <a:srgbClr val="D24717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2075" marR="1607820">
              <a:lnSpc>
                <a:spcPct val="100000"/>
              </a:lnSpc>
              <a:spcBef>
                <a:spcPts val="105"/>
              </a:spcBef>
            </a:pPr>
            <a:r>
              <a:rPr sz="1800" spc="405" dirty="0">
                <a:latin typeface="Times New Roman"/>
                <a:cs typeface="Times New Roman"/>
              </a:rPr>
              <a:t>//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basefile.scss </a:t>
            </a:r>
            <a:r>
              <a:rPr sz="1800" spc="-35" dirty="0">
                <a:latin typeface="Times New Roman"/>
                <a:cs typeface="Times New Roman"/>
              </a:rPr>
              <a:t>@import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'reset'; </a:t>
            </a:r>
            <a:r>
              <a:rPr sz="1800" spc="-120" dirty="0">
                <a:latin typeface="Times New Roman"/>
                <a:cs typeface="Times New Roman"/>
              </a:rPr>
              <a:t>body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92075" marR="316865">
              <a:lnSpc>
                <a:spcPct val="100000"/>
              </a:lnSpc>
            </a:pPr>
            <a:r>
              <a:rPr sz="1800" spc="-65" dirty="0">
                <a:latin typeface="Times New Roman"/>
                <a:cs typeface="Times New Roman"/>
              </a:rPr>
              <a:t>font: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100%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Helvetica,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sans-</a:t>
            </a:r>
            <a:r>
              <a:rPr sz="1800" spc="-45" dirty="0">
                <a:latin typeface="Times New Roman"/>
                <a:cs typeface="Times New Roman"/>
              </a:rPr>
              <a:t>serif; </a:t>
            </a:r>
            <a:r>
              <a:rPr sz="1800" spc="-95" dirty="0">
                <a:latin typeface="Times New Roman"/>
                <a:cs typeface="Times New Roman"/>
              </a:rPr>
              <a:t>background-</a:t>
            </a:r>
            <a:r>
              <a:rPr sz="1800" spc="-60" dirty="0">
                <a:latin typeface="Times New Roman"/>
                <a:cs typeface="Times New Roman"/>
              </a:rPr>
              <a:t>color: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#efefef;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1886711"/>
            <a:ext cx="1905000" cy="2307590"/>
          </a:xfrm>
          <a:custGeom>
            <a:avLst/>
            <a:gdLst/>
            <a:ahLst/>
            <a:cxnLst/>
            <a:rect l="l" t="t" r="r" b="b"/>
            <a:pathLst>
              <a:path w="1905000" h="2307590">
                <a:moveTo>
                  <a:pt x="1905000" y="0"/>
                </a:moveTo>
                <a:lnTo>
                  <a:pt x="0" y="0"/>
                </a:lnTo>
                <a:lnTo>
                  <a:pt x="0" y="2307336"/>
                </a:lnTo>
                <a:lnTo>
                  <a:pt x="1905000" y="2307336"/>
                </a:lnTo>
                <a:lnTo>
                  <a:pt x="1905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4800" y="1886711"/>
            <a:ext cx="1905000" cy="2307590"/>
          </a:xfrm>
          <a:prstGeom prst="rect">
            <a:avLst/>
          </a:prstGeom>
          <a:ln w="12700">
            <a:solidFill>
              <a:srgbClr val="D24717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90805" algn="just">
              <a:lnSpc>
                <a:spcPct val="100000"/>
              </a:lnSpc>
              <a:spcBef>
                <a:spcPts val="95"/>
              </a:spcBef>
            </a:pPr>
            <a:r>
              <a:rPr sz="1800" spc="405" dirty="0">
                <a:latin typeface="Times New Roman"/>
                <a:cs typeface="Times New Roman"/>
              </a:rPr>
              <a:t>//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_reset.scss</a:t>
            </a:r>
            <a:endParaRPr sz="1800">
              <a:latin typeface="Times New Roman"/>
              <a:cs typeface="Times New Roman"/>
            </a:endParaRPr>
          </a:p>
          <a:p>
            <a:pPr marL="90805" marR="1351280" algn="just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html, </a:t>
            </a:r>
            <a:r>
              <a:rPr sz="1800" spc="-110" dirty="0">
                <a:latin typeface="Times New Roman"/>
                <a:cs typeface="Times New Roman"/>
              </a:rPr>
              <a:t>body, </a:t>
            </a:r>
            <a:r>
              <a:rPr sz="1800" spc="-25" dirty="0">
                <a:latin typeface="Times New Roman"/>
                <a:cs typeface="Times New Roman"/>
              </a:rPr>
              <a:t>ul,</a:t>
            </a:r>
            <a:endParaRPr sz="1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latin typeface="Times New Roman"/>
                <a:cs typeface="Times New Roman"/>
              </a:rPr>
              <a:t>ol{</a:t>
            </a:r>
            <a:endParaRPr sz="1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800" spc="-80" dirty="0">
                <a:latin typeface="Times New Roman"/>
                <a:cs typeface="Times New Roman"/>
              </a:rPr>
              <a:t>margin: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0;</a:t>
            </a:r>
            <a:endParaRPr sz="1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800" spc="-95" dirty="0">
                <a:latin typeface="Times New Roman"/>
                <a:cs typeface="Times New Roman"/>
              </a:rPr>
              <a:t>padding: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0;</a:t>
            </a:r>
            <a:endParaRPr sz="1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18988" y="1502663"/>
            <a:ext cx="3296920" cy="2307590"/>
            <a:chOff x="5618988" y="1502663"/>
            <a:chExt cx="3296920" cy="2307590"/>
          </a:xfrm>
        </p:grpSpPr>
        <p:sp>
          <p:nvSpPr>
            <p:cNvPr id="11" name="object 11"/>
            <p:cNvSpPr/>
            <p:nvPr/>
          </p:nvSpPr>
          <p:spPr>
            <a:xfrm>
              <a:off x="5618988" y="2692584"/>
              <a:ext cx="407034" cy="257175"/>
            </a:xfrm>
            <a:custGeom>
              <a:avLst/>
              <a:gdLst/>
              <a:ahLst/>
              <a:cxnLst/>
              <a:rect l="l" t="t" r="r" b="b"/>
              <a:pathLst>
                <a:path w="407035" h="257175">
                  <a:moveTo>
                    <a:pt x="293143" y="128339"/>
                  </a:moveTo>
                  <a:lnTo>
                    <a:pt x="163957" y="203650"/>
                  </a:lnTo>
                  <a:lnTo>
                    <a:pt x="155509" y="211226"/>
                  </a:lnTo>
                  <a:lnTo>
                    <a:pt x="150764" y="221112"/>
                  </a:lnTo>
                  <a:lnTo>
                    <a:pt x="150044" y="232046"/>
                  </a:lnTo>
                  <a:lnTo>
                    <a:pt x="153670" y="242766"/>
                  </a:lnTo>
                  <a:lnTo>
                    <a:pt x="161246" y="251213"/>
                  </a:lnTo>
                  <a:lnTo>
                    <a:pt x="171132" y="255958"/>
                  </a:lnTo>
                  <a:lnTo>
                    <a:pt x="182066" y="256678"/>
                  </a:lnTo>
                  <a:lnTo>
                    <a:pt x="192786" y="253053"/>
                  </a:lnTo>
                  <a:lnTo>
                    <a:pt x="357553" y="156914"/>
                  </a:lnTo>
                  <a:lnTo>
                    <a:pt x="349758" y="156914"/>
                  </a:lnTo>
                  <a:lnTo>
                    <a:pt x="349758" y="152977"/>
                  </a:lnTo>
                  <a:lnTo>
                    <a:pt x="335407" y="152977"/>
                  </a:lnTo>
                  <a:lnTo>
                    <a:pt x="293143" y="128339"/>
                  </a:lnTo>
                  <a:close/>
                </a:path>
                <a:path w="407035" h="257175">
                  <a:moveTo>
                    <a:pt x="244126" y="99764"/>
                  </a:moveTo>
                  <a:lnTo>
                    <a:pt x="0" y="99764"/>
                  </a:lnTo>
                  <a:lnTo>
                    <a:pt x="0" y="156914"/>
                  </a:lnTo>
                  <a:lnTo>
                    <a:pt x="244126" y="156914"/>
                  </a:lnTo>
                  <a:lnTo>
                    <a:pt x="293143" y="128339"/>
                  </a:lnTo>
                  <a:lnTo>
                    <a:pt x="244126" y="99764"/>
                  </a:lnTo>
                  <a:close/>
                </a:path>
                <a:path w="407035" h="257175">
                  <a:moveTo>
                    <a:pt x="357553" y="99764"/>
                  </a:moveTo>
                  <a:lnTo>
                    <a:pt x="349758" y="99764"/>
                  </a:lnTo>
                  <a:lnTo>
                    <a:pt x="349758" y="156914"/>
                  </a:lnTo>
                  <a:lnTo>
                    <a:pt x="357553" y="156914"/>
                  </a:lnTo>
                  <a:lnTo>
                    <a:pt x="406526" y="128339"/>
                  </a:lnTo>
                  <a:lnTo>
                    <a:pt x="357553" y="99764"/>
                  </a:lnTo>
                  <a:close/>
                </a:path>
                <a:path w="407035" h="257175">
                  <a:moveTo>
                    <a:pt x="335407" y="103701"/>
                  </a:moveTo>
                  <a:lnTo>
                    <a:pt x="293143" y="128339"/>
                  </a:lnTo>
                  <a:lnTo>
                    <a:pt x="335407" y="152977"/>
                  </a:lnTo>
                  <a:lnTo>
                    <a:pt x="335407" y="103701"/>
                  </a:lnTo>
                  <a:close/>
                </a:path>
                <a:path w="407035" h="257175">
                  <a:moveTo>
                    <a:pt x="349758" y="103701"/>
                  </a:moveTo>
                  <a:lnTo>
                    <a:pt x="335407" y="103701"/>
                  </a:lnTo>
                  <a:lnTo>
                    <a:pt x="335407" y="152977"/>
                  </a:lnTo>
                  <a:lnTo>
                    <a:pt x="349758" y="152977"/>
                  </a:lnTo>
                  <a:lnTo>
                    <a:pt x="349758" y="103701"/>
                  </a:lnTo>
                  <a:close/>
                </a:path>
                <a:path w="407035" h="257175">
                  <a:moveTo>
                    <a:pt x="182066" y="0"/>
                  </a:moveTo>
                  <a:lnTo>
                    <a:pt x="171132" y="720"/>
                  </a:lnTo>
                  <a:lnTo>
                    <a:pt x="161246" y="5464"/>
                  </a:lnTo>
                  <a:lnTo>
                    <a:pt x="153670" y="13912"/>
                  </a:lnTo>
                  <a:lnTo>
                    <a:pt x="150044" y="24632"/>
                  </a:lnTo>
                  <a:lnTo>
                    <a:pt x="150764" y="35565"/>
                  </a:lnTo>
                  <a:lnTo>
                    <a:pt x="155509" y="45452"/>
                  </a:lnTo>
                  <a:lnTo>
                    <a:pt x="163957" y="53028"/>
                  </a:lnTo>
                  <a:lnTo>
                    <a:pt x="293143" y="128339"/>
                  </a:lnTo>
                  <a:lnTo>
                    <a:pt x="335407" y="103701"/>
                  </a:lnTo>
                  <a:lnTo>
                    <a:pt x="349758" y="103701"/>
                  </a:lnTo>
                  <a:lnTo>
                    <a:pt x="349758" y="99764"/>
                  </a:lnTo>
                  <a:lnTo>
                    <a:pt x="357553" y="99764"/>
                  </a:lnTo>
                  <a:lnTo>
                    <a:pt x="192786" y="3625"/>
                  </a:lnTo>
                  <a:lnTo>
                    <a:pt x="182066" y="0"/>
                  </a:lnTo>
                  <a:close/>
                </a:path>
              </a:pathLst>
            </a:custGeom>
            <a:solidFill>
              <a:srgbClr val="AE34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25896" y="1502663"/>
              <a:ext cx="2889885" cy="2307590"/>
            </a:xfrm>
            <a:custGeom>
              <a:avLst/>
              <a:gdLst/>
              <a:ahLst/>
              <a:cxnLst/>
              <a:rect l="l" t="t" r="r" b="b"/>
              <a:pathLst>
                <a:path w="2889884" h="2307590">
                  <a:moveTo>
                    <a:pt x="2889504" y="0"/>
                  </a:moveTo>
                  <a:lnTo>
                    <a:pt x="0" y="0"/>
                  </a:lnTo>
                  <a:lnTo>
                    <a:pt x="0" y="2307336"/>
                  </a:lnTo>
                  <a:lnTo>
                    <a:pt x="2889504" y="2307336"/>
                  </a:lnTo>
                  <a:lnTo>
                    <a:pt x="28895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25896" y="1502663"/>
            <a:ext cx="2889885" cy="2307590"/>
          </a:xfrm>
          <a:prstGeom prst="rect">
            <a:avLst/>
          </a:prstGeom>
          <a:ln w="12700">
            <a:solidFill>
              <a:srgbClr val="D24717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92075" marR="1268095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html,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body,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ul,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ol{ </a:t>
            </a:r>
            <a:r>
              <a:rPr sz="1800" spc="-75" dirty="0">
                <a:latin typeface="Times New Roman"/>
                <a:cs typeface="Times New Roman"/>
              </a:rPr>
              <a:t>margin: </a:t>
            </a:r>
            <a:r>
              <a:rPr sz="1800" spc="-25" dirty="0">
                <a:latin typeface="Times New Roman"/>
                <a:cs typeface="Times New Roman"/>
              </a:rPr>
              <a:t>0;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spc="-95" dirty="0">
                <a:latin typeface="Times New Roman"/>
                <a:cs typeface="Times New Roman"/>
              </a:rPr>
              <a:t>padding: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0;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spc="-120" dirty="0">
                <a:latin typeface="Times New Roman"/>
                <a:cs typeface="Times New Roman"/>
              </a:rPr>
              <a:t>body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spc="-65" dirty="0">
                <a:latin typeface="Times New Roman"/>
                <a:cs typeface="Times New Roman"/>
              </a:rPr>
              <a:t>font: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100%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Helvetica,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sans-</a:t>
            </a:r>
            <a:r>
              <a:rPr sz="1800" spc="-10" dirty="0">
                <a:latin typeface="Times New Roman"/>
                <a:cs typeface="Times New Roman"/>
              </a:rPr>
              <a:t>serif;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95" dirty="0">
                <a:latin typeface="Times New Roman"/>
                <a:cs typeface="Times New Roman"/>
              </a:rPr>
              <a:t>background-</a:t>
            </a:r>
            <a:r>
              <a:rPr sz="1800" spc="-60" dirty="0">
                <a:latin typeface="Times New Roman"/>
                <a:cs typeface="Times New Roman"/>
              </a:rPr>
              <a:t>color: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#efefef;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SPAN</a:t>
            </a:r>
            <a:r>
              <a:rPr spc="-105" dirty="0"/>
              <a:t> </a:t>
            </a:r>
            <a:r>
              <a:rPr spc="-25" dirty="0"/>
              <a:t>Element</a:t>
            </a:r>
            <a:r>
              <a:rPr spc="-160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dirty="0"/>
              <a:t>DIV</a:t>
            </a:r>
            <a:r>
              <a:rPr spc="-140" dirty="0"/>
              <a:t> </a:t>
            </a:r>
            <a:r>
              <a:rPr spc="-20" dirty="0"/>
              <a:t>Element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002919"/>
            <a:ext cx="7904480" cy="159321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marR="5080" indent="-274320">
              <a:lnSpc>
                <a:spcPts val="2300"/>
              </a:lnSpc>
              <a:spcBef>
                <a:spcPts val="66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spc="-110" dirty="0">
                <a:latin typeface="Times New Roman"/>
                <a:cs typeface="Times New Roman"/>
              </a:rPr>
              <a:t>When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style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sheet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applied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only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part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 </a:t>
            </a:r>
            <a:r>
              <a:rPr sz="2400" spc="-80" dirty="0">
                <a:latin typeface="Times New Roman"/>
                <a:cs typeface="Times New Roman"/>
              </a:rPr>
              <a:t>document,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spc="-114" dirty="0">
                <a:latin typeface="Times New Roman"/>
                <a:cs typeface="Times New Roman"/>
              </a:rPr>
              <a:t>convenient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use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following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elements.</a:t>
            </a:r>
            <a:endParaRPr sz="2400">
              <a:latin typeface="Times New Roman"/>
              <a:cs typeface="Times New Roman"/>
            </a:endParaRPr>
          </a:p>
          <a:p>
            <a:pPr marL="835660" lvl="1" indent="-228600">
              <a:lnSpc>
                <a:spcPts val="2135"/>
              </a:lnSpc>
              <a:spcBef>
                <a:spcPts val="50"/>
              </a:spcBef>
              <a:buClr>
                <a:srgbClr val="E6B0AB"/>
              </a:buClr>
              <a:buSzPct val="83333"/>
              <a:buFont typeface="Segoe UI Symbol"/>
              <a:buChar char="⚫"/>
              <a:tabLst>
                <a:tab pos="835660" algn="l"/>
              </a:tabLst>
            </a:pPr>
            <a:r>
              <a:rPr sz="1800" b="1" spc="-180" dirty="0">
                <a:solidFill>
                  <a:srgbClr val="006FC0"/>
                </a:solidFill>
                <a:latin typeface="Times New Roman"/>
                <a:cs typeface="Times New Roman"/>
              </a:rPr>
              <a:t>SPAN</a:t>
            </a:r>
            <a:r>
              <a:rPr sz="18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element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20" dirty="0">
                <a:latin typeface="Times New Roman"/>
                <a:cs typeface="Times New Roman"/>
              </a:rPr>
              <a:t>specifies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range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2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inline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level.</a:t>
            </a:r>
            <a:endParaRPr sz="1800">
              <a:latin typeface="Times New Roman"/>
              <a:cs typeface="Times New Roman"/>
            </a:endParaRPr>
          </a:p>
          <a:p>
            <a:pPr marL="835660" lvl="1" indent="-228600">
              <a:lnSpc>
                <a:spcPts val="2125"/>
              </a:lnSpc>
              <a:buClr>
                <a:srgbClr val="E6B0AB"/>
              </a:buClr>
              <a:buSzPct val="83333"/>
              <a:buFont typeface="Segoe UI Symbol"/>
              <a:buChar char="⚫"/>
              <a:tabLst>
                <a:tab pos="835660" algn="l"/>
              </a:tabLst>
            </a:pPr>
            <a:r>
              <a:rPr sz="18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DIV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element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does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the </a:t>
            </a:r>
            <a:r>
              <a:rPr sz="1800" spc="-90" dirty="0">
                <a:latin typeface="Times New Roman"/>
                <a:cs typeface="Times New Roman"/>
              </a:rPr>
              <a:t>range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2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block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level</a:t>
            </a:r>
            <a:endParaRPr sz="1800">
              <a:latin typeface="Times New Roman"/>
              <a:cs typeface="Times New Roman"/>
            </a:endParaRPr>
          </a:p>
          <a:p>
            <a:pPr marL="286385" indent="-273685">
              <a:lnSpc>
                <a:spcPts val="2870"/>
              </a:lnSpc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140" dirty="0">
                <a:latin typeface="Times New Roman"/>
                <a:cs typeface="Times New Roman"/>
              </a:rPr>
              <a:t>Inside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25" dirty="0">
                <a:latin typeface="Times New Roman"/>
                <a:cs typeface="Times New Roman"/>
              </a:rPr>
              <a:t>DIV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element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applied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285" dirty="0">
                <a:latin typeface="Times New Roman"/>
                <a:cs typeface="Times New Roman"/>
              </a:rPr>
              <a:t>SPAN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element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961" y="3264217"/>
            <a:ext cx="1076325" cy="1609725"/>
            <a:chOff x="72961" y="3264217"/>
            <a:chExt cx="1076325" cy="1609725"/>
          </a:xfrm>
        </p:grpSpPr>
        <p:sp>
          <p:nvSpPr>
            <p:cNvPr id="6" name="object 6"/>
            <p:cNvSpPr/>
            <p:nvPr/>
          </p:nvSpPr>
          <p:spPr>
            <a:xfrm>
              <a:off x="77723" y="3268979"/>
              <a:ext cx="1066800" cy="1600200"/>
            </a:xfrm>
            <a:custGeom>
              <a:avLst/>
              <a:gdLst/>
              <a:ahLst/>
              <a:cxnLst/>
              <a:rect l="l" t="t" r="r" b="b"/>
              <a:pathLst>
                <a:path w="1066800" h="1600200">
                  <a:moveTo>
                    <a:pt x="275831" y="0"/>
                  </a:moveTo>
                  <a:lnTo>
                    <a:pt x="220662" y="220725"/>
                  </a:lnTo>
                  <a:lnTo>
                    <a:pt x="0" y="275844"/>
                  </a:lnTo>
                  <a:lnTo>
                    <a:pt x="275831" y="0"/>
                  </a:lnTo>
                  <a:lnTo>
                    <a:pt x="1066800" y="0"/>
                  </a:lnTo>
                  <a:lnTo>
                    <a:pt x="1066800" y="1600200"/>
                  </a:lnTo>
                  <a:lnTo>
                    <a:pt x="0" y="1600200"/>
                  </a:lnTo>
                  <a:lnTo>
                    <a:pt x="0" y="275844"/>
                  </a:lnTo>
                </a:path>
                <a:path w="1066800" h="1600200">
                  <a:moveTo>
                    <a:pt x="76199" y="533400"/>
                  </a:moveTo>
                  <a:lnTo>
                    <a:pt x="990600" y="533400"/>
                  </a:lnTo>
                </a:path>
                <a:path w="1066800" h="1600200">
                  <a:moveTo>
                    <a:pt x="76199" y="685800"/>
                  </a:moveTo>
                  <a:lnTo>
                    <a:pt x="990600" y="685800"/>
                  </a:lnTo>
                </a:path>
                <a:path w="1066800" h="1600200">
                  <a:moveTo>
                    <a:pt x="76199" y="838200"/>
                  </a:moveTo>
                  <a:lnTo>
                    <a:pt x="990600" y="838200"/>
                  </a:lnTo>
                </a:path>
                <a:path w="1066800" h="1600200">
                  <a:moveTo>
                    <a:pt x="76199" y="990600"/>
                  </a:moveTo>
                  <a:lnTo>
                    <a:pt x="990600" y="990600"/>
                  </a:lnTo>
                </a:path>
                <a:path w="1066800" h="1600200">
                  <a:moveTo>
                    <a:pt x="76199" y="1143000"/>
                  </a:moveTo>
                  <a:lnTo>
                    <a:pt x="990600" y="1143000"/>
                  </a:lnTo>
                </a:path>
                <a:path w="1066800" h="1600200">
                  <a:moveTo>
                    <a:pt x="76199" y="1295400"/>
                  </a:moveTo>
                  <a:lnTo>
                    <a:pt x="990600" y="1295400"/>
                  </a:lnTo>
                </a:path>
                <a:path w="1066800" h="1600200">
                  <a:moveTo>
                    <a:pt x="76199" y="1447800"/>
                  </a:moveTo>
                  <a:lnTo>
                    <a:pt x="990600" y="1447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115" y="3954779"/>
              <a:ext cx="890269" cy="152400"/>
            </a:xfrm>
            <a:custGeom>
              <a:avLst/>
              <a:gdLst/>
              <a:ahLst/>
              <a:cxnLst/>
              <a:rect l="l" t="t" r="r" b="b"/>
              <a:pathLst>
                <a:path w="890269" h="152400">
                  <a:moveTo>
                    <a:pt x="0" y="152400"/>
                  </a:moveTo>
                  <a:lnTo>
                    <a:pt x="890016" y="152400"/>
                  </a:lnTo>
                  <a:lnTo>
                    <a:pt x="890016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9227" y="3874465"/>
            <a:ext cx="575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Inline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9011" y="3268979"/>
            <a:ext cx="2895600" cy="914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89535" marR="45085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Arial MT"/>
                <a:cs typeface="Arial MT"/>
              </a:rPr>
              <a:t>&lt;SPAN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=color:red&gt; </a:t>
            </a:r>
            <a:r>
              <a:rPr sz="1800" dirty="0">
                <a:latin typeface="Arial MT"/>
                <a:cs typeface="Arial MT"/>
              </a:rPr>
              <a:t>Inline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red</a:t>
            </a:r>
            <a:endParaRPr sz="180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&lt;/SPAN&gt;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9011" y="4268723"/>
            <a:ext cx="2895600" cy="914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Arial MT"/>
                <a:cs typeface="Arial MT"/>
              </a:rPr>
              <a:t>&lt;SPAN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=red&gt;</a:t>
            </a:r>
            <a:endParaRPr sz="180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Inline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red</a:t>
            </a:r>
            <a:endParaRPr sz="180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&lt;/SPAN&gt;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00409" y="3273361"/>
            <a:ext cx="1076325" cy="1609725"/>
            <a:chOff x="4800409" y="3273361"/>
            <a:chExt cx="1076325" cy="1609725"/>
          </a:xfrm>
        </p:grpSpPr>
        <p:sp>
          <p:nvSpPr>
            <p:cNvPr id="12" name="object 12"/>
            <p:cNvSpPr/>
            <p:nvPr/>
          </p:nvSpPr>
          <p:spPr>
            <a:xfrm>
              <a:off x="4805171" y="3278123"/>
              <a:ext cx="1066800" cy="1600200"/>
            </a:xfrm>
            <a:custGeom>
              <a:avLst/>
              <a:gdLst/>
              <a:ahLst/>
              <a:cxnLst/>
              <a:rect l="l" t="t" r="r" b="b"/>
              <a:pathLst>
                <a:path w="1066800" h="1600200">
                  <a:moveTo>
                    <a:pt x="275843" y="0"/>
                  </a:moveTo>
                  <a:lnTo>
                    <a:pt x="220725" y="220725"/>
                  </a:lnTo>
                  <a:lnTo>
                    <a:pt x="0" y="275843"/>
                  </a:lnTo>
                  <a:lnTo>
                    <a:pt x="275843" y="0"/>
                  </a:lnTo>
                  <a:lnTo>
                    <a:pt x="1066800" y="0"/>
                  </a:lnTo>
                  <a:lnTo>
                    <a:pt x="1066800" y="1600200"/>
                  </a:lnTo>
                  <a:lnTo>
                    <a:pt x="0" y="1600200"/>
                  </a:lnTo>
                  <a:lnTo>
                    <a:pt x="0" y="275843"/>
                  </a:lnTo>
                </a:path>
                <a:path w="1066800" h="1600200">
                  <a:moveTo>
                    <a:pt x="76200" y="533400"/>
                  </a:moveTo>
                  <a:lnTo>
                    <a:pt x="990600" y="533400"/>
                  </a:lnTo>
                </a:path>
                <a:path w="1066800" h="1600200">
                  <a:moveTo>
                    <a:pt x="76200" y="685800"/>
                  </a:moveTo>
                  <a:lnTo>
                    <a:pt x="990600" y="685800"/>
                  </a:lnTo>
                </a:path>
                <a:path w="1066800" h="1600200">
                  <a:moveTo>
                    <a:pt x="76200" y="838200"/>
                  </a:moveTo>
                  <a:lnTo>
                    <a:pt x="88391" y="838200"/>
                  </a:lnTo>
                </a:path>
                <a:path w="1066800" h="1600200">
                  <a:moveTo>
                    <a:pt x="978407" y="838200"/>
                  </a:moveTo>
                  <a:lnTo>
                    <a:pt x="990600" y="838200"/>
                  </a:lnTo>
                </a:path>
                <a:path w="1066800" h="1600200">
                  <a:moveTo>
                    <a:pt x="76200" y="990600"/>
                  </a:moveTo>
                  <a:lnTo>
                    <a:pt x="88391" y="990600"/>
                  </a:lnTo>
                </a:path>
                <a:path w="1066800" h="1600200">
                  <a:moveTo>
                    <a:pt x="978407" y="990600"/>
                  </a:moveTo>
                  <a:lnTo>
                    <a:pt x="990600" y="990600"/>
                  </a:lnTo>
                </a:path>
                <a:path w="1066800" h="1600200">
                  <a:moveTo>
                    <a:pt x="76200" y="1143000"/>
                  </a:moveTo>
                  <a:lnTo>
                    <a:pt x="88391" y="1143000"/>
                  </a:lnTo>
                </a:path>
                <a:path w="1066800" h="1600200">
                  <a:moveTo>
                    <a:pt x="978407" y="1143000"/>
                  </a:moveTo>
                  <a:lnTo>
                    <a:pt x="990600" y="1143000"/>
                  </a:lnTo>
                </a:path>
                <a:path w="1066800" h="1600200">
                  <a:moveTo>
                    <a:pt x="76200" y="1295400"/>
                  </a:moveTo>
                  <a:lnTo>
                    <a:pt x="990600" y="1295400"/>
                  </a:lnTo>
                </a:path>
                <a:path w="1066800" h="1600200">
                  <a:moveTo>
                    <a:pt x="76200" y="1447800"/>
                  </a:moveTo>
                  <a:lnTo>
                    <a:pt x="990600" y="1447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93563" y="4009643"/>
              <a:ext cx="890269" cy="533400"/>
            </a:xfrm>
            <a:custGeom>
              <a:avLst/>
              <a:gdLst/>
              <a:ahLst/>
              <a:cxnLst/>
              <a:rect l="l" t="t" r="r" b="b"/>
              <a:pathLst>
                <a:path w="890270" h="533400">
                  <a:moveTo>
                    <a:pt x="890015" y="0"/>
                  </a:moveTo>
                  <a:lnTo>
                    <a:pt x="0" y="0"/>
                  </a:lnTo>
                  <a:lnTo>
                    <a:pt x="0" y="533399"/>
                  </a:lnTo>
                  <a:lnTo>
                    <a:pt x="890015" y="533399"/>
                  </a:lnTo>
                  <a:lnTo>
                    <a:pt x="8900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93563" y="4009643"/>
              <a:ext cx="890269" cy="533400"/>
            </a:xfrm>
            <a:custGeom>
              <a:avLst/>
              <a:gdLst/>
              <a:ahLst/>
              <a:cxnLst/>
              <a:rect l="l" t="t" r="r" b="b"/>
              <a:pathLst>
                <a:path w="890270" h="533400">
                  <a:moveTo>
                    <a:pt x="0" y="533399"/>
                  </a:moveTo>
                  <a:lnTo>
                    <a:pt x="890015" y="533399"/>
                  </a:lnTo>
                  <a:lnTo>
                    <a:pt x="890015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902041" y="4121022"/>
            <a:ext cx="873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Block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75603" y="3278123"/>
            <a:ext cx="2895600" cy="914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Arial MT"/>
                <a:cs typeface="Arial MT"/>
              </a:rPr>
              <a:t>&lt;DIV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=color:blue&gt;</a:t>
            </a:r>
            <a:endParaRPr sz="1800">
              <a:latin typeface="Arial MT"/>
              <a:cs typeface="Arial MT"/>
            </a:endParaRPr>
          </a:p>
          <a:p>
            <a:pPr marL="9271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Block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blue</a:t>
            </a:r>
            <a:endParaRPr sz="1800">
              <a:latin typeface="Arial MT"/>
              <a:cs typeface="Arial MT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&lt;/DIV&gt;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75603" y="4277867"/>
            <a:ext cx="2895600" cy="914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Arial MT"/>
                <a:cs typeface="Arial MT"/>
              </a:rPr>
              <a:t>&lt;DIV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=blue&gt;</a:t>
            </a:r>
            <a:endParaRPr sz="1800">
              <a:latin typeface="Arial MT"/>
              <a:cs typeface="Arial MT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Block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blue</a:t>
            </a:r>
            <a:endParaRPr sz="1800">
              <a:latin typeface="Arial MT"/>
              <a:cs typeface="Arial MT"/>
            </a:endParaRPr>
          </a:p>
          <a:p>
            <a:pPr marL="9271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&lt;/DIV&gt;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6524" y="5481495"/>
            <a:ext cx="8039734" cy="105283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980"/>
              </a:spcBef>
            </a:pPr>
            <a:r>
              <a:rPr sz="1500" b="1" dirty="0">
                <a:latin typeface="Arial"/>
                <a:cs typeface="Arial"/>
              </a:rPr>
              <a:t>&lt;H1 </a:t>
            </a:r>
            <a:r>
              <a:rPr sz="1500" b="1" spc="-10" dirty="0">
                <a:latin typeface="Arial"/>
                <a:cs typeface="Arial"/>
              </a:rPr>
              <a:t>style=“color:red”&gt;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Hello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</a:t>
            </a:r>
            <a:r>
              <a:rPr sz="1500" b="1" spc="-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am</a:t>
            </a:r>
            <a:r>
              <a:rPr sz="1500" b="1" spc="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Samantha</a:t>
            </a:r>
            <a:r>
              <a:rPr sz="1500" b="1" spc="-2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&lt;/H1&gt;</a:t>
            </a:r>
            <a:endParaRPr sz="150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890"/>
              </a:spcBef>
            </a:pPr>
            <a:r>
              <a:rPr sz="1500" b="1" dirty="0">
                <a:latin typeface="Arial"/>
                <a:cs typeface="Arial"/>
              </a:rPr>
              <a:t>&lt;H1</a:t>
            </a:r>
            <a:r>
              <a:rPr sz="1500" b="1" spc="-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style=“color:red”&gt;</a:t>
            </a:r>
            <a:r>
              <a:rPr sz="1500" b="1" spc="-7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Hello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</a:t>
            </a:r>
            <a:r>
              <a:rPr sz="1500" b="1" spc="-1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am</a:t>
            </a:r>
            <a:r>
              <a:rPr sz="1500" b="1" spc="15" dirty="0"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Arial"/>
                <a:cs typeface="Arial"/>
              </a:rPr>
              <a:t>&lt;SPAN</a:t>
            </a:r>
            <a:r>
              <a:rPr sz="15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style=“color:blue”&gt;Samantha</a:t>
            </a:r>
            <a:r>
              <a:rPr sz="1500" b="1" spc="-10" dirty="0">
                <a:solidFill>
                  <a:srgbClr val="FF0000"/>
                </a:solidFill>
                <a:latin typeface="Arial"/>
                <a:cs typeface="Arial"/>
              </a:rPr>
              <a:t>&lt;/SPAN&gt;</a:t>
            </a:r>
            <a:r>
              <a:rPr sz="1500" b="1" spc="-10" dirty="0">
                <a:latin typeface="Arial"/>
                <a:cs typeface="Arial"/>
              </a:rPr>
              <a:t>&lt;/H1&gt;</a:t>
            </a:r>
            <a:endParaRPr sz="1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15"/>
              </a:spcBef>
            </a:pPr>
            <a:r>
              <a:rPr sz="2100" spc="-15" baseline="-7936" dirty="0">
                <a:solidFill>
                  <a:srgbClr val="FFFFFF"/>
                </a:solidFill>
                <a:latin typeface="Franklin Gothic Medium"/>
                <a:cs typeface="Franklin Gothic Medium"/>
              </a:rPr>
              <a:t>37</a:t>
            </a:r>
            <a:r>
              <a:rPr sz="1500" b="1" spc="-10" dirty="0">
                <a:latin typeface="Arial"/>
                <a:cs typeface="Arial"/>
              </a:rPr>
              <a:t>&lt;H1</a:t>
            </a:r>
            <a:r>
              <a:rPr sz="1500" b="1" spc="-2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style=“color:red”&gt;</a:t>
            </a:r>
            <a:r>
              <a:rPr sz="1500" b="1" spc="-7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Hello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</a:t>
            </a:r>
            <a:r>
              <a:rPr sz="1500" b="1" spc="-2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am</a:t>
            </a:r>
            <a:r>
              <a:rPr sz="1500" b="1" spc="15" dirty="0"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95A9A9"/>
                </a:solidFill>
                <a:latin typeface="Arial"/>
                <a:cs typeface="Arial"/>
              </a:rPr>
              <a:t>&lt;DIV</a:t>
            </a:r>
            <a:r>
              <a:rPr sz="1500" b="1" spc="-25" dirty="0">
                <a:solidFill>
                  <a:srgbClr val="95A9A9"/>
                </a:solidFill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style=</a:t>
            </a:r>
            <a:r>
              <a:rPr sz="1500" b="1" spc="-2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“color:blue”&gt;Samantha</a:t>
            </a:r>
            <a:r>
              <a:rPr sz="1500" b="1" spc="-10" dirty="0">
                <a:solidFill>
                  <a:srgbClr val="95A9A9"/>
                </a:solidFill>
                <a:latin typeface="Arial"/>
                <a:cs typeface="Arial"/>
              </a:rPr>
              <a:t>&lt;/DIV&gt;</a:t>
            </a:r>
            <a:r>
              <a:rPr sz="1500" b="1" spc="-10" dirty="0">
                <a:latin typeface="Arial"/>
                <a:cs typeface="Arial"/>
              </a:rPr>
              <a:t>&lt;/H1&gt;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21082"/>
            <a:ext cx="4673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-8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spc="-20" dirty="0"/>
              <a:t>float</a:t>
            </a:r>
            <a:r>
              <a:rPr spc="-65" dirty="0"/>
              <a:t> </a:t>
            </a:r>
            <a:r>
              <a:rPr spc="-10" dirty="0"/>
              <a:t>property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3923" y="839724"/>
            <a:ext cx="8153400" cy="4876800"/>
          </a:xfrm>
          <a:custGeom>
            <a:avLst/>
            <a:gdLst/>
            <a:ahLst/>
            <a:cxnLst/>
            <a:rect l="l" t="t" r="r" b="b"/>
            <a:pathLst>
              <a:path w="8153400" h="4876800">
                <a:moveTo>
                  <a:pt x="0" y="4876800"/>
                </a:moveTo>
                <a:lnTo>
                  <a:pt x="8153400" y="4876800"/>
                </a:lnTo>
                <a:lnTo>
                  <a:pt x="8153400" y="0"/>
                </a:lnTo>
                <a:lnTo>
                  <a:pt x="0" y="0"/>
                </a:lnTo>
                <a:lnTo>
                  <a:pt x="0" y="4876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1140" y="775121"/>
            <a:ext cx="7887334" cy="379222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2000" spc="-10" dirty="0">
                <a:latin typeface="Times New Roman"/>
                <a:cs typeface="Times New Roman"/>
              </a:rPr>
              <a:t>&lt;html&gt;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Times New Roman"/>
                <a:cs typeface="Times New Roman"/>
              </a:rPr>
              <a:t>&lt;head&gt;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35" dirty="0">
                <a:latin typeface="Times New Roman"/>
                <a:cs typeface="Times New Roman"/>
              </a:rPr>
              <a:t>&lt;style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type="text/css"&gt;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140" dirty="0">
                <a:latin typeface="Times New Roman"/>
                <a:cs typeface="Times New Roman"/>
              </a:rPr>
              <a:t>img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10" dirty="0">
                <a:latin typeface="Times New Roman"/>
                <a:cs typeface="Times New Roman"/>
              </a:rPr>
              <a:t>float:right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35" dirty="0">
                <a:latin typeface="Times New Roman"/>
                <a:cs typeface="Times New Roman"/>
              </a:rPr>
              <a:t>&lt;/style&gt;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40" dirty="0">
                <a:latin typeface="Times New Roman"/>
                <a:cs typeface="Times New Roman"/>
              </a:rPr>
              <a:t>&lt;/head&gt;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10" dirty="0">
                <a:latin typeface="Times New Roman"/>
                <a:cs typeface="Times New Roman"/>
              </a:rPr>
              <a:t>&lt;body&gt;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16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&lt;p&gt;In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paragraph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below,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55" dirty="0">
                <a:latin typeface="Times New Roman"/>
                <a:cs typeface="Times New Roman"/>
              </a:rPr>
              <a:t>we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Times New Roman"/>
                <a:cs typeface="Times New Roman"/>
              </a:rPr>
              <a:t>have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added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image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with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style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&lt;b&gt;float:right&lt;/b&gt;.</a:t>
            </a:r>
            <a:endParaRPr sz="2000">
              <a:latin typeface="Times New Roman"/>
              <a:cs typeface="Times New Roman"/>
            </a:endParaRPr>
          </a:p>
          <a:p>
            <a:pPr marL="287020">
              <a:lnSpc>
                <a:spcPts val="2160"/>
              </a:lnSpc>
            </a:pPr>
            <a:r>
              <a:rPr sz="2000" spc="-114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result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is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40" dirty="0">
                <a:latin typeface="Times New Roman"/>
                <a:cs typeface="Times New Roman"/>
              </a:rPr>
              <a:t>image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will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float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right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in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paragraph.&lt;/p&gt;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&lt;p&gt;&lt;img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src="logocss.gif"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width="95"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height="84"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300" dirty="0">
                <a:latin typeface="Times New Roman"/>
                <a:cs typeface="Times New Roman"/>
              </a:rPr>
              <a:t>/&gt;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467600" y="6248400"/>
            <a:ext cx="381000" cy="381000"/>
            <a:chOff x="7467600" y="6248400"/>
            <a:chExt cx="381000" cy="381000"/>
          </a:xfrm>
        </p:grpSpPr>
        <p:sp>
          <p:nvSpPr>
            <p:cNvPr id="7" name="object 7">
              <a:hlinkClick r:id="rId2"/>
            </p:cNvPr>
            <p:cNvSpPr/>
            <p:nvPr/>
          </p:nvSpPr>
          <p:spPr>
            <a:xfrm>
              <a:off x="7467600" y="6248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333374"/>
                  </a:lnTo>
                  <a:lnTo>
                    <a:pt x="190500" y="333375"/>
                  </a:lnTo>
                  <a:lnTo>
                    <a:pt x="145356" y="326090"/>
                  </a:lnTo>
                  <a:lnTo>
                    <a:pt x="106137" y="305807"/>
                  </a:lnTo>
                  <a:lnTo>
                    <a:pt x="75203" y="274879"/>
                  </a:lnTo>
                  <a:lnTo>
                    <a:pt x="54912" y="235658"/>
                  </a:lnTo>
                  <a:lnTo>
                    <a:pt x="47625" y="190500"/>
                  </a:lnTo>
                  <a:lnTo>
                    <a:pt x="54912" y="145341"/>
                  </a:lnTo>
                  <a:lnTo>
                    <a:pt x="75203" y="106120"/>
                  </a:lnTo>
                  <a:lnTo>
                    <a:pt x="106137" y="75192"/>
                  </a:lnTo>
                  <a:lnTo>
                    <a:pt x="145356" y="54909"/>
                  </a:lnTo>
                  <a:lnTo>
                    <a:pt x="190500" y="47625"/>
                  </a:lnTo>
                  <a:lnTo>
                    <a:pt x="381000" y="47625"/>
                  </a:lnTo>
                  <a:lnTo>
                    <a:pt x="381000" y="0"/>
                  </a:lnTo>
                  <a:close/>
                </a:path>
                <a:path w="381000" h="381000">
                  <a:moveTo>
                    <a:pt x="381000" y="47625"/>
                  </a:moveTo>
                  <a:lnTo>
                    <a:pt x="190500" y="47625"/>
                  </a:lnTo>
                  <a:lnTo>
                    <a:pt x="235643" y="54909"/>
                  </a:lnTo>
                  <a:lnTo>
                    <a:pt x="274862" y="75192"/>
                  </a:lnTo>
                  <a:lnTo>
                    <a:pt x="305796" y="106120"/>
                  </a:lnTo>
                  <a:lnTo>
                    <a:pt x="326087" y="145341"/>
                  </a:lnTo>
                  <a:lnTo>
                    <a:pt x="333375" y="190500"/>
                  </a:lnTo>
                  <a:lnTo>
                    <a:pt x="326087" y="235658"/>
                  </a:lnTo>
                  <a:lnTo>
                    <a:pt x="305796" y="274879"/>
                  </a:lnTo>
                  <a:lnTo>
                    <a:pt x="274862" y="305807"/>
                  </a:lnTo>
                  <a:lnTo>
                    <a:pt x="235643" y="326090"/>
                  </a:lnTo>
                  <a:lnTo>
                    <a:pt x="190500" y="333375"/>
                  </a:lnTo>
                  <a:lnTo>
                    <a:pt x="381000" y="333374"/>
                  </a:lnTo>
                  <a:lnTo>
                    <a:pt x="381000" y="47625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hlinkClick r:id="rId2"/>
            </p:cNvPr>
            <p:cNvSpPr/>
            <p:nvPr/>
          </p:nvSpPr>
          <p:spPr>
            <a:xfrm>
              <a:off x="7515225" y="62960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0"/>
                  </a:moveTo>
                  <a:lnTo>
                    <a:pt x="97731" y="7284"/>
                  </a:lnTo>
                  <a:lnTo>
                    <a:pt x="58512" y="27567"/>
                  </a:lnTo>
                  <a:lnTo>
                    <a:pt x="27578" y="58495"/>
                  </a:lnTo>
                  <a:lnTo>
                    <a:pt x="7287" y="97716"/>
                  </a:lnTo>
                  <a:lnTo>
                    <a:pt x="0" y="142875"/>
                  </a:lnTo>
                  <a:lnTo>
                    <a:pt x="7287" y="188033"/>
                  </a:lnTo>
                  <a:lnTo>
                    <a:pt x="27578" y="227254"/>
                  </a:lnTo>
                  <a:lnTo>
                    <a:pt x="58512" y="258182"/>
                  </a:lnTo>
                  <a:lnTo>
                    <a:pt x="97731" y="278465"/>
                  </a:lnTo>
                  <a:lnTo>
                    <a:pt x="142875" y="285750"/>
                  </a:lnTo>
                  <a:lnTo>
                    <a:pt x="188018" y="278465"/>
                  </a:lnTo>
                  <a:lnTo>
                    <a:pt x="227237" y="258182"/>
                  </a:lnTo>
                  <a:lnTo>
                    <a:pt x="235396" y="250024"/>
                  </a:lnTo>
                  <a:lnTo>
                    <a:pt x="89280" y="250024"/>
                  </a:lnTo>
                  <a:lnTo>
                    <a:pt x="89280" y="232168"/>
                  </a:lnTo>
                  <a:lnTo>
                    <a:pt x="116077" y="232168"/>
                  </a:lnTo>
                  <a:lnTo>
                    <a:pt x="116077" y="107149"/>
                  </a:lnTo>
                  <a:lnTo>
                    <a:pt x="89280" y="107149"/>
                  </a:lnTo>
                  <a:lnTo>
                    <a:pt x="89280" y="89293"/>
                  </a:lnTo>
                  <a:lnTo>
                    <a:pt x="274104" y="89293"/>
                  </a:lnTo>
                  <a:lnTo>
                    <a:pt x="260248" y="62509"/>
                  </a:lnTo>
                  <a:lnTo>
                    <a:pt x="142875" y="62509"/>
                  </a:lnTo>
                  <a:lnTo>
                    <a:pt x="132419" y="60402"/>
                  </a:lnTo>
                  <a:lnTo>
                    <a:pt x="123904" y="54659"/>
                  </a:lnTo>
                  <a:lnTo>
                    <a:pt x="118175" y="46141"/>
                  </a:lnTo>
                  <a:lnTo>
                    <a:pt x="116077" y="35712"/>
                  </a:lnTo>
                  <a:lnTo>
                    <a:pt x="118175" y="25285"/>
                  </a:lnTo>
                  <a:lnTo>
                    <a:pt x="123904" y="16771"/>
                  </a:lnTo>
                  <a:lnTo>
                    <a:pt x="132419" y="11032"/>
                  </a:lnTo>
                  <a:lnTo>
                    <a:pt x="142875" y="8928"/>
                  </a:lnTo>
                  <a:lnTo>
                    <a:pt x="191197" y="8928"/>
                  </a:lnTo>
                  <a:lnTo>
                    <a:pt x="188018" y="7284"/>
                  </a:lnTo>
                  <a:lnTo>
                    <a:pt x="142875" y="0"/>
                  </a:lnTo>
                  <a:close/>
                </a:path>
                <a:path w="285750" h="285750">
                  <a:moveTo>
                    <a:pt x="274104" y="89293"/>
                  </a:moveTo>
                  <a:lnTo>
                    <a:pt x="169672" y="89293"/>
                  </a:lnTo>
                  <a:lnTo>
                    <a:pt x="169672" y="232168"/>
                  </a:lnTo>
                  <a:lnTo>
                    <a:pt x="196469" y="232168"/>
                  </a:lnTo>
                  <a:lnTo>
                    <a:pt x="196469" y="250024"/>
                  </a:lnTo>
                  <a:lnTo>
                    <a:pt x="235396" y="250024"/>
                  </a:lnTo>
                  <a:lnTo>
                    <a:pt x="258171" y="227254"/>
                  </a:lnTo>
                  <a:lnTo>
                    <a:pt x="278462" y="188033"/>
                  </a:lnTo>
                  <a:lnTo>
                    <a:pt x="285750" y="142875"/>
                  </a:lnTo>
                  <a:lnTo>
                    <a:pt x="278462" y="97716"/>
                  </a:lnTo>
                  <a:lnTo>
                    <a:pt x="274104" y="89293"/>
                  </a:lnTo>
                  <a:close/>
                </a:path>
                <a:path w="285750" h="285750">
                  <a:moveTo>
                    <a:pt x="191197" y="8928"/>
                  </a:moveTo>
                  <a:lnTo>
                    <a:pt x="142875" y="8928"/>
                  </a:lnTo>
                  <a:lnTo>
                    <a:pt x="153277" y="11032"/>
                  </a:lnTo>
                  <a:lnTo>
                    <a:pt x="161798" y="16771"/>
                  </a:lnTo>
                  <a:lnTo>
                    <a:pt x="167556" y="25285"/>
                  </a:lnTo>
                  <a:lnTo>
                    <a:pt x="169672" y="35712"/>
                  </a:lnTo>
                  <a:lnTo>
                    <a:pt x="167556" y="46141"/>
                  </a:lnTo>
                  <a:lnTo>
                    <a:pt x="161797" y="54659"/>
                  </a:lnTo>
                  <a:lnTo>
                    <a:pt x="153277" y="60402"/>
                  </a:lnTo>
                  <a:lnTo>
                    <a:pt x="142875" y="62509"/>
                  </a:lnTo>
                  <a:lnTo>
                    <a:pt x="260248" y="62509"/>
                  </a:lnTo>
                  <a:lnTo>
                    <a:pt x="258171" y="58495"/>
                  </a:lnTo>
                  <a:lnTo>
                    <a:pt x="227237" y="27567"/>
                  </a:lnTo>
                  <a:lnTo>
                    <a:pt x="191197" y="8928"/>
                  </a:lnTo>
                  <a:close/>
                </a:path>
              </a:pathLst>
            </a:custGeom>
            <a:solidFill>
              <a:srgbClr val="7E2B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4505" y="6304953"/>
              <a:ext cx="107188" cy="24109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12851"/>
            <a:ext cx="25622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40" dirty="0"/>
              <a:t>Border-</a:t>
            </a:r>
            <a:r>
              <a:rPr sz="4000" spc="-25" dirty="0"/>
              <a:t>style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0975" y="984630"/>
            <a:ext cx="3641090" cy="511746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947419">
              <a:lnSpc>
                <a:spcPct val="87800"/>
              </a:lnSpc>
              <a:spcBef>
                <a:spcPts val="360"/>
              </a:spcBef>
            </a:pPr>
            <a:r>
              <a:rPr sz="1800" spc="-35" dirty="0">
                <a:latin typeface="Times New Roman"/>
                <a:cs typeface="Times New Roman"/>
              </a:rPr>
              <a:t>&lt;style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type="text/css"&gt; </a:t>
            </a:r>
            <a:r>
              <a:rPr sz="1800" spc="-50" dirty="0">
                <a:latin typeface="Times New Roman"/>
                <a:cs typeface="Times New Roman"/>
              </a:rPr>
              <a:t>p.dotted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{border-</a:t>
            </a:r>
            <a:r>
              <a:rPr sz="1800" spc="-70" dirty="0">
                <a:latin typeface="Times New Roman"/>
                <a:cs typeface="Times New Roman"/>
              </a:rPr>
              <a:t>style: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dotted} </a:t>
            </a:r>
            <a:r>
              <a:rPr sz="1800" spc="-105" dirty="0">
                <a:latin typeface="Times New Roman"/>
                <a:cs typeface="Times New Roman"/>
              </a:rPr>
              <a:t>p.dashed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{border-</a:t>
            </a:r>
            <a:r>
              <a:rPr sz="1800" spc="-75" dirty="0">
                <a:latin typeface="Times New Roman"/>
                <a:cs typeface="Times New Roman"/>
              </a:rPr>
              <a:t>style: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dashed} </a:t>
            </a:r>
            <a:r>
              <a:rPr sz="1800" spc="-90" dirty="0">
                <a:latin typeface="Times New Roman"/>
                <a:cs typeface="Times New Roman"/>
              </a:rPr>
              <a:t>p.solid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{border-</a:t>
            </a:r>
            <a:r>
              <a:rPr sz="1800" spc="-75" dirty="0">
                <a:latin typeface="Times New Roman"/>
                <a:cs typeface="Times New Roman"/>
              </a:rPr>
              <a:t>style: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solid} </a:t>
            </a:r>
            <a:r>
              <a:rPr sz="1800" spc="-90" dirty="0">
                <a:latin typeface="Times New Roman"/>
                <a:cs typeface="Times New Roman"/>
              </a:rPr>
              <a:t>p.double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{border-</a:t>
            </a:r>
            <a:r>
              <a:rPr sz="1800" spc="-75" dirty="0">
                <a:latin typeface="Times New Roman"/>
                <a:cs typeface="Times New Roman"/>
              </a:rPr>
              <a:t>style: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double} </a:t>
            </a:r>
            <a:r>
              <a:rPr sz="1800" spc="-100" dirty="0">
                <a:latin typeface="Times New Roman"/>
                <a:cs typeface="Times New Roman"/>
              </a:rPr>
              <a:t>p.groove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{border-</a:t>
            </a:r>
            <a:r>
              <a:rPr sz="1800" spc="-75" dirty="0">
                <a:latin typeface="Times New Roman"/>
                <a:cs typeface="Times New Roman"/>
              </a:rPr>
              <a:t>style: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groove} </a:t>
            </a:r>
            <a:r>
              <a:rPr sz="1800" spc="-65" dirty="0">
                <a:latin typeface="Times New Roman"/>
                <a:cs typeface="Times New Roman"/>
              </a:rPr>
              <a:t>p.ridge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{border-</a:t>
            </a:r>
            <a:r>
              <a:rPr sz="1800" spc="-75" dirty="0">
                <a:latin typeface="Times New Roman"/>
                <a:cs typeface="Times New Roman"/>
              </a:rPr>
              <a:t>style: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ridge} </a:t>
            </a:r>
            <a:r>
              <a:rPr sz="1800" spc="-80" dirty="0">
                <a:latin typeface="Times New Roman"/>
                <a:cs typeface="Times New Roman"/>
              </a:rPr>
              <a:t>p.inset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{border-</a:t>
            </a:r>
            <a:r>
              <a:rPr sz="1800" spc="-70" dirty="0">
                <a:latin typeface="Times New Roman"/>
                <a:cs typeface="Times New Roman"/>
              </a:rPr>
              <a:t>style: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inset} </a:t>
            </a:r>
            <a:r>
              <a:rPr sz="1800" spc="-60" dirty="0">
                <a:latin typeface="Times New Roman"/>
                <a:cs typeface="Times New Roman"/>
              </a:rPr>
              <a:t>p.outset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{border-</a:t>
            </a:r>
            <a:r>
              <a:rPr sz="1800" spc="-80" dirty="0">
                <a:latin typeface="Times New Roman"/>
                <a:cs typeface="Times New Roman"/>
              </a:rPr>
              <a:t>style: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outset}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00"/>
              </a:lnSpc>
            </a:pPr>
            <a:r>
              <a:rPr sz="1800" spc="-10" dirty="0">
                <a:latin typeface="Times New Roman"/>
                <a:cs typeface="Times New Roman"/>
              </a:rPr>
              <a:t>&lt;/style&gt;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30"/>
              </a:lnSpc>
              <a:spcBef>
                <a:spcPts val="1635"/>
              </a:spcBef>
            </a:pPr>
            <a:r>
              <a:rPr sz="1800" spc="-10" dirty="0">
                <a:latin typeface="Times New Roman"/>
                <a:cs typeface="Times New Roman"/>
              </a:rPr>
              <a:t>&lt;body&gt;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Times New Roman"/>
                <a:cs typeface="Times New Roman"/>
              </a:rPr>
              <a:t>&lt;p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class="dotted"&gt;A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dotted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border&lt;/p&gt;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Times New Roman"/>
                <a:cs typeface="Times New Roman"/>
              </a:rPr>
              <a:t>&lt;p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class="dashed"&gt;A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20" dirty="0">
                <a:latin typeface="Times New Roman"/>
                <a:cs typeface="Times New Roman"/>
              </a:rPr>
              <a:t>dashed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border&lt;/p&gt;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895"/>
              </a:lnSpc>
            </a:pPr>
            <a:r>
              <a:rPr sz="1800" spc="55" dirty="0">
                <a:latin typeface="Times New Roman"/>
                <a:cs typeface="Times New Roman"/>
              </a:rPr>
              <a:t>&lt;p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class="solid"&gt;A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solid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border&lt;/p&gt;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Times New Roman"/>
                <a:cs typeface="Times New Roman"/>
              </a:rPr>
              <a:t>&lt;p </a:t>
            </a:r>
            <a:r>
              <a:rPr sz="1800" spc="-70" dirty="0">
                <a:latin typeface="Times New Roman"/>
                <a:cs typeface="Times New Roman"/>
              </a:rPr>
              <a:t>class="double"&gt;A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95" dirty="0">
                <a:latin typeface="Times New Roman"/>
                <a:cs typeface="Times New Roman"/>
              </a:rPr>
              <a:t>double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border&lt;/p&gt;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Times New Roman"/>
                <a:cs typeface="Times New Roman"/>
              </a:rPr>
              <a:t>&lt;p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class="groove"&gt;A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groove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border&lt;/p&gt;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895"/>
              </a:lnSpc>
            </a:pPr>
            <a:r>
              <a:rPr sz="1800" spc="55" dirty="0">
                <a:latin typeface="Times New Roman"/>
                <a:cs typeface="Times New Roman"/>
              </a:rPr>
              <a:t>&lt;p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class="ridge"&gt;A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ridge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border&lt;/p&gt;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Times New Roman"/>
                <a:cs typeface="Times New Roman"/>
              </a:rPr>
              <a:t>&lt;p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class="inset"&gt;An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inset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border&lt;/p&gt;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Times New Roman"/>
                <a:cs typeface="Times New Roman"/>
              </a:rPr>
              <a:t>&lt;p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class="outset"&gt;An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outset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border&lt;/p&gt;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30"/>
              </a:lnSpc>
            </a:pPr>
            <a:r>
              <a:rPr sz="1800" spc="-10" dirty="0">
                <a:latin typeface="Times New Roman"/>
                <a:cs typeface="Times New Roman"/>
              </a:rPr>
              <a:t>&lt;/body&gt;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39000" y="6096000"/>
            <a:ext cx="381000" cy="381000"/>
            <a:chOff x="7239000" y="6096000"/>
            <a:chExt cx="381000" cy="381000"/>
          </a:xfrm>
        </p:grpSpPr>
        <p:sp>
          <p:nvSpPr>
            <p:cNvPr id="6" name="object 6">
              <a:hlinkClick r:id="rId2"/>
            </p:cNvPr>
            <p:cNvSpPr/>
            <p:nvPr/>
          </p:nvSpPr>
          <p:spPr>
            <a:xfrm>
              <a:off x="7239000" y="6096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333375"/>
                  </a:lnTo>
                  <a:lnTo>
                    <a:pt x="190500" y="333375"/>
                  </a:lnTo>
                  <a:lnTo>
                    <a:pt x="145356" y="326090"/>
                  </a:lnTo>
                  <a:lnTo>
                    <a:pt x="106137" y="305807"/>
                  </a:lnTo>
                  <a:lnTo>
                    <a:pt x="75203" y="274879"/>
                  </a:lnTo>
                  <a:lnTo>
                    <a:pt x="54912" y="235658"/>
                  </a:lnTo>
                  <a:lnTo>
                    <a:pt x="47625" y="190500"/>
                  </a:lnTo>
                  <a:lnTo>
                    <a:pt x="54912" y="145341"/>
                  </a:lnTo>
                  <a:lnTo>
                    <a:pt x="75203" y="106120"/>
                  </a:lnTo>
                  <a:lnTo>
                    <a:pt x="106137" y="75192"/>
                  </a:lnTo>
                  <a:lnTo>
                    <a:pt x="145356" y="54909"/>
                  </a:lnTo>
                  <a:lnTo>
                    <a:pt x="190500" y="47625"/>
                  </a:lnTo>
                  <a:lnTo>
                    <a:pt x="381000" y="47625"/>
                  </a:lnTo>
                  <a:lnTo>
                    <a:pt x="381000" y="0"/>
                  </a:lnTo>
                  <a:close/>
                </a:path>
                <a:path w="381000" h="381000">
                  <a:moveTo>
                    <a:pt x="381000" y="47625"/>
                  </a:moveTo>
                  <a:lnTo>
                    <a:pt x="190500" y="47625"/>
                  </a:lnTo>
                  <a:lnTo>
                    <a:pt x="235643" y="54909"/>
                  </a:lnTo>
                  <a:lnTo>
                    <a:pt x="274862" y="75192"/>
                  </a:lnTo>
                  <a:lnTo>
                    <a:pt x="305796" y="106120"/>
                  </a:lnTo>
                  <a:lnTo>
                    <a:pt x="326087" y="145341"/>
                  </a:lnTo>
                  <a:lnTo>
                    <a:pt x="333375" y="190500"/>
                  </a:lnTo>
                  <a:lnTo>
                    <a:pt x="326087" y="235658"/>
                  </a:lnTo>
                  <a:lnTo>
                    <a:pt x="305796" y="274879"/>
                  </a:lnTo>
                  <a:lnTo>
                    <a:pt x="274862" y="305807"/>
                  </a:lnTo>
                  <a:lnTo>
                    <a:pt x="235643" y="326090"/>
                  </a:lnTo>
                  <a:lnTo>
                    <a:pt x="190500" y="333375"/>
                  </a:lnTo>
                  <a:lnTo>
                    <a:pt x="381000" y="333375"/>
                  </a:lnTo>
                  <a:lnTo>
                    <a:pt x="381000" y="47625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hlinkClick r:id="rId2"/>
            </p:cNvPr>
            <p:cNvSpPr/>
            <p:nvPr/>
          </p:nvSpPr>
          <p:spPr>
            <a:xfrm>
              <a:off x="7286625" y="61436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0"/>
                  </a:moveTo>
                  <a:lnTo>
                    <a:pt x="97731" y="7284"/>
                  </a:lnTo>
                  <a:lnTo>
                    <a:pt x="58512" y="27567"/>
                  </a:lnTo>
                  <a:lnTo>
                    <a:pt x="27578" y="58495"/>
                  </a:lnTo>
                  <a:lnTo>
                    <a:pt x="7287" y="97716"/>
                  </a:lnTo>
                  <a:lnTo>
                    <a:pt x="0" y="142875"/>
                  </a:lnTo>
                  <a:lnTo>
                    <a:pt x="7287" y="188033"/>
                  </a:lnTo>
                  <a:lnTo>
                    <a:pt x="27578" y="227254"/>
                  </a:lnTo>
                  <a:lnTo>
                    <a:pt x="58512" y="258182"/>
                  </a:lnTo>
                  <a:lnTo>
                    <a:pt x="97731" y="278465"/>
                  </a:lnTo>
                  <a:lnTo>
                    <a:pt x="142875" y="285750"/>
                  </a:lnTo>
                  <a:lnTo>
                    <a:pt x="188018" y="278465"/>
                  </a:lnTo>
                  <a:lnTo>
                    <a:pt x="227237" y="258182"/>
                  </a:lnTo>
                  <a:lnTo>
                    <a:pt x="235396" y="250024"/>
                  </a:lnTo>
                  <a:lnTo>
                    <a:pt x="89280" y="250024"/>
                  </a:lnTo>
                  <a:lnTo>
                    <a:pt x="89280" y="232168"/>
                  </a:lnTo>
                  <a:lnTo>
                    <a:pt x="116077" y="232168"/>
                  </a:lnTo>
                  <a:lnTo>
                    <a:pt x="116077" y="107149"/>
                  </a:lnTo>
                  <a:lnTo>
                    <a:pt x="89280" y="107149"/>
                  </a:lnTo>
                  <a:lnTo>
                    <a:pt x="89280" y="89293"/>
                  </a:lnTo>
                  <a:lnTo>
                    <a:pt x="274104" y="89293"/>
                  </a:lnTo>
                  <a:lnTo>
                    <a:pt x="260248" y="62509"/>
                  </a:lnTo>
                  <a:lnTo>
                    <a:pt x="142875" y="62509"/>
                  </a:lnTo>
                  <a:lnTo>
                    <a:pt x="132419" y="60402"/>
                  </a:lnTo>
                  <a:lnTo>
                    <a:pt x="123904" y="54659"/>
                  </a:lnTo>
                  <a:lnTo>
                    <a:pt x="118175" y="46141"/>
                  </a:lnTo>
                  <a:lnTo>
                    <a:pt x="116077" y="35712"/>
                  </a:lnTo>
                  <a:lnTo>
                    <a:pt x="118175" y="25285"/>
                  </a:lnTo>
                  <a:lnTo>
                    <a:pt x="123904" y="16771"/>
                  </a:lnTo>
                  <a:lnTo>
                    <a:pt x="132419" y="11032"/>
                  </a:lnTo>
                  <a:lnTo>
                    <a:pt x="142875" y="8928"/>
                  </a:lnTo>
                  <a:lnTo>
                    <a:pt x="191197" y="8928"/>
                  </a:lnTo>
                  <a:lnTo>
                    <a:pt x="188018" y="7284"/>
                  </a:lnTo>
                  <a:lnTo>
                    <a:pt x="142875" y="0"/>
                  </a:lnTo>
                  <a:close/>
                </a:path>
                <a:path w="285750" h="285750">
                  <a:moveTo>
                    <a:pt x="274104" y="89293"/>
                  </a:moveTo>
                  <a:lnTo>
                    <a:pt x="169672" y="89293"/>
                  </a:lnTo>
                  <a:lnTo>
                    <a:pt x="169672" y="232168"/>
                  </a:lnTo>
                  <a:lnTo>
                    <a:pt x="196469" y="232168"/>
                  </a:lnTo>
                  <a:lnTo>
                    <a:pt x="196469" y="250024"/>
                  </a:lnTo>
                  <a:lnTo>
                    <a:pt x="235396" y="250024"/>
                  </a:lnTo>
                  <a:lnTo>
                    <a:pt x="258171" y="227254"/>
                  </a:lnTo>
                  <a:lnTo>
                    <a:pt x="278462" y="188033"/>
                  </a:lnTo>
                  <a:lnTo>
                    <a:pt x="285750" y="142875"/>
                  </a:lnTo>
                  <a:lnTo>
                    <a:pt x="278462" y="97716"/>
                  </a:lnTo>
                  <a:lnTo>
                    <a:pt x="274104" y="89293"/>
                  </a:lnTo>
                  <a:close/>
                </a:path>
                <a:path w="285750" h="285750">
                  <a:moveTo>
                    <a:pt x="191197" y="8928"/>
                  </a:moveTo>
                  <a:lnTo>
                    <a:pt x="142875" y="8928"/>
                  </a:lnTo>
                  <a:lnTo>
                    <a:pt x="153277" y="11032"/>
                  </a:lnTo>
                  <a:lnTo>
                    <a:pt x="161798" y="16771"/>
                  </a:lnTo>
                  <a:lnTo>
                    <a:pt x="167556" y="25285"/>
                  </a:lnTo>
                  <a:lnTo>
                    <a:pt x="169672" y="35712"/>
                  </a:lnTo>
                  <a:lnTo>
                    <a:pt x="167556" y="46141"/>
                  </a:lnTo>
                  <a:lnTo>
                    <a:pt x="161797" y="54659"/>
                  </a:lnTo>
                  <a:lnTo>
                    <a:pt x="153277" y="60402"/>
                  </a:lnTo>
                  <a:lnTo>
                    <a:pt x="142875" y="62509"/>
                  </a:lnTo>
                  <a:lnTo>
                    <a:pt x="260248" y="62509"/>
                  </a:lnTo>
                  <a:lnTo>
                    <a:pt x="258171" y="58495"/>
                  </a:lnTo>
                  <a:lnTo>
                    <a:pt x="227237" y="27567"/>
                  </a:lnTo>
                  <a:lnTo>
                    <a:pt x="191197" y="8928"/>
                  </a:lnTo>
                  <a:close/>
                </a:path>
              </a:pathLst>
            </a:custGeom>
            <a:solidFill>
              <a:srgbClr val="7E2B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5905" y="6152553"/>
              <a:ext cx="107188" cy="24109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310337"/>
            <a:ext cx="37528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Div</a:t>
            </a:r>
            <a:r>
              <a:rPr sz="3200" spc="-135" dirty="0"/>
              <a:t> </a:t>
            </a:r>
            <a:r>
              <a:rPr sz="3200" spc="-35" dirty="0"/>
              <a:t>element</a:t>
            </a:r>
            <a:r>
              <a:rPr sz="3200" spc="-130" dirty="0"/>
              <a:t> </a:t>
            </a:r>
            <a:r>
              <a:rPr sz="3200" spc="-25" dirty="0"/>
              <a:t>with</a:t>
            </a:r>
            <a:r>
              <a:rPr sz="3200" spc="-150" dirty="0"/>
              <a:t> </a:t>
            </a:r>
            <a:r>
              <a:rPr sz="3200" spc="-10" dirty="0"/>
              <a:t>float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46304" y="987361"/>
            <a:ext cx="7404100" cy="5876925"/>
            <a:chOff x="146304" y="987361"/>
            <a:chExt cx="7404100" cy="5876925"/>
          </a:xfrm>
        </p:grpSpPr>
        <p:sp>
          <p:nvSpPr>
            <p:cNvPr id="4" name="object 4"/>
            <p:cNvSpPr/>
            <p:nvPr/>
          </p:nvSpPr>
          <p:spPr>
            <a:xfrm>
              <a:off x="146304" y="62118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599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199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599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8724" y="992124"/>
              <a:ext cx="7086600" cy="5867400"/>
            </a:xfrm>
            <a:custGeom>
              <a:avLst/>
              <a:gdLst/>
              <a:ahLst/>
              <a:cxnLst/>
              <a:rect l="l" t="t" r="r" b="b"/>
              <a:pathLst>
                <a:path w="7086600" h="5867400">
                  <a:moveTo>
                    <a:pt x="0" y="5867400"/>
                  </a:moveTo>
                  <a:lnTo>
                    <a:pt x="7086600" y="5867400"/>
                  </a:lnTo>
                  <a:lnTo>
                    <a:pt x="7086600" y="0"/>
                  </a:lnTo>
                  <a:lnTo>
                    <a:pt x="0" y="0"/>
                  </a:lnTo>
                  <a:lnTo>
                    <a:pt x="0" y="5867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8876" y="941349"/>
            <a:ext cx="6165215" cy="561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4110354">
              <a:lnSpc>
                <a:spcPct val="107700"/>
              </a:lnSpc>
              <a:spcBef>
                <a:spcPts val="100"/>
              </a:spcBef>
            </a:pPr>
            <a:r>
              <a:rPr sz="1300" b="1" dirty="0">
                <a:latin typeface="Times New Roman"/>
                <a:cs typeface="Times New Roman"/>
              </a:rPr>
              <a:t>&lt;style</a:t>
            </a:r>
            <a:r>
              <a:rPr sz="1300" b="1" spc="9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type="text/css"&gt; </a:t>
            </a:r>
            <a:r>
              <a:rPr sz="1300" b="1" spc="-25" dirty="0">
                <a:latin typeface="Times New Roman"/>
                <a:cs typeface="Times New Roman"/>
              </a:rPr>
              <a:t>div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45"/>
              </a:spcBef>
            </a:pPr>
            <a:r>
              <a:rPr sz="1300" b="1" spc="-50" dirty="0">
                <a:latin typeface="Times New Roman"/>
                <a:cs typeface="Times New Roman"/>
              </a:rPr>
              <a:t>{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20"/>
              </a:spcBef>
            </a:pPr>
            <a:r>
              <a:rPr sz="1300" b="1" spc="-10" dirty="0">
                <a:latin typeface="Times New Roman"/>
                <a:cs typeface="Times New Roman"/>
              </a:rPr>
              <a:t>float:right;</a:t>
            </a:r>
            <a:endParaRPr sz="1300">
              <a:latin typeface="Times New Roman"/>
              <a:cs typeface="Times New Roman"/>
            </a:endParaRPr>
          </a:p>
          <a:p>
            <a:pPr marL="289560" marR="4341495">
              <a:lnSpc>
                <a:spcPct val="108500"/>
              </a:lnSpc>
              <a:spcBef>
                <a:spcPts val="10"/>
              </a:spcBef>
            </a:pPr>
            <a:r>
              <a:rPr sz="1300" b="1" spc="-10" dirty="0">
                <a:latin typeface="Times New Roman"/>
                <a:cs typeface="Times New Roman"/>
              </a:rPr>
              <a:t>width:120px; </a:t>
            </a:r>
            <a:r>
              <a:rPr sz="1300" b="1" spc="-35" dirty="0">
                <a:latin typeface="Times New Roman"/>
                <a:cs typeface="Times New Roman"/>
              </a:rPr>
              <a:t>margin:0</a:t>
            </a:r>
            <a:r>
              <a:rPr sz="1300" b="1" spc="-50" dirty="0">
                <a:latin typeface="Times New Roman"/>
                <a:cs typeface="Times New Roman"/>
              </a:rPr>
              <a:t> </a:t>
            </a:r>
            <a:r>
              <a:rPr sz="1300" b="1" spc="-60" dirty="0">
                <a:latin typeface="Times New Roman"/>
                <a:cs typeface="Times New Roman"/>
              </a:rPr>
              <a:t>0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15px</a:t>
            </a:r>
            <a:r>
              <a:rPr sz="1300" b="1" spc="-65" dirty="0">
                <a:latin typeface="Times New Roman"/>
                <a:cs typeface="Times New Roman"/>
              </a:rPr>
              <a:t> </a:t>
            </a:r>
            <a:r>
              <a:rPr sz="1300" b="1" spc="-25" dirty="0">
                <a:latin typeface="Times New Roman"/>
                <a:cs typeface="Times New Roman"/>
              </a:rPr>
              <a:t>20px; </a:t>
            </a:r>
            <a:r>
              <a:rPr sz="1300" b="1" spc="-10" dirty="0">
                <a:latin typeface="Times New Roman"/>
                <a:cs typeface="Times New Roman"/>
              </a:rPr>
              <a:t>padding:15px;</a:t>
            </a:r>
            <a:endParaRPr sz="1300">
              <a:latin typeface="Times New Roman"/>
              <a:cs typeface="Times New Roman"/>
            </a:endParaRPr>
          </a:p>
          <a:p>
            <a:pPr marL="289560" marR="4237355">
              <a:lnSpc>
                <a:spcPts val="1700"/>
              </a:lnSpc>
              <a:spcBef>
                <a:spcPts val="65"/>
              </a:spcBef>
            </a:pPr>
            <a:r>
              <a:rPr sz="1300" b="1" spc="-10" dirty="0">
                <a:latin typeface="Times New Roman"/>
                <a:cs typeface="Times New Roman"/>
              </a:rPr>
              <a:t>border:1px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solid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25" dirty="0">
                <a:latin typeface="Times New Roman"/>
                <a:cs typeface="Times New Roman"/>
              </a:rPr>
              <a:t>black; </a:t>
            </a:r>
            <a:r>
              <a:rPr sz="1300" b="1" dirty="0">
                <a:latin typeface="Times New Roman"/>
                <a:cs typeface="Times New Roman"/>
              </a:rPr>
              <a:t>text-</a:t>
            </a:r>
            <a:r>
              <a:rPr sz="1300" b="1" spc="-10" dirty="0">
                <a:latin typeface="Times New Roman"/>
                <a:cs typeface="Times New Roman"/>
              </a:rPr>
              <a:t>align:center;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45"/>
              </a:spcBef>
            </a:pPr>
            <a:r>
              <a:rPr sz="1300" b="1" spc="-50" dirty="0">
                <a:latin typeface="Times New Roman"/>
                <a:cs typeface="Times New Roman"/>
              </a:rPr>
              <a:t>}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45"/>
              </a:spcBef>
            </a:pPr>
            <a:r>
              <a:rPr sz="1300" b="1" spc="60" dirty="0">
                <a:latin typeface="Times New Roman"/>
                <a:cs typeface="Times New Roman"/>
              </a:rPr>
              <a:t>&lt;/style&gt;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20"/>
              </a:spcBef>
            </a:pPr>
            <a:r>
              <a:rPr sz="1300" b="1" spc="-10" dirty="0">
                <a:latin typeface="Times New Roman"/>
                <a:cs typeface="Times New Roman"/>
              </a:rPr>
              <a:t>&lt;body&gt;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45"/>
              </a:spcBef>
            </a:pPr>
            <a:r>
              <a:rPr sz="1300" b="1" spc="40" dirty="0">
                <a:latin typeface="Times New Roman"/>
                <a:cs typeface="Times New Roman"/>
              </a:rPr>
              <a:t>&lt;div&gt;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20"/>
              </a:spcBef>
            </a:pPr>
            <a:r>
              <a:rPr sz="1300" b="1" dirty="0">
                <a:latin typeface="Times New Roman"/>
                <a:cs typeface="Times New Roman"/>
              </a:rPr>
              <a:t>&lt;img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src="logocss.gif"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width="95"</a:t>
            </a:r>
            <a:r>
              <a:rPr sz="1300" b="1" spc="5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height="84"</a:t>
            </a:r>
            <a:r>
              <a:rPr sz="1300" b="1" spc="45" dirty="0">
                <a:latin typeface="Times New Roman"/>
                <a:cs typeface="Times New Roman"/>
              </a:rPr>
              <a:t> </a:t>
            </a:r>
            <a:r>
              <a:rPr sz="1300" b="1" spc="105" dirty="0">
                <a:latin typeface="Times New Roman"/>
                <a:cs typeface="Times New Roman"/>
              </a:rPr>
              <a:t>/&gt;&lt;br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204" dirty="0">
                <a:latin typeface="Times New Roman"/>
                <a:cs typeface="Times New Roman"/>
              </a:rPr>
              <a:t>/&gt;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45"/>
              </a:spcBef>
            </a:pPr>
            <a:r>
              <a:rPr sz="1300" b="1" spc="-150" dirty="0">
                <a:latin typeface="Times New Roman"/>
                <a:cs typeface="Times New Roman"/>
              </a:rPr>
              <a:t>CSS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is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fun!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20"/>
              </a:spcBef>
            </a:pPr>
            <a:r>
              <a:rPr sz="1300" b="1" spc="85" dirty="0">
                <a:latin typeface="Times New Roman"/>
                <a:cs typeface="Times New Roman"/>
              </a:rPr>
              <a:t>&lt;/div&gt;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45"/>
              </a:spcBef>
            </a:pPr>
            <a:r>
              <a:rPr sz="1300" b="1" spc="60" dirty="0">
                <a:latin typeface="Times New Roman"/>
                <a:cs typeface="Times New Roman"/>
              </a:rPr>
              <a:t>&lt;p&gt;</a:t>
            </a:r>
            <a:endParaRPr sz="1300">
              <a:latin typeface="Times New Roman"/>
              <a:cs typeface="Times New Roman"/>
            </a:endParaRPr>
          </a:p>
          <a:p>
            <a:pPr marL="289560" marR="2259330">
              <a:lnSpc>
                <a:spcPts val="1700"/>
              </a:lnSpc>
              <a:spcBef>
                <a:spcPts val="60"/>
              </a:spcBef>
            </a:pPr>
            <a:r>
              <a:rPr sz="1300" b="1" spc="-35" dirty="0">
                <a:latin typeface="Times New Roman"/>
                <a:cs typeface="Times New Roman"/>
              </a:rPr>
              <a:t>This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is</a:t>
            </a:r>
            <a:r>
              <a:rPr sz="1300" b="1" spc="-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some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text.This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is</a:t>
            </a:r>
            <a:r>
              <a:rPr sz="1300" b="1" spc="-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some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text.This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is</a:t>
            </a:r>
            <a:r>
              <a:rPr sz="1300" b="1" spc="-7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some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text. </a:t>
            </a:r>
            <a:r>
              <a:rPr sz="1300" b="1" spc="-35" dirty="0">
                <a:latin typeface="Times New Roman"/>
                <a:cs typeface="Times New Roman"/>
              </a:rPr>
              <a:t>This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is</a:t>
            </a:r>
            <a:r>
              <a:rPr sz="1300" b="1" spc="-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some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text.This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is</a:t>
            </a:r>
            <a:r>
              <a:rPr sz="1300" b="1" spc="-7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some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text.This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is</a:t>
            </a:r>
            <a:r>
              <a:rPr sz="1300" b="1" spc="-7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some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text.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45"/>
              </a:spcBef>
            </a:pPr>
            <a:r>
              <a:rPr sz="1300" b="1" spc="125" dirty="0">
                <a:latin typeface="Times New Roman"/>
                <a:cs typeface="Times New Roman"/>
              </a:rPr>
              <a:t>&lt;/p&gt;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45"/>
              </a:spcBef>
            </a:pPr>
            <a:r>
              <a:rPr sz="1300" b="1" spc="60" dirty="0">
                <a:latin typeface="Times New Roman"/>
                <a:cs typeface="Times New Roman"/>
              </a:rPr>
              <a:t>&lt;p&gt;</a:t>
            </a:r>
            <a:endParaRPr sz="1300">
              <a:latin typeface="Times New Roman"/>
              <a:cs typeface="Times New Roman"/>
            </a:endParaRPr>
          </a:p>
          <a:p>
            <a:pPr marL="289560" marR="5080">
              <a:lnSpc>
                <a:spcPts val="1700"/>
              </a:lnSpc>
              <a:spcBef>
                <a:spcPts val="60"/>
              </a:spcBef>
            </a:pPr>
            <a:r>
              <a:rPr sz="1300" b="1" dirty="0">
                <a:latin typeface="Times New Roman"/>
                <a:cs typeface="Times New Roman"/>
              </a:rPr>
              <a:t>In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25" dirty="0">
                <a:latin typeface="Times New Roman"/>
                <a:cs typeface="Times New Roman"/>
              </a:rPr>
              <a:t>paragraph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above,</a:t>
            </a:r>
            <a:r>
              <a:rPr sz="1300" b="1" spc="-5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div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element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is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spc="-60" dirty="0">
                <a:latin typeface="Times New Roman"/>
                <a:cs typeface="Times New Roman"/>
              </a:rPr>
              <a:t>120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pixels</a:t>
            </a:r>
            <a:r>
              <a:rPr sz="1300" b="1" spc="-5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wide</a:t>
            </a:r>
            <a:r>
              <a:rPr sz="1300" b="1" spc="-1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and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it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contains</a:t>
            </a:r>
            <a:r>
              <a:rPr sz="1300" b="1" spc="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image. </a:t>
            </a:r>
            <a:r>
              <a:rPr sz="1300" b="1" spc="-25" dirty="0">
                <a:latin typeface="Times New Roman"/>
                <a:cs typeface="Times New Roman"/>
              </a:rPr>
              <a:t>The</a:t>
            </a:r>
            <a:r>
              <a:rPr sz="1300" b="1" spc="1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div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element</a:t>
            </a:r>
            <a:r>
              <a:rPr sz="1300" b="1" spc="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will</a:t>
            </a:r>
            <a:r>
              <a:rPr sz="1300" b="1" spc="-5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float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to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right.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45"/>
              </a:spcBef>
            </a:pPr>
            <a:r>
              <a:rPr sz="1300" b="1" spc="-20" dirty="0">
                <a:latin typeface="Times New Roman"/>
                <a:cs typeface="Times New Roman"/>
              </a:rPr>
              <a:t>Margins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spc="-35" dirty="0">
                <a:latin typeface="Times New Roman"/>
                <a:cs typeface="Times New Roman"/>
              </a:rPr>
              <a:t>are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added</a:t>
            </a:r>
            <a:r>
              <a:rPr sz="1300" b="1" spc="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to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div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to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push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text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away</a:t>
            </a:r>
            <a:r>
              <a:rPr sz="1300" b="1" dirty="0">
                <a:latin typeface="Times New Roman"/>
                <a:cs typeface="Times New Roman"/>
              </a:rPr>
              <a:t> </a:t>
            </a:r>
            <a:r>
              <a:rPr sz="1300" b="1" spc="-25" dirty="0">
                <a:latin typeface="Times New Roman"/>
                <a:cs typeface="Times New Roman"/>
              </a:rPr>
              <a:t>from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div.</a:t>
            </a:r>
            <a:endParaRPr sz="13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45"/>
              </a:spcBef>
            </a:pPr>
            <a:r>
              <a:rPr sz="1300" b="1" spc="-20" dirty="0">
                <a:latin typeface="Times New Roman"/>
                <a:cs typeface="Times New Roman"/>
              </a:rPr>
              <a:t>Borders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and</a:t>
            </a:r>
            <a:r>
              <a:rPr sz="1300" b="1" spc="-1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padding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are </a:t>
            </a:r>
            <a:r>
              <a:rPr sz="1300" b="1" dirty="0">
                <a:latin typeface="Times New Roman"/>
                <a:cs typeface="Times New Roman"/>
              </a:rPr>
              <a:t>added</a:t>
            </a:r>
            <a:r>
              <a:rPr sz="1300" b="1" spc="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to</a:t>
            </a:r>
            <a:r>
              <a:rPr sz="1300" b="1" spc="-6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div</a:t>
            </a:r>
            <a:r>
              <a:rPr sz="1300" b="1" spc="-1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to</a:t>
            </a:r>
            <a:r>
              <a:rPr sz="1300" b="1" spc="-65" dirty="0">
                <a:latin typeface="Times New Roman"/>
                <a:cs typeface="Times New Roman"/>
              </a:rPr>
              <a:t> </a:t>
            </a:r>
            <a:r>
              <a:rPr sz="1300" b="1" spc="-30" dirty="0">
                <a:latin typeface="Times New Roman"/>
                <a:cs typeface="Times New Roman"/>
              </a:rPr>
              <a:t>frame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in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picture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and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caption.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40</a:t>
            </a:r>
            <a:r>
              <a:rPr sz="1400" spc="16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300" b="1" spc="125" dirty="0">
                <a:latin typeface="Times New Roman"/>
                <a:cs typeface="Times New Roman"/>
              </a:rPr>
              <a:t>&lt;/p&gt;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2042"/>
            <a:ext cx="276542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dirty="0"/>
              <a:t>Float</a:t>
            </a:r>
            <a:r>
              <a:rPr sz="3200" spc="-180" dirty="0"/>
              <a:t> </a:t>
            </a:r>
            <a:r>
              <a:rPr sz="3200" spc="-20" dirty="0"/>
              <a:t>with</a:t>
            </a:r>
            <a:r>
              <a:rPr sz="3200" spc="-180" dirty="0"/>
              <a:t> </a:t>
            </a:r>
            <a:r>
              <a:rPr sz="3200" spc="-20" dirty="0"/>
              <a:t>Menu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46304" y="758761"/>
            <a:ext cx="7327900" cy="5910580"/>
            <a:chOff x="146304" y="758761"/>
            <a:chExt cx="7327900" cy="5910580"/>
          </a:xfrm>
        </p:grpSpPr>
        <p:sp>
          <p:nvSpPr>
            <p:cNvPr id="4" name="object 4"/>
            <p:cNvSpPr/>
            <p:nvPr/>
          </p:nvSpPr>
          <p:spPr>
            <a:xfrm>
              <a:off x="146304" y="62118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599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199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599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6324" y="763523"/>
              <a:ext cx="7162800" cy="5715000"/>
            </a:xfrm>
            <a:custGeom>
              <a:avLst/>
              <a:gdLst/>
              <a:ahLst/>
              <a:cxnLst/>
              <a:rect l="l" t="t" r="r" b="b"/>
              <a:pathLst>
                <a:path w="7162800" h="5715000">
                  <a:moveTo>
                    <a:pt x="0" y="5715000"/>
                  </a:moveTo>
                  <a:lnTo>
                    <a:pt x="7162800" y="5715000"/>
                  </a:lnTo>
                  <a:lnTo>
                    <a:pt x="7162800" y="0"/>
                  </a:lnTo>
                  <a:lnTo>
                    <a:pt x="0" y="0"/>
                  </a:lnTo>
                  <a:lnTo>
                    <a:pt x="0" y="5715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3540" y="725170"/>
            <a:ext cx="2458085" cy="5499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Times New Roman"/>
                <a:cs typeface="Times New Roman"/>
              </a:rPr>
              <a:t>&lt;head&gt;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dirty="0">
                <a:latin typeface="Times New Roman"/>
                <a:cs typeface="Times New Roman"/>
              </a:rPr>
              <a:t>&lt;style</a:t>
            </a:r>
            <a:r>
              <a:rPr sz="1100" b="1" spc="11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type="text/css"&gt;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-25" dirty="0">
                <a:latin typeface="Times New Roman"/>
                <a:cs typeface="Times New Roman"/>
              </a:rPr>
              <a:t>ul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12700" marR="1705610">
              <a:lnSpc>
                <a:spcPct val="105500"/>
              </a:lnSpc>
            </a:pPr>
            <a:r>
              <a:rPr sz="1100" b="1" spc="-10" dirty="0">
                <a:latin typeface="Times New Roman"/>
                <a:cs typeface="Times New Roman"/>
              </a:rPr>
              <a:t>float:left; </a:t>
            </a:r>
            <a:r>
              <a:rPr sz="1100" b="1" spc="-45" dirty="0">
                <a:latin typeface="Times New Roman"/>
                <a:cs typeface="Times New Roman"/>
              </a:rPr>
              <a:t>width:100%; </a:t>
            </a:r>
            <a:r>
              <a:rPr sz="1100" b="1" spc="-10" dirty="0">
                <a:latin typeface="Times New Roman"/>
                <a:cs typeface="Times New Roman"/>
              </a:rPr>
              <a:t>padding:0; margin:0;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dirty="0">
                <a:latin typeface="Times New Roman"/>
                <a:cs typeface="Times New Roman"/>
              </a:rPr>
              <a:t>list-style-</a:t>
            </a:r>
            <a:r>
              <a:rPr sz="1100" b="1" spc="-10" dirty="0">
                <a:latin typeface="Times New Roman"/>
                <a:cs typeface="Times New Roman"/>
              </a:rPr>
              <a:t>type:none;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-50" dirty="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-10" dirty="0">
                <a:latin typeface="Times New Roman"/>
                <a:cs typeface="Times New Roman"/>
              </a:rPr>
              <a:t>float:left;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spc="-10" dirty="0">
                <a:latin typeface="Times New Roman"/>
                <a:cs typeface="Times New Roman"/>
              </a:rPr>
              <a:t>width:6em;</a:t>
            </a:r>
            <a:endParaRPr sz="1100">
              <a:latin typeface="Times New Roman"/>
              <a:cs typeface="Times New Roman"/>
            </a:endParaRPr>
          </a:p>
          <a:p>
            <a:pPr marL="12700" marR="1113790">
              <a:lnSpc>
                <a:spcPct val="105500"/>
              </a:lnSpc>
            </a:pPr>
            <a:r>
              <a:rPr sz="1100" b="1" dirty="0">
                <a:latin typeface="Times New Roman"/>
                <a:cs typeface="Times New Roman"/>
              </a:rPr>
              <a:t>text-</a:t>
            </a:r>
            <a:r>
              <a:rPr sz="1100" b="1" spc="-10" dirty="0">
                <a:latin typeface="Times New Roman"/>
                <a:cs typeface="Times New Roman"/>
              </a:rPr>
              <a:t>decoration:none; color:white;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dirty="0">
                <a:latin typeface="Times New Roman"/>
                <a:cs typeface="Times New Roman"/>
              </a:rPr>
              <a:t>background-</a:t>
            </a:r>
            <a:r>
              <a:rPr sz="1100" b="1" spc="-10" dirty="0">
                <a:latin typeface="Times New Roman"/>
                <a:cs typeface="Times New Roman"/>
              </a:rPr>
              <a:t>color:purple;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spc="-10" dirty="0">
                <a:latin typeface="Times New Roman"/>
                <a:cs typeface="Times New Roman"/>
              </a:rPr>
              <a:t>padding:0.2em</a:t>
            </a:r>
            <a:r>
              <a:rPr sz="1100" b="1" spc="-5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0.6em;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dirty="0">
                <a:latin typeface="Times New Roman"/>
                <a:cs typeface="Times New Roman"/>
              </a:rPr>
              <a:t>border-</a:t>
            </a:r>
            <a:r>
              <a:rPr sz="1100" b="1" spc="-10" dirty="0">
                <a:latin typeface="Times New Roman"/>
                <a:cs typeface="Times New Roman"/>
              </a:rPr>
              <a:t>right:1px</a:t>
            </a:r>
            <a:r>
              <a:rPr sz="1100" b="1" dirty="0">
                <a:latin typeface="Times New Roman"/>
                <a:cs typeface="Times New Roman"/>
              </a:rPr>
              <a:t> solid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white;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-20" dirty="0">
                <a:latin typeface="Times New Roman"/>
                <a:cs typeface="Times New Roman"/>
              </a:rPr>
              <a:t>a:hover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{background-</a:t>
            </a:r>
            <a:r>
              <a:rPr sz="1100" b="1" spc="-10" dirty="0">
                <a:latin typeface="Times New Roman"/>
                <a:cs typeface="Times New Roman"/>
              </a:rPr>
              <a:t>color:#ff3300}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dirty="0">
                <a:latin typeface="Times New Roman"/>
                <a:cs typeface="Times New Roman"/>
              </a:rPr>
              <a:t>li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{display:inline}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55" dirty="0">
                <a:latin typeface="Times New Roman"/>
                <a:cs typeface="Times New Roman"/>
              </a:rPr>
              <a:t>&lt;/style&gt;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60" dirty="0">
                <a:latin typeface="Times New Roman"/>
                <a:cs typeface="Times New Roman"/>
              </a:rPr>
              <a:t>&lt;/head&gt;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spc="-10" dirty="0">
                <a:latin typeface="Times New Roman"/>
                <a:cs typeface="Times New Roman"/>
              </a:rPr>
              <a:t>&lt;body&gt;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spc="40" dirty="0">
                <a:latin typeface="Times New Roman"/>
                <a:cs typeface="Times New Roman"/>
              </a:rPr>
              <a:t>&lt;ul&gt;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50" dirty="0">
                <a:latin typeface="Times New Roman"/>
                <a:cs typeface="Times New Roman"/>
              </a:rPr>
              <a:t>&lt;li&gt;&lt;a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10" dirty="0">
                <a:latin typeface="Times New Roman"/>
                <a:cs typeface="Times New Roman"/>
              </a:rPr>
              <a:t>href="#"&gt;Link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spc="75" dirty="0">
                <a:latin typeface="Times New Roman"/>
                <a:cs typeface="Times New Roman"/>
              </a:rPr>
              <a:t>one&lt;/a&gt;&lt;/li&gt;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50" dirty="0">
                <a:latin typeface="Times New Roman"/>
                <a:cs typeface="Times New Roman"/>
              </a:rPr>
              <a:t>&lt;li&gt;&lt;a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10" dirty="0">
                <a:latin typeface="Times New Roman"/>
                <a:cs typeface="Times New Roman"/>
              </a:rPr>
              <a:t>href="#"&gt;Link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spc="75" dirty="0">
                <a:latin typeface="Times New Roman"/>
                <a:cs typeface="Times New Roman"/>
              </a:rPr>
              <a:t>two&lt;/a&gt;&lt;/li&gt;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spc="50" dirty="0">
                <a:latin typeface="Times New Roman"/>
                <a:cs typeface="Times New Roman"/>
              </a:rPr>
              <a:t>&lt;li&gt;&lt;a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10" dirty="0">
                <a:latin typeface="Times New Roman"/>
                <a:cs typeface="Times New Roman"/>
              </a:rPr>
              <a:t>href="#"&gt;Link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spc="60" dirty="0">
                <a:latin typeface="Times New Roman"/>
                <a:cs typeface="Times New Roman"/>
              </a:rPr>
              <a:t>three&lt;/a&gt;&lt;/li&gt;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b="1" spc="50" dirty="0">
                <a:latin typeface="Times New Roman"/>
                <a:cs typeface="Times New Roman"/>
              </a:rPr>
              <a:t>&lt;li&gt;&lt;a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10" dirty="0">
                <a:latin typeface="Times New Roman"/>
                <a:cs typeface="Times New Roman"/>
              </a:rPr>
              <a:t>href="#"&gt;Link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spc="60" dirty="0">
                <a:latin typeface="Times New Roman"/>
                <a:cs typeface="Times New Roman"/>
              </a:rPr>
              <a:t>four&lt;/a&gt;&lt;/li&gt;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90" dirty="0">
                <a:latin typeface="Times New Roman"/>
                <a:cs typeface="Times New Roman"/>
              </a:rPr>
              <a:t>&lt;/ul&gt;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9229"/>
            <a:ext cx="375348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CSS</a:t>
            </a:r>
            <a:r>
              <a:rPr sz="4000" spc="-90" dirty="0"/>
              <a:t> </a:t>
            </a:r>
            <a:r>
              <a:rPr sz="4000" spc="-35" dirty="0"/>
              <a:t>Combinators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69644" y="1704213"/>
            <a:ext cx="7848600" cy="278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836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combinator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something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explains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relationship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spc="-10" dirty="0">
                <a:latin typeface="Arial MT"/>
                <a:cs typeface="Arial MT"/>
              </a:rPr>
              <a:t>selectors.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8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2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3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selector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contain</a:t>
            </a:r>
            <a:r>
              <a:rPr sz="1800" spc="2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3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simple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selector.</a:t>
            </a:r>
            <a:r>
              <a:rPr sz="1800" spc="3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simple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selectors,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include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combinator.</a:t>
            </a:r>
            <a:endParaRPr sz="18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There 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four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combinators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CSS3:</a:t>
            </a:r>
            <a:endParaRPr sz="1800">
              <a:latin typeface="Arial MT"/>
              <a:cs typeface="Arial MT"/>
            </a:endParaRPr>
          </a:p>
          <a:p>
            <a:pPr marL="1348105" indent="-344805">
              <a:lnSpc>
                <a:spcPct val="100000"/>
              </a:lnSpc>
              <a:buAutoNum type="arabicPeriod"/>
              <a:tabLst>
                <a:tab pos="1348105" algn="l"/>
              </a:tabLst>
            </a:pPr>
            <a:r>
              <a:rPr sz="1800" dirty="0">
                <a:latin typeface="Arial MT"/>
                <a:cs typeface="Arial MT"/>
              </a:rPr>
              <a:t>descendant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selector </a:t>
            </a:r>
            <a:r>
              <a:rPr sz="1800" spc="-10" dirty="0">
                <a:latin typeface="Arial MT"/>
                <a:cs typeface="Arial MT"/>
              </a:rPr>
              <a:t>(space)</a:t>
            </a:r>
            <a:endParaRPr sz="1800">
              <a:latin typeface="Arial MT"/>
              <a:cs typeface="Arial MT"/>
            </a:endParaRPr>
          </a:p>
          <a:p>
            <a:pPr marL="1348105" indent="-344805">
              <a:lnSpc>
                <a:spcPct val="100000"/>
              </a:lnSpc>
              <a:buAutoNum type="arabicPeriod"/>
              <a:tabLst>
                <a:tab pos="1348105" algn="l"/>
              </a:tabLst>
            </a:pPr>
            <a:r>
              <a:rPr sz="1800" dirty="0">
                <a:latin typeface="Arial MT"/>
                <a:cs typeface="Arial MT"/>
              </a:rPr>
              <a:t>child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selector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(&gt;)</a:t>
            </a:r>
            <a:endParaRPr sz="1800">
              <a:latin typeface="Arial MT"/>
              <a:cs typeface="Arial MT"/>
            </a:endParaRPr>
          </a:p>
          <a:p>
            <a:pPr marL="1348105" indent="-344805">
              <a:lnSpc>
                <a:spcPct val="100000"/>
              </a:lnSpc>
              <a:buAutoNum type="arabicPeriod"/>
              <a:tabLst>
                <a:tab pos="1348105" algn="l"/>
              </a:tabLst>
            </a:pPr>
            <a:r>
              <a:rPr sz="1800" dirty="0">
                <a:latin typeface="Arial MT"/>
                <a:cs typeface="Arial MT"/>
              </a:rPr>
              <a:t>adjacent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sibling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(+)</a:t>
            </a:r>
            <a:endParaRPr sz="1800">
              <a:latin typeface="Arial MT"/>
              <a:cs typeface="Arial MT"/>
            </a:endParaRPr>
          </a:p>
          <a:p>
            <a:pPr marL="1348105" indent="-344805">
              <a:lnSpc>
                <a:spcPct val="100000"/>
              </a:lnSpc>
              <a:buAutoNum type="arabicPeriod"/>
              <a:tabLst>
                <a:tab pos="1348105" algn="l"/>
              </a:tabLst>
            </a:pPr>
            <a:r>
              <a:rPr sz="1800" dirty="0">
                <a:latin typeface="Arial MT"/>
                <a:cs typeface="Arial MT"/>
              </a:rPr>
              <a:t>general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sibling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selector</a:t>
            </a:r>
            <a:r>
              <a:rPr sz="1800" spc="-25" dirty="0">
                <a:latin typeface="Arial MT"/>
                <a:cs typeface="Arial MT"/>
              </a:rPr>
              <a:t> (~)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79070"/>
            <a:ext cx="623633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Descendant</a:t>
            </a:r>
            <a:r>
              <a:rPr sz="4000" spc="-215" dirty="0"/>
              <a:t> </a:t>
            </a:r>
            <a:r>
              <a:rPr sz="4000" spc="-20" dirty="0"/>
              <a:t>Selector</a:t>
            </a:r>
            <a:r>
              <a:rPr sz="4000" spc="-160" dirty="0"/>
              <a:t> </a:t>
            </a:r>
            <a:r>
              <a:rPr sz="4000" spc="-10" dirty="0"/>
              <a:t>(Space)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644" y="2024583"/>
            <a:ext cx="737933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descendant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matches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all</a:t>
            </a:r>
            <a:r>
              <a:rPr sz="1800" spc="-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elements</a:t>
            </a:r>
            <a:r>
              <a:rPr sz="1800" spc="-3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 </a:t>
            </a:r>
            <a:r>
              <a:rPr sz="1800" dirty="0">
                <a:solidFill>
                  <a:srgbClr val="00AF50"/>
                </a:solidFill>
                <a:latin typeface="Arial MT"/>
                <a:cs typeface="Arial MT"/>
              </a:rPr>
              <a:t>descendants</a:t>
            </a:r>
            <a:r>
              <a:rPr sz="1800" spc="-5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AF50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0AF50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AF50"/>
                </a:solidFill>
                <a:latin typeface="Arial MT"/>
                <a:cs typeface="Arial MT"/>
              </a:rPr>
              <a:t>specified</a:t>
            </a:r>
            <a:r>
              <a:rPr sz="18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Arial MT"/>
                <a:cs typeface="Arial MT"/>
              </a:rPr>
              <a:t>element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The following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6600"/>
                </a:solidFill>
                <a:latin typeface="Arial MT"/>
                <a:cs typeface="Arial MT"/>
              </a:rPr>
              <a:t>&lt;p&gt;</a:t>
            </a:r>
            <a:r>
              <a:rPr sz="1800" spc="-2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6600"/>
                </a:solidFill>
                <a:latin typeface="Arial MT"/>
                <a:cs typeface="Arial MT"/>
              </a:rPr>
              <a:t>elements</a:t>
            </a:r>
            <a:r>
              <a:rPr sz="1800" spc="-5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6600"/>
                </a:solidFill>
                <a:latin typeface="Arial MT"/>
                <a:cs typeface="Arial MT"/>
              </a:rPr>
              <a:t>inside</a:t>
            </a:r>
            <a:r>
              <a:rPr sz="1800" spc="-6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6600"/>
                </a:solidFill>
                <a:latin typeface="Arial MT"/>
                <a:cs typeface="Arial MT"/>
              </a:rPr>
              <a:t>&lt;div&gt;</a:t>
            </a:r>
            <a:r>
              <a:rPr sz="1800" spc="40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elements: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55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688644" y="3122803"/>
            <a:ext cx="914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Example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7523" y="3278123"/>
            <a:ext cx="4572000" cy="923925"/>
          </a:xfrm>
          <a:prstGeom prst="rect">
            <a:avLst/>
          </a:prstGeom>
          <a:ln w="9525">
            <a:solidFill>
              <a:srgbClr val="D24717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div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34353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background-color:</a:t>
            </a:r>
            <a:r>
              <a:rPr sz="18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yellow;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79070"/>
            <a:ext cx="498602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Descendant</a:t>
            </a:r>
            <a:r>
              <a:rPr sz="4000" spc="-215" dirty="0"/>
              <a:t> </a:t>
            </a:r>
            <a:r>
              <a:rPr sz="4000" spc="-20" dirty="0"/>
              <a:t>Selector</a:t>
            </a:r>
            <a:r>
              <a:rPr sz="4000" spc="-160" dirty="0"/>
              <a:t> </a:t>
            </a:r>
            <a:r>
              <a:rPr sz="4000" spc="-50" dirty="0"/>
              <a:t>…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33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44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844" y="698449"/>
            <a:ext cx="4874895" cy="441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&lt;!DOCTYPE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html&gt;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&lt;html&gt;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  <a:p>
            <a:pPr marL="12700" marR="41148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&lt;style&gt;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div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p </a:t>
            </a:r>
            <a:r>
              <a:rPr sz="1800" spc="-5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background-color: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yellow;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&lt;/style&gt;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&lt;div&gt;</a:t>
            </a:r>
            <a:endParaRPr sz="1800">
              <a:latin typeface="Arial MT"/>
              <a:cs typeface="Arial MT"/>
            </a:endParaRPr>
          </a:p>
          <a:p>
            <a:pPr marL="1403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&lt;p&gt;Paragraph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div.&lt;/p&gt;</a:t>
            </a:r>
            <a:endParaRPr sz="1800">
              <a:latin typeface="Arial MT"/>
              <a:cs typeface="Arial MT"/>
            </a:endParaRPr>
          </a:p>
          <a:p>
            <a:pPr marL="1403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&lt;p&gt;Paragraph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div.&lt;/p&gt;</a:t>
            </a:r>
            <a:endParaRPr sz="1800">
              <a:latin typeface="Arial MT"/>
              <a:cs typeface="Arial MT"/>
            </a:endParaRPr>
          </a:p>
          <a:p>
            <a:pPr marL="1403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&lt;span&gt;&lt;p&gt;Paragraph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div.&lt;/p&gt;&lt;/span&gt;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&lt;/div&gt;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844" y="5364276"/>
            <a:ext cx="3450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&lt;p&gt;Paragraph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div.&lt;/p&gt;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&lt;p&gt;Paragraph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 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spc="-10" dirty="0">
                <a:latin typeface="Arial MT"/>
                <a:cs typeface="Arial MT"/>
              </a:rPr>
              <a:t>div.&lt;/p&gt;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844" y="6187541"/>
            <a:ext cx="853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&lt;/body&gt;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&lt;/html&gt;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27003" y="1209611"/>
            <a:ext cx="4274185" cy="2533650"/>
            <a:chOff x="4727003" y="1209611"/>
            <a:chExt cx="4274185" cy="25336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21208" y="1376362"/>
              <a:ext cx="4170391" cy="184968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31765" y="1214374"/>
              <a:ext cx="4264660" cy="2524125"/>
            </a:xfrm>
            <a:custGeom>
              <a:avLst/>
              <a:gdLst/>
              <a:ahLst/>
              <a:cxnLst/>
              <a:rect l="l" t="t" r="r" b="b"/>
              <a:pathLst>
                <a:path w="4264659" h="2524125">
                  <a:moveTo>
                    <a:pt x="0" y="2524125"/>
                  </a:moveTo>
                  <a:lnTo>
                    <a:pt x="4264533" y="2524125"/>
                  </a:lnTo>
                  <a:lnTo>
                    <a:pt x="4264533" y="0"/>
                  </a:lnTo>
                  <a:lnTo>
                    <a:pt x="0" y="0"/>
                  </a:lnTo>
                  <a:lnTo>
                    <a:pt x="0" y="2524125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30723" y="5335523"/>
            <a:ext cx="3877310" cy="368935"/>
          </a:xfrm>
          <a:prstGeom prst="rect">
            <a:avLst/>
          </a:prstGeom>
          <a:ln w="9525">
            <a:solidFill>
              <a:srgbClr val="D24717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solidFill>
                  <a:srgbClr val="CC6600"/>
                </a:solidFill>
                <a:latin typeface="Arial MT"/>
                <a:cs typeface="Arial MT"/>
              </a:rPr>
              <a:t>&lt;p&gt;</a:t>
            </a:r>
            <a:r>
              <a:rPr sz="1800" spc="-1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6600"/>
                </a:solidFill>
                <a:latin typeface="Arial MT"/>
                <a:cs typeface="Arial MT"/>
              </a:rPr>
              <a:t>elements</a:t>
            </a:r>
            <a:r>
              <a:rPr sz="1800" spc="-4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6600"/>
                </a:solidFill>
                <a:latin typeface="Arial MT"/>
                <a:cs typeface="Arial MT"/>
              </a:rPr>
              <a:t>inside</a:t>
            </a:r>
            <a:r>
              <a:rPr sz="1800" spc="-3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6600"/>
                </a:solidFill>
                <a:latin typeface="Arial MT"/>
                <a:cs typeface="Arial MT"/>
              </a:rPr>
              <a:t>&lt;div&gt;</a:t>
            </a:r>
            <a:r>
              <a:rPr sz="1800" spc="2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elements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9229"/>
            <a:ext cx="37052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Child</a:t>
            </a:r>
            <a:r>
              <a:rPr sz="4000" spc="-180" dirty="0"/>
              <a:t> </a:t>
            </a:r>
            <a:r>
              <a:rPr sz="4000" spc="-20" dirty="0"/>
              <a:t>Selector</a:t>
            </a:r>
            <a:r>
              <a:rPr sz="4000" spc="-165" dirty="0"/>
              <a:t> </a:t>
            </a:r>
            <a:r>
              <a:rPr sz="4000" spc="-25" dirty="0"/>
              <a:t>(&gt;)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33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45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0044" y="1886839"/>
            <a:ext cx="806704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child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selects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all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elements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immediate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children</a:t>
            </a:r>
            <a:r>
              <a:rPr sz="18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8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specified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element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following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&lt;p&gt;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elements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immediate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children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&lt;div&gt;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element: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Example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39923" y="3354323"/>
            <a:ext cx="4572000" cy="923925"/>
          </a:xfrm>
          <a:prstGeom prst="rect">
            <a:avLst/>
          </a:prstGeom>
          <a:ln w="9525">
            <a:solidFill>
              <a:srgbClr val="D24717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Arial MT"/>
                <a:cs typeface="Arial MT"/>
              </a:rPr>
              <a:t>div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&gt;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3435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background-color: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yellow;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109169"/>
            <a:ext cx="348678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Child</a:t>
            </a:r>
            <a:r>
              <a:rPr sz="4000" spc="-185" dirty="0"/>
              <a:t> </a:t>
            </a:r>
            <a:r>
              <a:rPr sz="4000" spc="-20" dirty="0"/>
              <a:t>Selector</a:t>
            </a:r>
            <a:r>
              <a:rPr sz="4000" spc="-170" dirty="0"/>
              <a:t> </a:t>
            </a:r>
            <a:r>
              <a:rPr sz="4000" spc="-50" dirty="0"/>
              <a:t>…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33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46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844" y="865758"/>
            <a:ext cx="4342765" cy="4173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Arial MT"/>
                <a:cs typeface="Arial MT"/>
              </a:rPr>
              <a:t>&lt;!DOCTYPE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html&gt;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&lt;html&gt;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&lt;head&gt;</a:t>
            </a:r>
            <a:endParaRPr sz="1600">
              <a:latin typeface="Arial MT"/>
              <a:cs typeface="Arial MT"/>
            </a:endParaRPr>
          </a:p>
          <a:p>
            <a:pPr marL="12700" marR="3592195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Arial MT"/>
                <a:cs typeface="Arial MT"/>
              </a:rPr>
              <a:t>&lt;style&gt; </a:t>
            </a:r>
            <a:r>
              <a:rPr sz="1600" dirty="0">
                <a:latin typeface="Arial MT"/>
                <a:cs typeface="Arial MT"/>
              </a:rPr>
              <a:t>div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&gt;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 </a:t>
            </a:r>
            <a:r>
              <a:rPr sz="1600" spc="-50" dirty="0">
                <a:latin typeface="Arial MT"/>
                <a:cs typeface="Arial MT"/>
              </a:rPr>
              <a:t>{</a:t>
            </a:r>
            <a:endParaRPr sz="16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background-</a:t>
            </a:r>
            <a:r>
              <a:rPr sz="1600" dirty="0">
                <a:latin typeface="Arial MT"/>
                <a:cs typeface="Arial MT"/>
              </a:rPr>
              <a:t>color: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yellow;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&lt;/style&gt;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&lt;/head&gt;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Arial MT"/>
                <a:cs typeface="Arial MT"/>
              </a:rPr>
              <a:t>&lt;body&gt;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&lt;div&gt;</a:t>
            </a:r>
            <a:endParaRPr sz="1600">
              <a:latin typeface="Arial MT"/>
              <a:cs typeface="Arial MT"/>
            </a:endParaRPr>
          </a:p>
          <a:p>
            <a:pPr marL="12827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&lt;p&gt;Paragraph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div.&lt;/p&gt;</a:t>
            </a:r>
            <a:endParaRPr sz="1600">
              <a:latin typeface="Arial MT"/>
              <a:cs typeface="Arial MT"/>
            </a:endParaRPr>
          </a:p>
          <a:p>
            <a:pPr marL="12827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&lt;p&gt;Paragraph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2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div.&lt;/p&gt;</a:t>
            </a:r>
            <a:endParaRPr sz="1600">
              <a:latin typeface="Arial MT"/>
              <a:cs typeface="Arial MT"/>
            </a:endParaRPr>
          </a:p>
          <a:p>
            <a:pPr marL="12827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&lt;span&gt;&lt;p&gt;Paragraph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3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div.&lt;/p&gt;&lt;/span&gt;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 MT"/>
                <a:cs typeface="Arial MT"/>
              </a:rPr>
              <a:t>&lt;!--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not Child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but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Descendant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--</a:t>
            </a:r>
            <a:r>
              <a:rPr sz="1600" spc="-50" dirty="0">
                <a:latin typeface="Arial MT"/>
                <a:cs typeface="Arial MT"/>
              </a:rPr>
              <a:t>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&lt;/div&gt;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844" y="5256657"/>
            <a:ext cx="30759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Arial MT"/>
                <a:cs typeface="Arial MT"/>
              </a:rPr>
              <a:t>&lt;p&gt;Paragraph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4.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div.&lt;/p&gt;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&lt;p&gt;Paragraph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5.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div.&lt;/p&gt;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844" y="5988507"/>
            <a:ext cx="7607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latin typeface="Arial MT"/>
                <a:cs typeface="Arial MT"/>
              </a:rPr>
              <a:t>&lt;/body&gt;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&lt;/html&gt;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43411" y="1285811"/>
            <a:ext cx="3524250" cy="2619375"/>
            <a:chOff x="4943411" y="1285811"/>
            <a:chExt cx="3524250" cy="26193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1937" y="1366050"/>
              <a:ext cx="3406262" cy="21619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48173" y="1290574"/>
              <a:ext cx="3514725" cy="2609850"/>
            </a:xfrm>
            <a:custGeom>
              <a:avLst/>
              <a:gdLst/>
              <a:ahLst/>
              <a:cxnLst/>
              <a:rect l="l" t="t" r="r" b="b"/>
              <a:pathLst>
                <a:path w="3514725" h="2609850">
                  <a:moveTo>
                    <a:pt x="0" y="2609469"/>
                  </a:moveTo>
                  <a:lnTo>
                    <a:pt x="3514725" y="2609469"/>
                  </a:lnTo>
                  <a:lnTo>
                    <a:pt x="3514725" y="0"/>
                  </a:lnTo>
                  <a:lnTo>
                    <a:pt x="0" y="0"/>
                  </a:lnTo>
                  <a:lnTo>
                    <a:pt x="0" y="2609469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44923" y="5183123"/>
            <a:ext cx="4572000" cy="646430"/>
          </a:xfrm>
          <a:prstGeom prst="rect">
            <a:avLst/>
          </a:prstGeom>
          <a:ln w="9525">
            <a:solidFill>
              <a:srgbClr val="D24717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805" marR="266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Arial MT"/>
                <a:cs typeface="Arial MT"/>
              </a:rPr>
              <a:t>&lt;p&gt;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elements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immediate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children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&lt;div&gt;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element: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9229"/>
            <a:ext cx="604266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50" dirty="0"/>
              <a:t>Adjacent</a:t>
            </a:r>
            <a:r>
              <a:rPr sz="4000" spc="-200" dirty="0"/>
              <a:t> </a:t>
            </a:r>
            <a:r>
              <a:rPr sz="4000" spc="-30" dirty="0"/>
              <a:t>Sibling</a:t>
            </a:r>
            <a:r>
              <a:rPr sz="4000" spc="-185" dirty="0"/>
              <a:t> </a:t>
            </a:r>
            <a:r>
              <a:rPr sz="4000" spc="-20" dirty="0"/>
              <a:t>Selector</a:t>
            </a:r>
            <a:r>
              <a:rPr sz="4000" spc="-180" dirty="0"/>
              <a:t> </a:t>
            </a:r>
            <a:r>
              <a:rPr sz="4000" spc="-25" dirty="0"/>
              <a:t>(+)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4972" y="6319215"/>
            <a:ext cx="20827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9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47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844" y="1472310"/>
            <a:ext cx="8025765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indent="-90805">
              <a:lnSpc>
                <a:spcPct val="100000"/>
              </a:lnSpc>
              <a:spcBef>
                <a:spcPts val="100"/>
              </a:spcBef>
              <a:buSzPct val="91666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adjacent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sibling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selector</a:t>
            </a:r>
            <a:r>
              <a:rPr sz="18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selects</a:t>
            </a:r>
            <a:r>
              <a:rPr sz="18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all elements</a:t>
            </a:r>
            <a:r>
              <a:rPr sz="18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are the adjacent</a:t>
            </a:r>
            <a:r>
              <a:rPr sz="18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siblings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specified</a:t>
            </a:r>
            <a:r>
              <a:rPr sz="18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element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2700" marR="203200" indent="-12065">
              <a:lnSpc>
                <a:spcPct val="100000"/>
              </a:lnSpc>
              <a:buSzPct val="91666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3399FF"/>
                </a:solidFill>
                <a:latin typeface="Arial MT"/>
                <a:cs typeface="Arial MT"/>
              </a:rPr>
              <a:t>	Sibling</a:t>
            </a:r>
            <a:r>
              <a:rPr sz="1800" spc="-30" dirty="0">
                <a:solidFill>
                  <a:srgbClr val="3399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99FF"/>
                </a:solidFill>
                <a:latin typeface="Arial MT"/>
                <a:cs typeface="Arial MT"/>
              </a:rPr>
              <a:t>elements</a:t>
            </a:r>
            <a:r>
              <a:rPr sz="1800" spc="-40" dirty="0">
                <a:solidFill>
                  <a:srgbClr val="3399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99FF"/>
                </a:solidFill>
                <a:latin typeface="Arial MT"/>
                <a:cs typeface="Arial MT"/>
              </a:rPr>
              <a:t>must</a:t>
            </a:r>
            <a:r>
              <a:rPr sz="1800" spc="-35" dirty="0">
                <a:solidFill>
                  <a:srgbClr val="3399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99FF"/>
                </a:solidFill>
                <a:latin typeface="Arial MT"/>
                <a:cs typeface="Arial MT"/>
              </a:rPr>
              <a:t>have</a:t>
            </a:r>
            <a:r>
              <a:rPr sz="1800" spc="20" dirty="0">
                <a:solidFill>
                  <a:srgbClr val="3399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99FF"/>
                </a:solidFill>
                <a:latin typeface="Arial MT"/>
                <a:cs typeface="Arial MT"/>
              </a:rPr>
              <a:t>the same</a:t>
            </a:r>
            <a:r>
              <a:rPr sz="1800" spc="-25" dirty="0">
                <a:solidFill>
                  <a:srgbClr val="3399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99FF"/>
                </a:solidFill>
                <a:latin typeface="Arial MT"/>
                <a:cs typeface="Arial MT"/>
              </a:rPr>
              <a:t>parent</a:t>
            </a:r>
            <a:r>
              <a:rPr sz="1800" spc="-30" dirty="0">
                <a:solidFill>
                  <a:srgbClr val="3399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99FF"/>
                </a:solidFill>
                <a:latin typeface="Arial MT"/>
                <a:cs typeface="Arial MT"/>
              </a:rPr>
              <a:t>element,</a:t>
            </a:r>
            <a:r>
              <a:rPr sz="1800" spc="-55" dirty="0">
                <a:solidFill>
                  <a:srgbClr val="3399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399FF"/>
                </a:solidFill>
                <a:latin typeface="Arial MT"/>
                <a:cs typeface="Arial MT"/>
              </a:rPr>
              <a:t>and "adjacent"</a:t>
            </a:r>
            <a:r>
              <a:rPr sz="1800" spc="-70" dirty="0">
                <a:solidFill>
                  <a:srgbClr val="3399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99FF"/>
                </a:solidFill>
                <a:latin typeface="Arial MT"/>
                <a:cs typeface="Arial MT"/>
              </a:rPr>
              <a:t>means </a:t>
            </a:r>
            <a:r>
              <a:rPr sz="1800" dirty="0">
                <a:solidFill>
                  <a:srgbClr val="3399FF"/>
                </a:solidFill>
                <a:latin typeface="Arial MT"/>
                <a:cs typeface="Arial MT"/>
              </a:rPr>
              <a:t>"immediately</a:t>
            </a:r>
            <a:r>
              <a:rPr sz="1800" spc="-95" dirty="0">
                <a:solidFill>
                  <a:srgbClr val="3399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99FF"/>
                </a:solidFill>
                <a:latin typeface="Arial MT"/>
                <a:cs typeface="Arial MT"/>
              </a:rPr>
              <a:t>following</a:t>
            </a:r>
            <a:r>
              <a:rPr sz="1800" spc="-10" dirty="0">
                <a:latin typeface="Arial MT"/>
                <a:cs typeface="Arial MT"/>
              </a:rPr>
              <a:t>".</a:t>
            </a:r>
            <a:endParaRPr sz="1800">
              <a:latin typeface="Arial MT"/>
              <a:cs typeface="Arial MT"/>
            </a:endParaRPr>
          </a:p>
          <a:p>
            <a:pPr marL="91440" indent="-90805">
              <a:lnSpc>
                <a:spcPct val="100000"/>
              </a:lnSpc>
              <a:buSzPct val="91666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following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&lt;p&gt;</a:t>
            </a:r>
            <a:r>
              <a:rPr sz="1800" spc="-25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elements</a:t>
            </a:r>
            <a:r>
              <a:rPr sz="1800" spc="-55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that</a:t>
            </a:r>
            <a:r>
              <a:rPr sz="1800" spc="-25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are</a:t>
            </a:r>
            <a:r>
              <a:rPr sz="1800" spc="-25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placed</a:t>
            </a:r>
            <a:r>
              <a:rPr sz="1800" spc="-65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C000"/>
                </a:solidFill>
                <a:latin typeface="Arial MT"/>
                <a:cs typeface="Arial MT"/>
              </a:rPr>
              <a:t>immediately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after</a:t>
            </a:r>
            <a:r>
              <a:rPr sz="1800" spc="-2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&lt;div&gt;</a:t>
            </a:r>
            <a:r>
              <a:rPr sz="1800" spc="-2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C000"/>
                </a:solidFill>
                <a:latin typeface="Arial MT"/>
                <a:cs typeface="Arial MT"/>
              </a:rPr>
              <a:t>elements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Example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7523" y="4116323"/>
            <a:ext cx="4572000" cy="923925"/>
          </a:xfrm>
          <a:prstGeom prst="rect">
            <a:avLst/>
          </a:prstGeom>
          <a:ln w="9525">
            <a:solidFill>
              <a:srgbClr val="D24717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Arial MT"/>
                <a:cs typeface="Arial MT"/>
              </a:rPr>
              <a:t>div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34353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background-color: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yellow;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3274"/>
            <a:ext cx="58254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50" dirty="0"/>
              <a:t>Adjacent</a:t>
            </a:r>
            <a:r>
              <a:rPr sz="4000" spc="-200" dirty="0"/>
              <a:t> </a:t>
            </a:r>
            <a:r>
              <a:rPr sz="4000" spc="-30" dirty="0"/>
              <a:t>Sibling</a:t>
            </a:r>
            <a:r>
              <a:rPr sz="4000" spc="-185" dirty="0"/>
              <a:t> </a:t>
            </a:r>
            <a:r>
              <a:rPr sz="4000" spc="-20" dirty="0"/>
              <a:t>Selector</a:t>
            </a:r>
            <a:r>
              <a:rPr sz="4000" spc="-180" dirty="0"/>
              <a:t> </a:t>
            </a:r>
            <a:r>
              <a:rPr sz="4000" spc="-50" dirty="0"/>
              <a:t>…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33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48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044" y="788873"/>
            <a:ext cx="2867660" cy="277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&lt;!DOCTYPE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html&gt;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&lt;html&gt;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  <a:p>
            <a:pPr marL="12700" marR="2028189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&lt;style&gt; </a:t>
            </a:r>
            <a:r>
              <a:rPr sz="1800" dirty="0">
                <a:latin typeface="Arial MT"/>
                <a:cs typeface="Arial MT"/>
              </a:rPr>
              <a:t>div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background-color: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yellow;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&lt;/style&gt;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044" y="3808221"/>
            <a:ext cx="32829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&lt;div&gt;</a:t>
            </a:r>
            <a:endParaRPr sz="1800">
              <a:latin typeface="Arial MT"/>
              <a:cs typeface="Arial MT"/>
            </a:endParaRPr>
          </a:p>
          <a:p>
            <a:pPr marL="1403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&lt;p&gt;Paragraph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div.&lt;/p&gt;</a:t>
            </a:r>
            <a:endParaRPr sz="1800">
              <a:latin typeface="Arial MT"/>
              <a:cs typeface="Arial MT"/>
            </a:endParaRPr>
          </a:p>
          <a:p>
            <a:pPr marL="1403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&lt;p&gt;Paragraph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div.&lt;/p&gt;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&lt;/div&gt;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044" y="5180457"/>
            <a:ext cx="3450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AFEF"/>
                </a:solidFill>
                <a:latin typeface="Arial MT"/>
                <a:cs typeface="Arial MT"/>
              </a:rPr>
              <a:t>&lt;p&gt;Paragraph</a:t>
            </a:r>
            <a:r>
              <a:rPr sz="1800" spc="-6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AFEF"/>
                </a:solidFill>
                <a:latin typeface="Arial MT"/>
                <a:cs typeface="Arial MT"/>
              </a:rPr>
              <a:t>3.</a:t>
            </a:r>
            <a:r>
              <a:rPr sz="1800" spc="-1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AFEF"/>
                </a:solidFill>
                <a:latin typeface="Arial MT"/>
                <a:cs typeface="Arial MT"/>
              </a:rPr>
              <a:t>Not</a:t>
            </a:r>
            <a:r>
              <a:rPr sz="1800" spc="1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AFEF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AFEF"/>
                </a:solidFill>
                <a:latin typeface="Arial MT"/>
                <a:cs typeface="Arial MT"/>
              </a:rPr>
              <a:t>a</a:t>
            </a:r>
            <a:r>
              <a:rPr sz="1800" spc="1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AFEF"/>
                </a:solidFill>
                <a:latin typeface="Arial MT"/>
                <a:cs typeface="Arial MT"/>
              </a:rPr>
              <a:t>div.&lt;/p&gt;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&lt;p&gt;Paragraph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div.&lt;/p&gt;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044" y="6003747"/>
            <a:ext cx="853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&lt;/body&gt;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&lt;/html&gt;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72011" y="1514411"/>
            <a:ext cx="3564254" cy="2000250"/>
            <a:chOff x="5172011" y="1514411"/>
            <a:chExt cx="3564254" cy="20002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2827" y="1628273"/>
              <a:ext cx="3453596" cy="15119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76773" y="1519174"/>
              <a:ext cx="3554729" cy="1990725"/>
            </a:xfrm>
            <a:custGeom>
              <a:avLst/>
              <a:gdLst/>
              <a:ahLst/>
              <a:cxnLst/>
              <a:rect l="l" t="t" r="r" b="b"/>
              <a:pathLst>
                <a:path w="3554729" h="1990725">
                  <a:moveTo>
                    <a:pt x="0" y="1990725"/>
                  </a:moveTo>
                  <a:lnTo>
                    <a:pt x="3554349" y="1990725"/>
                  </a:lnTo>
                  <a:lnTo>
                    <a:pt x="3554349" y="0"/>
                  </a:lnTo>
                  <a:lnTo>
                    <a:pt x="0" y="0"/>
                  </a:lnTo>
                  <a:lnTo>
                    <a:pt x="0" y="1990725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30723" y="4116323"/>
            <a:ext cx="3657600" cy="646430"/>
          </a:xfrm>
          <a:prstGeom prst="rect">
            <a:avLst/>
          </a:prstGeom>
          <a:ln w="9525">
            <a:solidFill>
              <a:srgbClr val="D24717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&lt;p&gt;</a:t>
            </a:r>
            <a:r>
              <a:rPr sz="1800" spc="-15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elements</a:t>
            </a:r>
            <a:r>
              <a:rPr sz="1800" spc="-5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that</a:t>
            </a:r>
            <a:r>
              <a:rPr sz="1800" spc="-15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are</a:t>
            </a:r>
            <a:r>
              <a:rPr sz="1800" spc="-10" dirty="0">
                <a:solidFill>
                  <a:srgbClr val="FFC000"/>
                </a:solidFill>
                <a:latin typeface="Arial MT"/>
                <a:cs typeface="Arial MT"/>
              </a:rPr>
              <a:t> placed</a:t>
            </a:r>
            <a:endParaRPr sz="18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immediately</a:t>
            </a:r>
            <a:r>
              <a:rPr sz="1800" spc="-85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after</a:t>
            </a:r>
            <a:r>
              <a:rPr sz="1800" spc="-2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C000"/>
                </a:solidFill>
                <a:latin typeface="Arial MT"/>
                <a:cs typeface="Arial MT"/>
              </a:rPr>
              <a:t>&lt;div&gt;</a:t>
            </a:r>
            <a:r>
              <a:rPr sz="1800" spc="-10" dirty="0">
                <a:solidFill>
                  <a:srgbClr val="FFC000"/>
                </a:solidFill>
                <a:latin typeface="Arial MT"/>
                <a:cs typeface="Arial MT"/>
              </a:rPr>
              <a:t> elements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9229"/>
            <a:ext cx="69310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General</a:t>
            </a:r>
            <a:r>
              <a:rPr sz="4000" spc="-140" dirty="0"/>
              <a:t> </a:t>
            </a:r>
            <a:r>
              <a:rPr sz="4000" spc="-35" dirty="0"/>
              <a:t>Sibling</a:t>
            </a:r>
            <a:r>
              <a:rPr sz="4000" spc="-140" dirty="0"/>
              <a:t> </a:t>
            </a:r>
            <a:r>
              <a:rPr sz="4000" spc="-20" dirty="0"/>
              <a:t>Selector</a:t>
            </a:r>
            <a:r>
              <a:rPr sz="4000" spc="-105" dirty="0"/>
              <a:t> </a:t>
            </a:r>
            <a:r>
              <a:rPr sz="4000" dirty="0"/>
              <a:t>(</a:t>
            </a:r>
            <a:r>
              <a:rPr sz="4000" dirty="0">
                <a:solidFill>
                  <a:srgbClr val="FF0000"/>
                </a:solidFill>
              </a:rPr>
              <a:t>~</a:t>
            </a:r>
            <a:r>
              <a:rPr sz="4000" spc="-125" dirty="0">
                <a:solidFill>
                  <a:srgbClr val="FF0000"/>
                </a:solidFill>
              </a:rPr>
              <a:t> </a:t>
            </a:r>
            <a:r>
              <a:rPr sz="4000" spc="-10" dirty="0"/>
              <a:t>tilde)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33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49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1886839"/>
            <a:ext cx="84169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sibling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 elements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siblings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spc="-10" dirty="0">
                <a:latin typeface="Arial MT"/>
                <a:cs typeface="Arial MT"/>
              </a:rPr>
              <a:t>specified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element.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following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&lt;p&gt;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elements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siblings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&lt;div&gt;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elements: Example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7523" y="3201923"/>
            <a:ext cx="4572000" cy="923925"/>
          </a:xfrm>
          <a:prstGeom prst="rect">
            <a:avLst/>
          </a:prstGeom>
          <a:ln w="9525">
            <a:solidFill>
              <a:srgbClr val="D24717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Arial MT"/>
                <a:cs typeface="Arial MT"/>
              </a:rPr>
              <a:t>div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~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3435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background-color: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yellow;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185369"/>
            <a:ext cx="565975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General</a:t>
            </a:r>
            <a:r>
              <a:rPr sz="4000" spc="-195" dirty="0"/>
              <a:t> </a:t>
            </a:r>
            <a:r>
              <a:rPr sz="4000" spc="-20" dirty="0"/>
              <a:t>Sibling</a:t>
            </a:r>
            <a:r>
              <a:rPr sz="4000" spc="-200" dirty="0"/>
              <a:t> </a:t>
            </a:r>
            <a:r>
              <a:rPr sz="4000" spc="-20" dirty="0"/>
              <a:t>Selector</a:t>
            </a:r>
            <a:r>
              <a:rPr sz="4000" spc="-165" dirty="0"/>
              <a:t> </a:t>
            </a:r>
            <a:r>
              <a:rPr sz="4000" spc="-50" dirty="0"/>
              <a:t>…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33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50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844" y="941959"/>
            <a:ext cx="19615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&lt;!DOCTYPE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html&gt;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&lt;html&gt;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844" y="1490294"/>
            <a:ext cx="2973070" cy="496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&lt;head&gt;</a:t>
            </a:r>
            <a:endParaRPr sz="1800">
              <a:latin typeface="Arial MT"/>
              <a:cs typeface="Arial MT"/>
            </a:endParaRPr>
          </a:p>
          <a:p>
            <a:pPr marL="12700" marR="213169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&lt;style&gt;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div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~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p</a:t>
            </a:r>
            <a:r>
              <a:rPr sz="18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background-color: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yellow;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&lt;/style&gt;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&lt;/head&gt;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&lt;body&gt;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&lt;p&gt;Paragraph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1.&lt;/p&gt;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&lt;div&gt;</a:t>
            </a:r>
            <a:endParaRPr sz="1800">
              <a:latin typeface="Arial MT"/>
              <a:cs typeface="Arial MT"/>
            </a:endParaRPr>
          </a:p>
          <a:p>
            <a:pPr marL="1403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&lt;code&gt;Some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code.&lt;/code&gt;</a:t>
            </a:r>
            <a:endParaRPr sz="1800">
              <a:latin typeface="Arial MT"/>
              <a:cs typeface="Arial MT"/>
            </a:endParaRPr>
          </a:p>
          <a:p>
            <a:pPr marL="14033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&lt;p&gt;Paragraph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2.&lt;/p&gt;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&lt;/div&gt;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&lt;p&gt;Paragraph</a:t>
            </a:r>
            <a:r>
              <a:rPr sz="1800" spc="-8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3.&lt;/p&gt;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&lt;code&gt;Some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code.&lt;/code&gt;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&lt;p&gt;Paragraph</a:t>
            </a:r>
            <a:r>
              <a:rPr sz="1800" spc="-4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Arial MT"/>
                <a:cs typeface="Arial MT"/>
              </a:rPr>
              <a:t>4.&lt;/p&gt;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&lt;/body&gt;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&lt;/html&gt;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48211" y="1514411"/>
            <a:ext cx="3472815" cy="2762250"/>
            <a:chOff x="5248211" y="1514411"/>
            <a:chExt cx="3472815" cy="27622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8725" y="1625600"/>
              <a:ext cx="3365252" cy="23495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52973" y="1519174"/>
              <a:ext cx="3463290" cy="2752725"/>
            </a:xfrm>
            <a:custGeom>
              <a:avLst/>
              <a:gdLst/>
              <a:ahLst/>
              <a:cxnLst/>
              <a:rect l="l" t="t" r="r" b="b"/>
              <a:pathLst>
                <a:path w="3463290" h="2752725">
                  <a:moveTo>
                    <a:pt x="0" y="2752725"/>
                  </a:moveTo>
                  <a:lnTo>
                    <a:pt x="3462908" y="2752725"/>
                  </a:lnTo>
                  <a:lnTo>
                    <a:pt x="3462908" y="0"/>
                  </a:lnTo>
                  <a:lnTo>
                    <a:pt x="0" y="0"/>
                  </a:lnTo>
                  <a:lnTo>
                    <a:pt x="0" y="2752725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10337"/>
            <a:ext cx="783145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Define</a:t>
            </a:r>
            <a:r>
              <a:rPr sz="3200" spc="-135" dirty="0"/>
              <a:t> </a:t>
            </a:r>
            <a:r>
              <a:rPr sz="3200" spc="-35" dirty="0"/>
              <a:t>Semantic</a:t>
            </a:r>
            <a:r>
              <a:rPr sz="3200" spc="-105" dirty="0"/>
              <a:t> </a:t>
            </a:r>
            <a:r>
              <a:rPr sz="3200" spc="-20" dirty="0"/>
              <a:t>Elements</a:t>
            </a:r>
            <a:r>
              <a:rPr sz="3200" spc="-125" dirty="0"/>
              <a:t> </a:t>
            </a:r>
            <a:r>
              <a:rPr sz="3200" dirty="0"/>
              <a:t>as</a:t>
            </a:r>
            <a:r>
              <a:rPr sz="3200" spc="-125" dirty="0"/>
              <a:t> </a:t>
            </a:r>
            <a:r>
              <a:rPr sz="3200" spc="-10" dirty="0"/>
              <a:t>Block</a:t>
            </a:r>
            <a:r>
              <a:rPr sz="3200" spc="-120" dirty="0"/>
              <a:t> </a:t>
            </a:r>
            <a:r>
              <a:rPr sz="3200" spc="-10" dirty="0"/>
              <a:t>Elements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1924" y="6319215"/>
            <a:ext cx="21462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6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51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1475054"/>
            <a:ext cx="64795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HTML5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defines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eight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 </a:t>
            </a:r>
            <a:r>
              <a:rPr sz="1800" b="1" dirty="0">
                <a:latin typeface="Arial"/>
                <a:cs typeface="Arial"/>
              </a:rPr>
              <a:t>semantic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elements.</a:t>
            </a:r>
            <a:endParaRPr sz="1800">
              <a:latin typeface="Arial MT"/>
              <a:cs typeface="Arial MT"/>
            </a:endParaRPr>
          </a:p>
          <a:p>
            <a:pPr marL="351155" indent="-338455">
              <a:lnSpc>
                <a:spcPct val="100000"/>
              </a:lnSpc>
              <a:spcBef>
                <a:spcPts val="5"/>
              </a:spcBef>
              <a:buChar char="•"/>
              <a:tabLst>
                <a:tab pos="351155" algn="l"/>
              </a:tabLst>
            </a:pP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block-</a:t>
            </a:r>
            <a:r>
              <a:rPr sz="1800" b="1" dirty="0">
                <a:latin typeface="Arial"/>
                <a:cs typeface="Arial"/>
              </a:rPr>
              <a:t>level </a:t>
            </a:r>
            <a:r>
              <a:rPr sz="1800" spc="-10" dirty="0">
                <a:latin typeface="Arial MT"/>
                <a:cs typeface="Arial MT"/>
              </a:rPr>
              <a:t>elements.</a:t>
            </a:r>
            <a:endParaRPr sz="18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0" dirty="0">
                <a:latin typeface="Arial MT"/>
                <a:cs typeface="Arial MT"/>
              </a:rPr>
              <a:t>To</a:t>
            </a:r>
            <a:r>
              <a:rPr sz="1800" dirty="0">
                <a:latin typeface="Arial MT"/>
                <a:cs typeface="Arial MT"/>
              </a:rPr>
              <a:t> secure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correct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behavior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older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browsers,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CSS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display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property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HTML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elements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block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1000" y="3685032"/>
            <a:ext cx="7620000" cy="1201420"/>
          </a:xfrm>
          <a:custGeom>
            <a:avLst/>
            <a:gdLst/>
            <a:ahLst/>
            <a:cxnLst/>
            <a:rect l="l" t="t" r="r" b="b"/>
            <a:pathLst>
              <a:path w="7620000" h="1201420">
                <a:moveTo>
                  <a:pt x="7620000" y="0"/>
                </a:moveTo>
                <a:lnTo>
                  <a:pt x="0" y="0"/>
                </a:lnTo>
                <a:lnTo>
                  <a:pt x="0" y="1200912"/>
                </a:lnTo>
                <a:lnTo>
                  <a:pt x="7620000" y="1200912"/>
                </a:lnTo>
                <a:lnTo>
                  <a:pt x="7620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1000" y="3685032"/>
            <a:ext cx="7620000" cy="1201420"/>
          </a:xfrm>
          <a:prstGeom prst="rect">
            <a:avLst/>
          </a:prstGeom>
          <a:ln w="12700">
            <a:solidFill>
              <a:srgbClr val="D24717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"/>
              </a:spcBef>
            </a:pPr>
            <a:r>
              <a:rPr sz="2400" spc="-110" dirty="0">
                <a:latin typeface="Times New Roman"/>
                <a:cs typeface="Times New Roman"/>
              </a:rPr>
              <a:t>header,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section,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footer,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aside,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nav,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main,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article,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figure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</a:pPr>
            <a:r>
              <a:rPr sz="2400" spc="-140" dirty="0">
                <a:latin typeface="Times New Roman"/>
                <a:cs typeface="Times New Roman"/>
              </a:rPr>
              <a:t>display: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block;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139395"/>
            <a:ext cx="592709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0" dirty="0"/>
              <a:t>Add</a:t>
            </a:r>
            <a:r>
              <a:rPr sz="4000" spc="-200" dirty="0"/>
              <a:t> </a:t>
            </a:r>
            <a:r>
              <a:rPr sz="4000" dirty="0"/>
              <a:t>New</a:t>
            </a:r>
            <a:r>
              <a:rPr sz="4000" spc="-200" dirty="0"/>
              <a:t> </a:t>
            </a:r>
            <a:r>
              <a:rPr sz="4000" spc="-20" dirty="0"/>
              <a:t>Elements</a:t>
            </a:r>
            <a:r>
              <a:rPr sz="4000" spc="-210" dirty="0"/>
              <a:t> </a:t>
            </a:r>
            <a:r>
              <a:rPr sz="4000" dirty="0"/>
              <a:t>to</a:t>
            </a:r>
            <a:r>
              <a:rPr sz="4000" spc="-185" dirty="0"/>
              <a:t> </a:t>
            </a:r>
            <a:r>
              <a:rPr sz="4000" spc="-20" dirty="0"/>
              <a:t>HTML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33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52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788873"/>
            <a:ext cx="84721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new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element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&lt;myHero&gt;</a:t>
            </a:r>
            <a:r>
              <a:rPr sz="1800" b="1" spc="7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HTML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page,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defines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it: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5800" y="1371600"/>
            <a:ext cx="5953125" cy="5355590"/>
          </a:xfrm>
          <a:custGeom>
            <a:avLst/>
            <a:gdLst/>
            <a:ahLst/>
            <a:cxnLst/>
            <a:rect l="l" t="t" r="r" b="b"/>
            <a:pathLst>
              <a:path w="5953125" h="5355590">
                <a:moveTo>
                  <a:pt x="5952744" y="0"/>
                </a:moveTo>
                <a:lnTo>
                  <a:pt x="0" y="0"/>
                </a:lnTo>
                <a:lnTo>
                  <a:pt x="0" y="5355336"/>
                </a:lnTo>
                <a:lnTo>
                  <a:pt x="5952744" y="5355336"/>
                </a:lnTo>
                <a:lnTo>
                  <a:pt x="59527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5800" y="1371600"/>
            <a:ext cx="5953125" cy="53555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Times New Roman"/>
                <a:cs typeface="Times New Roman"/>
              </a:rPr>
              <a:t>&lt;!DOCTYPE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html&gt;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&lt;html&gt;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&lt;head&gt;</a:t>
            </a:r>
            <a:endParaRPr sz="180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</a:pPr>
            <a:r>
              <a:rPr sz="1800" spc="-25" dirty="0">
                <a:latin typeface="Times New Roman"/>
                <a:cs typeface="Times New Roman"/>
              </a:rPr>
              <a:t>&lt;script&gt;document.createElement("myHero")&lt;/script&gt;</a:t>
            </a:r>
            <a:endParaRPr sz="180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&lt;style&gt;</a:t>
            </a:r>
            <a:endParaRPr sz="1800">
              <a:latin typeface="Times New Roman"/>
              <a:cs typeface="Times New Roman"/>
            </a:endParaRPr>
          </a:p>
          <a:p>
            <a:pPr marL="396240" marR="4360545" indent="-204470">
              <a:lnSpc>
                <a:spcPct val="100000"/>
              </a:lnSpc>
            </a:pP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myHero</a:t>
            </a:r>
            <a:r>
              <a:rPr sz="18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{ </a:t>
            </a:r>
            <a:r>
              <a:rPr sz="1800" spc="-110" dirty="0">
                <a:latin typeface="Times New Roman"/>
                <a:cs typeface="Times New Roman"/>
              </a:rPr>
              <a:t>display: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block;</a:t>
            </a:r>
            <a:endParaRPr sz="1800">
              <a:latin typeface="Times New Roman"/>
              <a:cs typeface="Times New Roman"/>
            </a:endParaRPr>
          </a:p>
          <a:p>
            <a:pPr marL="396240">
              <a:lnSpc>
                <a:spcPct val="100000"/>
              </a:lnSpc>
            </a:pPr>
            <a:r>
              <a:rPr sz="1800" spc="-95" dirty="0">
                <a:latin typeface="Times New Roman"/>
                <a:cs typeface="Times New Roman"/>
              </a:rPr>
              <a:t>background-</a:t>
            </a:r>
            <a:r>
              <a:rPr sz="1800" spc="-65" dirty="0">
                <a:latin typeface="Times New Roman"/>
                <a:cs typeface="Times New Roman"/>
              </a:rPr>
              <a:t>color: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#dddddd;</a:t>
            </a:r>
            <a:endParaRPr sz="1800">
              <a:latin typeface="Times New Roman"/>
              <a:cs typeface="Times New Roman"/>
            </a:endParaRPr>
          </a:p>
          <a:p>
            <a:pPr marL="396240">
              <a:lnSpc>
                <a:spcPct val="100000"/>
              </a:lnSpc>
            </a:pPr>
            <a:r>
              <a:rPr sz="1800" spc="-95" dirty="0">
                <a:latin typeface="Times New Roman"/>
                <a:cs typeface="Times New Roman"/>
              </a:rPr>
              <a:t>padding: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50px;</a:t>
            </a:r>
            <a:endParaRPr sz="1800">
              <a:latin typeface="Times New Roman"/>
              <a:cs typeface="Times New Roman"/>
            </a:endParaRPr>
          </a:p>
          <a:p>
            <a:pPr marL="396240">
              <a:lnSpc>
                <a:spcPct val="100000"/>
              </a:lnSpc>
              <a:spcBef>
                <a:spcPts val="5"/>
              </a:spcBef>
            </a:pPr>
            <a:r>
              <a:rPr sz="1800" spc="-80" dirty="0">
                <a:latin typeface="Times New Roman"/>
                <a:cs typeface="Times New Roman"/>
              </a:rPr>
              <a:t>font-</a:t>
            </a:r>
            <a:r>
              <a:rPr sz="1800" spc="-100" dirty="0">
                <a:latin typeface="Times New Roman"/>
                <a:cs typeface="Times New Roman"/>
              </a:rPr>
              <a:t>size: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30px;</a:t>
            </a:r>
            <a:endParaRPr sz="180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&lt;/style&gt;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35" dirty="0">
                <a:latin typeface="Times New Roman"/>
                <a:cs typeface="Times New Roman"/>
              </a:rPr>
              <a:t>&lt;/head&gt;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&lt;body&gt;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&lt;h1&gt;A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Heading&lt;/h1&gt;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65" dirty="0">
                <a:solidFill>
                  <a:srgbClr val="FF0000"/>
                </a:solidFill>
                <a:latin typeface="Times New Roman"/>
                <a:cs typeface="Times New Roman"/>
              </a:rPr>
              <a:t>&lt;myHero&gt;</a:t>
            </a:r>
            <a:r>
              <a:rPr sz="1800" spc="-65" dirty="0">
                <a:latin typeface="Times New Roman"/>
                <a:cs typeface="Times New Roman"/>
              </a:rPr>
              <a:t>My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Hero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Element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&lt;/myHero&gt;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&lt;/body&gt;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55" dirty="0">
                <a:latin typeface="Times New Roman"/>
                <a:cs typeface="Times New Roman"/>
              </a:rPr>
              <a:t>&lt;/html&gt;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4095" y="1594103"/>
            <a:ext cx="1828800" cy="132283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11505"/>
            <a:ext cx="27832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/>
              <a:t>box-</a:t>
            </a:r>
            <a:r>
              <a:rPr sz="2400" dirty="0"/>
              <a:t>sizing:</a:t>
            </a:r>
            <a:r>
              <a:rPr sz="2400" spc="-10" dirty="0"/>
              <a:t> </a:t>
            </a:r>
            <a:r>
              <a:rPr sz="2400" spc="-35" dirty="0"/>
              <a:t>border-</a:t>
            </a:r>
            <a:r>
              <a:rPr sz="2400" spc="-25" dirty="0"/>
              <a:t>box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876" y="6319215"/>
            <a:ext cx="233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53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12335" y="118871"/>
            <a:ext cx="4785360" cy="6638925"/>
          </a:xfrm>
          <a:custGeom>
            <a:avLst/>
            <a:gdLst/>
            <a:ahLst/>
            <a:cxnLst/>
            <a:rect l="l" t="t" r="r" b="b"/>
            <a:pathLst>
              <a:path w="4785359" h="6638925">
                <a:moveTo>
                  <a:pt x="4785360" y="0"/>
                </a:moveTo>
                <a:lnTo>
                  <a:pt x="0" y="0"/>
                </a:lnTo>
                <a:lnTo>
                  <a:pt x="0" y="6638544"/>
                </a:lnTo>
                <a:lnTo>
                  <a:pt x="4785360" y="6638544"/>
                </a:lnTo>
                <a:lnTo>
                  <a:pt x="47853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12335" y="118871"/>
            <a:ext cx="4785360" cy="6638925"/>
          </a:xfrm>
          <a:prstGeom prst="rect">
            <a:avLst/>
          </a:prstGeom>
          <a:ln w="12700">
            <a:solidFill>
              <a:srgbClr val="946151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85"/>
              </a:spcBef>
            </a:pPr>
            <a:r>
              <a:rPr sz="1850" spc="-10" dirty="0">
                <a:latin typeface="Times New Roman"/>
                <a:cs typeface="Times New Roman"/>
              </a:rPr>
              <a:t>&lt;html&gt;</a:t>
            </a:r>
            <a:endParaRPr sz="1850">
              <a:latin typeface="Times New Roman"/>
              <a:cs typeface="Times New Roman"/>
            </a:endParaRPr>
          </a:p>
          <a:p>
            <a:pPr marL="303530">
              <a:lnSpc>
                <a:spcPts val="2215"/>
              </a:lnSpc>
              <a:spcBef>
                <a:spcPts val="10"/>
              </a:spcBef>
            </a:pPr>
            <a:r>
              <a:rPr sz="1850" spc="-10" dirty="0">
                <a:latin typeface="Times New Roman"/>
                <a:cs typeface="Times New Roman"/>
              </a:rPr>
              <a:t>&lt;head&gt;</a:t>
            </a:r>
            <a:endParaRPr sz="1850">
              <a:latin typeface="Times New Roman"/>
              <a:cs typeface="Times New Roman"/>
            </a:endParaRPr>
          </a:p>
          <a:p>
            <a:pPr marL="514350">
              <a:lnSpc>
                <a:spcPts val="2215"/>
              </a:lnSpc>
            </a:pPr>
            <a:r>
              <a:rPr sz="1850" spc="-30" dirty="0">
                <a:latin typeface="Times New Roman"/>
                <a:cs typeface="Times New Roman"/>
              </a:rPr>
              <a:t>&lt;title&gt;box-</a:t>
            </a:r>
            <a:r>
              <a:rPr sz="1850" spc="-120" dirty="0">
                <a:latin typeface="Times New Roman"/>
                <a:cs typeface="Times New Roman"/>
              </a:rPr>
              <a:t>sizing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Property&lt;/title&gt;</a:t>
            </a:r>
            <a:endParaRPr sz="1850">
              <a:latin typeface="Times New Roman"/>
              <a:cs typeface="Times New Roman"/>
            </a:endParaRPr>
          </a:p>
          <a:p>
            <a:pPr marL="721360" marR="3564254" indent="-207645">
              <a:lnSpc>
                <a:spcPts val="2210"/>
              </a:lnSpc>
              <a:spcBef>
                <a:spcPts val="95"/>
              </a:spcBef>
            </a:pPr>
            <a:r>
              <a:rPr sz="1850" spc="-15" dirty="0">
                <a:latin typeface="Times New Roman"/>
                <a:cs typeface="Times New Roman"/>
              </a:rPr>
              <a:t>&lt;style&gt; </a:t>
            </a:r>
            <a:r>
              <a:rPr sz="1850" spc="-114" dirty="0">
                <a:latin typeface="Times New Roman"/>
                <a:cs typeface="Times New Roman"/>
              </a:rPr>
              <a:t>div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{</a:t>
            </a:r>
            <a:endParaRPr sz="1850">
              <a:latin typeface="Times New Roman"/>
              <a:cs typeface="Times New Roman"/>
            </a:endParaRPr>
          </a:p>
          <a:p>
            <a:pPr marL="932180">
              <a:lnSpc>
                <a:spcPts val="2155"/>
              </a:lnSpc>
            </a:pPr>
            <a:r>
              <a:rPr sz="1850" spc="-70" dirty="0">
                <a:latin typeface="Times New Roman"/>
                <a:cs typeface="Times New Roman"/>
              </a:rPr>
              <a:t>width: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200px;</a:t>
            </a:r>
            <a:endParaRPr sz="1850">
              <a:latin typeface="Times New Roman"/>
              <a:cs typeface="Times New Roman"/>
            </a:endParaRPr>
          </a:p>
          <a:p>
            <a:pPr marL="932180">
              <a:lnSpc>
                <a:spcPts val="2215"/>
              </a:lnSpc>
            </a:pPr>
            <a:r>
              <a:rPr sz="1850" spc="-85" dirty="0">
                <a:latin typeface="Times New Roman"/>
                <a:cs typeface="Times New Roman"/>
              </a:rPr>
              <a:t>height: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60px;</a:t>
            </a:r>
            <a:endParaRPr sz="1850">
              <a:latin typeface="Times New Roman"/>
              <a:cs typeface="Times New Roman"/>
            </a:endParaRPr>
          </a:p>
          <a:p>
            <a:pPr marL="932180">
              <a:lnSpc>
                <a:spcPts val="2215"/>
              </a:lnSpc>
              <a:spcBef>
                <a:spcPts val="15"/>
              </a:spcBef>
            </a:pPr>
            <a:r>
              <a:rPr sz="1850" spc="-100" dirty="0">
                <a:latin typeface="Times New Roman"/>
                <a:cs typeface="Times New Roman"/>
              </a:rPr>
              <a:t>padding: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20px;</a:t>
            </a:r>
            <a:endParaRPr sz="1850">
              <a:latin typeface="Times New Roman"/>
              <a:cs typeface="Times New Roman"/>
            </a:endParaRPr>
          </a:p>
          <a:p>
            <a:pPr marL="932180">
              <a:lnSpc>
                <a:spcPts val="2215"/>
              </a:lnSpc>
            </a:pPr>
            <a:r>
              <a:rPr sz="1850" spc="-55" dirty="0">
                <a:latin typeface="Times New Roman"/>
                <a:cs typeface="Times New Roman"/>
              </a:rPr>
              <a:t>border: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90" dirty="0">
                <a:latin typeface="Times New Roman"/>
                <a:cs typeface="Times New Roman"/>
              </a:rPr>
              <a:t>2px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105" dirty="0">
                <a:latin typeface="Times New Roman"/>
                <a:cs typeface="Times New Roman"/>
              </a:rPr>
              <a:t>solid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green;</a:t>
            </a:r>
            <a:endParaRPr sz="1850">
              <a:latin typeface="Times New Roman"/>
              <a:cs typeface="Times New Roman"/>
            </a:endParaRPr>
          </a:p>
          <a:p>
            <a:pPr marL="932180">
              <a:lnSpc>
                <a:spcPts val="2215"/>
              </a:lnSpc>
              <a:spcBef>
                <a:spcPts val="10"/>
              </a:spcBef>
            </a:pPr>
            <a:r>
              <a:rPr sz="1850" spc="-90" dirty="0">
                <a:latin typeface="Times New Roman"/>
                <a:cs typeface="Times New Roman"/>
              </a:rPr>
              <a:t>background: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green;</a:t>
            </a:r>
            <a:endParaRPr sz="1850">
              <a:latin typeface="Times New Roman"/>
              <a:cs typeface="Times New Roman"/>
            </a:endParaRPr>
          </a:p>
          <a:p>
            <a:pPr marL="932180">
              <a:lnSpc>
                <a:spcPts val="2215"/>
              </a:lnSpc>
            </a:pPr>
            <a:r>
              <a:rPr sz="1850" spc="-65" dirty="0">
                <a:latin typeface="Times New Roman"/>
                <a:cs typeface="Times New Roman"/>
              </a:rPr>
              <a:t>color: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white;</a:t>
            </a:r>
            <a:endParaRPr sz="1850">
              <a:latin typeface="Times New Roman"/>
              <a:cs typeface="Times New Roman"/>
            </a:endParaRPr>
          </a:p>
          <a:p>
            <a:pPr marL="721360">
              <a:lnSpc>
                <a:spcPts val="2215"/>
              </a:lnSpc>
              <a:spcBef>
                <a:spcPts val="10"/>
              </a:spcBef>
            </a:pPr>
            <a:r>
              <a:rPr sz="1850" spc="-50" dirty="0">
                <a:latin typeface="Times New Roman"/>
                <a:cs typeface="Times New Roman"/>
              </a:rPr>
              <a:t>}</a:t>
            </a:r>
            <a:endParaRPr sz="1850">
              <a:latin typeface="Times New Roman"/>
              <a:cs typeface="Times New Roman"/>
            </a:endParaRPr>
          </a:p>
          <a:p>
            <a:pPr marL="721360">
              <a:lnSpc>
                <a:spcPts val="2215"/>
              </a:lnSpc>
            </a:pPr>
            <a:r>
              <a:rPr sz="1850" spc="-45" dirty="0">
                <a:latin typeface="Times New Roman"/>
                <a:cs typeface="Times New Roman"/>
              </a:rPr>
              <a:t>.border-</a:t>
            </a:r>
            <a:r>
              <a:rPr sz="1850" spc="-110" dirty="0">
                <a:latin typeface="Times New Roman"/>
                <a:cs typeface="Times New Roman"/>
              </a:rPr>
              <a:t>box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{</a:t>
            </a:r>
            <a:endParaRPr sz="1850">
              <a:latin typeface="Times New Roman"/>
              <a:cs typeface="Times New Roman"/>
            </a:endParaRPr>
          </a:p>
          <a:p>
            <a:pPr marL="932180">
              <a:lnSpc>
                <a:spcPts val="2215"/>
              </a:lnSpc>
              <a:spcBef>
                <a:spcPts val="15"/>
              </a:spcBef>
            </a:pPr>
            <a:r>
              <a:rPr sz="1850" spc="-100" dirty="0">
                <a:latin typeface="Times New Roman"/>
                <a:cs typeface="Times New Roman"/>
              </a:rPr>
              <a:t>box-</a:t>
            </a:r>
            <a:r>
              <a:rPr sz="1850" spc="-105" dirty="0">
                <a:latin typeface="Times New Roman"/>
                <a:cs typeface="Times New Roman"/>
              </a:rPr>
              <a:t>sizing: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-70" dirty="0">
                <a:latin typeface="Times New Roman"/>
                <a:cs typeface="Times New Roman"/>
              </a:rPr>
              <a:t>content-</a:t>
            </a:r>
            <a:r>
              <a:rPr sz="1850" spc="-20" dirty="0">
                <a:latin typeface="Times New Roman"/>
                <a:cs typeface="Times New Roman"/>
              </a:rPr>
              <a:t>box;</a:t>
            </a:r>
            <a:endParaRPr sz="1850">
              <a:latin typeface="Times New Roman"/>
              <a:cs typeface="Times New Roman"/>
            </a:endParaRPr>
          </a:p>
          <a:p>
            <a:pPr marL="721360">
              <a:lnSpc>
                <a:spcPts val="2215"/>
              </a:lnSpc>
            </a:pPr>
            <a:r>
              <a:rPr sz="1850" spc="-50" dirty="0">
                <a:latin typeface="Times New Roman"/>
                <a:cs typeface="Times New Roman"/>
              </a:rPr>
              <a:t>}</a:t>
            </a:r>
            <a:endParaRPr sz="1850">
              <a:latin typeface="Times New Roman"/>
              <a:cs typeface="Times New Roman"/>
            </a:endParaRPr>
          </a:p>
          <a:p>
            <a:pPr marL="514350">
              <a:lnSpc>
                <a:spcPts val="2215"/>
              </a:lnSpc>
              <a:spcBef>
                <a:spcPts val="15"/>
              </a:spcBef>
            </a:pPr>
            <a:r>
              <a:rPr sz="1850" spc="-10" dirty="0">
                <a:latin typeface="Times New Roman"/>
                <a:cs typeface="Times New Roman"/>
              </a:rPr>
              <a:t>&lt;/style&gt;</a:t>
            </a:r>
            <a:endParaRPr sz="1850">
              <a:latin typeface="Times New Roman"/>
              <a:cs typeface="Times New Roman"/>
            </a:endParaRPr>
          </a:p>
          <a:p>
            <a:pPr marL="303530">
              <a:lnSpc>
                <a:spcPts val="2215"/>
              </a:lnSpc>
            </a:pPr>
            <a:r>
              <a:rPr sz="1850" spc="35" dirty="0">
                <a:latin typeface="Times New Roman"/>
                <a:cs typeface="Times New Roman"/>
              </a:rPr>
              <a:t>&lt;/head&gt;</a:t>
            </a:r>
            <a:endParaRPr sz="1850">
              <a:latin typeface="Times New Roman"/>
              <a:cs typeface="Times New Roman"/>
            </a:endParaRPr>
          </a:p>
          <a:p>
            <a:pPr marL="303530">
              <a:lnSpc>
                <a:spcPts val="2215"/>
              </a:lnSpc>
              <a:spcBef>
                <a:spcPts val="15"/>
              </a:spcBef>
            </a:pPr>
            <a:r>
              <a:rPr sz="1850" spc="-60" dirty="0">
                <a:latin typeface="Times New Roman"/>
                <a:cs typeface="Times New Roman"/>
              </a:rPr>
              <a:t>&lt;body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spc="-100" dirty="0">
                <a:latin typeface="Times New Roman"/>
                <a:cs typeface="Times New Roman"/>
              </a:rPr>
              <a:t>style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spc="185" dirty="0">
                <a:latin typeface="Times New Roman"/>
                <a:cs typeface="Times New Roman"/>
              </a:rPr>
              <a:t>=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"text-</a:t>
            </a:r>
            <a:r>
              <a:rPr sz="1850" spc="-100" dirty="0">
                <a:latin typeface="Times New Roman"/>
                <a:cs typeface="Times New Roman"/>
              </a:rPr>
              <a:t>align: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center;"&gt;</a:t>
            </a:r>
            <a:endParaRPr sz="1850">
              <a:latin typeface="Times New Roman"/>
              <a:cs typeface="Times New Roman"/>
            </a:endParaRPr>
          </a:p>
          <a:p>
            <a:pPr marL="514350">
              <a:lnSpc>
                <a:spcPts val="2215"/>
              </a:lnSpc>
            </a:pPr>
            <a:r>
              <a:rPr sz="1850" spc="-35" dirty="0">
                <a:latin typeface="Times New Roman"/>
                <a:cs typeface="Times New Roman"/>
              </a:rPr>
              <a:t>&lt;h2&gt;box-</a:t>
            </a:r>
            <a:r>
              <a:rPr sz="1850" spc="-105" dirty="0">
                <a:latin typeface="Times New Roman"/>
                <a:cs typeface="Times New Roman"/>
              </a:rPr>
              <a:t>sizing: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border-</a:t>
            </a:r>
            <a:r>
              <a:rPr sz="1850" spc="-10" dirty="0">
                <a:latin typeface="Times New Roman"/>
                <a:cs typeface="Times New Roman"/>
              </a:rPr>
              <a:t>box&lt;/h2&gt;</a:t>
            </a:r>
            <a:endParaRPr sz="1850">
              <a:latin typeface="Times New Roman"/>
              <a:cs typeface="Times New Roman"/>
            </a:endParaRPr>
          </a:p>
          <a:p>
            <a:pPr marL="514350">
              <a:lnSpc>
                <a:spcPts val="2215"/>
              </a:lnSpc>
              <a:spcBef>
                <a:spcPts val="10"/>
              </a:spcBef>
            </a:pPr>
            <a:r>
              <a:rPr sz="1850" spc="45" dirty="0">
                <a:latin typeface="Times New Roman"/>
                <a:cs typeface="Times New Roman"/>
              </a:rPr>
              <a:t>&lt;br&gt;</a:t>
            </a:r>
            <a:endParaRPr sz="1850">
              <a:latin typeface="Times New Roman"/>
              <a:cs typeface="Times New Roman"/>
            </a:endParaRPr>
          </a:p>
          <a:p>
            <a:pPr marL="93345" marR="2143125" indent="420370">
              <a:lnSpc>
                <a:spcPts val="2230"/>
              </a:lnSpc>
              <a:spcBef>
                <a:spcPts val="60"/>
              </a:spcBef>
            </a:pPr>
            <a:r>
              <a:rPr sz="1850" spc="-30" dirty="0">
                <a:latin typeface="Times New Roman"/>
                <a:cs typeface="Times New Roman"/>
              </a:rPr>
              <a:t>&lt;div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class="border- </a:t>
            </a:r>
            <a:r>
              <a:rPr sz="1850" spc="-50" dirty="0">
                <a:latin typeface="Times New Roman"/>
                <a:cs typeface="Times New Roman"/>
              </a:rPr>
              <a:t>box"&gt;GeeksforGeeks&lt;/div&gt;</a:t>
            </a:r>
            <a:endParaRPr sz="1850">
              <a:latin typeface="Times New Roman"/>
              <a:cs typeface="Times New Roman"/>
            </a:endParaRPr>
          </a:p>
          <a:p>
            <a:pPr marL="303530">
              <a:lnSpc>
                <a:spcPts val="2135"/>
              </a:lnSpc>
            </a:pPr>
            <a:r>
              <a:rPr sz="1850" dirty="0">
                <a:latin typeface="Times New Roman"/>
                <a:cs typeface="Times New Roman"/>
              </a:rPr>
              <a:t>&lt;/body&gt;</a:t>
            </a:r>
            <a:r>
              <a:rPr sz="1850" spc="27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&lt;/html&gt;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36" y="1405145"/>
            <a:ext cx="2857500" cy="14327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66191" y="5595010"/>
            <a:ext cx="3763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 MT"/>
                <a:cs typeface="Arial MT"/>
                <a:hlinkClick r:id="rId3"/>
              </a:rPr>
              <a:t>https://www.geeksforgeeks.org/css-box-sizing-property/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CSS</a:t>
            </a:r>
            <a:r>
              <a:rPr sz="2800" spc="-70" dirty="0"/>
              <a:t> </a:t>
            </a:r>
            <a:r>
              <a:rPr sz="2800" spc="-30" dirty="0"/>
              <a:t>Validation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404" y="685241"/>
            <a:ext cx="366141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299085" algn="l"/>
              </a:tabLst>
            </a:pPr>
            <a:r>
              <a:rPr sz="2000" spc="-40" dirty="0">
                <a:latin typeface="Times New Roman"/>
                <a:cs typeface="Times New Roman"/>
                <a:hlinkClick r:id="rId2"/>
              </a:rPr>
              <a:t>http://jigsaw.w3.org/css-</a:t>
            </a:r>
            <a:r>
              <a:rPr sz="2000" spc="-25" dirty="0">
                <a:latin typeface="Times New Roman"/>
                <a:cs typeface="Times New Roman"/>
                <a:hlinkClick r:id="rId2"/>
              </a:rPr>
              <a:t>validator/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6244" y="1511345"/>
            <a:ext cx="6499225" cy="38061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6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u="sng" spc="-7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http://www.w3schools.com/css/css_examples.asp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3"/>
              </a:rPr>
              <a:t>http://www.webcredible.co.uk/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http://stylus-</a:t>
            </a:r>
            <a:r>
              <a:rPr sz="26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4"/>
              </a:rPr>
              <a:t>lang.com/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http://oocss.org/spec/css-</a:t>
            </a:r>
            <a:r>
              <a:rPr sz="2600" u="sng" spc="-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5"/>
              </a:rPr>
              <a:t>mixins.html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u="sng" spc="-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https://sass-</a:t>
            </a:r>
            <a:r>
              <a:rPr sz="26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6"/>
              </a:rPr>
              <a:t>lang.com/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7"/>
              </a:rPr>
              <a:t>http://lesscss.org/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360" dirty="0">
                <a:latin typeface="Times New Roman"/>
                <a:cs typeface="Times New Roman"/>
              </a:rPr>
              <a:t>SAAS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–https:</a:t>
            </a:r>
            <a:r>
              <a:rPr sz="2600" spc="-10" dirty="0">
                <a:latin typeface="Times New Roman"/>
                <a:cs typeface="Times New Roman"/>
                <a:hlinkClick r:id="rId8"/>
              </a:rPr>
              <a:t>//www.tutorialspoint.com/sass/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335" dirty="0">
                <a:latin typeface="Times New Roman"/>
                <a:cs typeface="Times New Roman"/>
              </a:rPr>
              <a:t>LESS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–</a:t>
            </a:r>
            <a:r>
              <a:rPr sz="2600" spc="-10" dirty="0">
                <a:latin typeface="Times New Roman"/>
                <a:cs typeface="Times New Roman"/>
                <a:hlinkClick r:id="rId9"/>
              </a:rPr>
              <a:t>http://www.tutorialspoint.com/less/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5775" y="474980"/>
            <a:ext cx="25996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45" dirty="0"/>
              <a:t>Alternative</a:t>
            </a:r>
            <a:r>
              <a:rPr sz="2800" spc="-114" dirty="0"/>
              <a:t> </a:t>
            </a:r>
            <a:r>
              <a:rPr sz="2800" spc="-10" dirty="0"/>
              <a:t>Styles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146304" y="6211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6244" y="1086247"/>
            <a:ext cx="8128634" cy="46101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54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6385" algn="l"/>
              </a:tabLst>
            </a:pPr>
            <a:r>
              <a:rPr sz="2000" spc="-30" dirty="0">
                <a:latin typeface="Times New Roman"/>
                <a:cs typeface="Times New Roman"/>
              </a:rPr>
              <a:t>&lt;link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href="css/default.css"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rel="stylesheet"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type="text/css"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title="Default"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300" dirty="0">
                <a:latin typeface="Times New Roman"/>
                <a:cs typeface="Times New Roman"/>
              </a:rPr>
              <a:t>/&gt;</a:t>
            </a:r>
            <a:endParaRPr sz="200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100000"/>
              </a:lnSpc>
              <a:spcBef>
                <a:spcPts val="535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7020" algn="l"/>
              </a:tabLst>
            </a:pPr>
            <a:r>
              <a:rPr sz="2000" spc="-30" dirty="0">
                <a:latin typeface="Times New Roman"/>
                <a:cs typeface="Times New Roman"/>
              </a:rPr>
              <a:t>&lt;link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href="css/black.css"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rel="alternate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stylesheet"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type="text/css"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title="</a:t>
            </a:r>
            <a:r>
              <a:rPr sz="2400" spc="-20" dirty="0">
                <a:latin typeface="Times New Roman"/>
                <a:cs typeface="Times New Roman"/>
              </a:rPr>
              <a:t>High </a:t>
            </a:r>
            <a:r>
              <a:rPr sz="2400" spc="-80" dirty="0">
                <a:latin typeface="Times New Roman"/>
                <a:cs typeface="Times New Roman"/>
              </a:rPr>
              <a:t>Contrast"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355" dirty="0">
                <a:latin typeface="Times New Roman"/>
                <a:cs typeface="Times New Roman"/>
              </a:rPr>
              <a:t>/&gt;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D24717"/>
              </a:buClr>
              <a:buFont typeface="Segoe UI Symbol"/>
              <a:buChar char="⚫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D24717"/>
              </a:buClr>
              <a:buFont typeface="Segoe UI Symbol"/>
              <a:buChar char="⚫"/>
            </a:pPr>
            <a:endParaRPr sz="2000">
              <a:latin typeface="Times New Roman"/>
              <a:cs typeface="Times New Roman"/>
            </a:endParaRPr>
          </a:p>
          <a:p>
            <a:pPr marL="435609" lvl="1" indent="-283845">
              <a:lnSpc>
                <a:spcPct val="100000"/>
              </a:lnSpc>
              <a:buClr>
                <a:srgbClr val="FF0000"/>
              </a:buClr>
              <a:buSzPct val="95833"/>
              <a:buFont typeface="Wingdings"/>
              <a:buChar char=""/>
              <a:tabLst>
                <a:tab pos="435609" algn="l"/>
              </a:tabLst>
            </a:pPr>
            <a:r>
              <a:rPr sz="2400" b="1" spc="-10" dirty="0">
                <a:solidFill>
                  <a:srgbClr val="FF9900"/>
                </a:solidFill>
                <a:latin typeface="Arial"/>
                <a:cs typeface="Arial"/>
              </a:rPr>
              <a:t>rel</a:t>
            </a:r>
            <a:r>
              <a:rPr sz="2400" b="1" spc="-16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i="1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  <a:hlinkClick r:id="rId2"/>
              </a:rPr>
              <a:t>link-</a:t>
            </a:r>
            <a:r>
              <a:rPr sz="1800" b="1" i="1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  <a:hlinkClick r:id="rId2"/>
              </a:rPr>
              <a:t>types</a:t>
            </a:r>
            <a:r>
              <a:rPr sz="1800" b="1" i="1" spc="-1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800" b="1" u="sng" spc="-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  <a:hlinkClick r:id="rId3"/>
              </a:rPr>
              <a:t>[CI]</a:t>
            </a:r>
            <a:endParaRPr sz="1800">
              <a:latin typeface="Arial"/>
              <a:cs typeface="Arial"/>
            </a:endParaRPr>
          </a:p>
          <a:p>
            <a:pPr marL="622300" marR="970280" lvl="2" indent="-635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SzPct val="94444"/>
              <a:buFont typeface="Wingdings"/>
              <a:buChar char=""/>
              <a:tabLst>
                <a:tab pos="826135" algn="l"/>
              </a:tabLst>
            </a:pPr>
            <a:r>
              <a:rPr sz="1800" dirty="0">
                <a:latin typeface="Arial MT"/>
                <a:cs typeface="Arial MT"/>
              </a:rPr>
              <a:t>	This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attribute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describes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relationship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current </a:t>
            </a:r>
            <a:r>
              <a:rPr sz="1800" dirty="0">
                <a:latin typeface="Arial MT"/>
                <a:cs typeface="Arial MT"/>
              </a:rPr>
              <a:t>document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anchor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specified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 MT"/>
                <a:cs typeface="Arial MT"/>
                <a:hlinkClick r:id="rId4"/>
              </a:rPr>
              <a:t>href</a:t>
            </a:r>
            <a:r>
              <a:rPr sz="1800" spc="-10" dirty="0">
                <a:solidFill>
                  <a:srgbClr val="CC99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attribute.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value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 attribute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space-separated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types.</a:t>
            </a:r>
            <a:endParaRPr sz="18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165100" marR="1112520" lvl="1" indent="-12700">
              <a:lnSpc>
                <a:spcPct val="100000"/>
              </a:lnSpc>
              <a:buClr>
                <a:srgbClr val="FF0000"/>
              </a:buClr>
              <a:buSzPct val="94444"/>
              <a:buFont typeface="Wingdings"/>
              <a:buChar char=""/>
              <a:tabLst>
                <a:tab pos="368300" algn="l"/>
              </a:tabLst>
            </a:pPr>
            <a:r>
              <a:rPr sz="1800" dirty="0">
                <a:latin typeface="Arial MT"/>
                <a:cs typeface="Arial MT"/>
              </a:rPr>
              <a:t>	This specification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authors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specify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preferred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sheet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well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alternates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target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specific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media.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Wingdings"/>
              <a:buChar char=""/>
            </a:pPr>
            <a:endParaRPr sz="1800">
              <a:latin typeface="Arial MT"/>
              <a:cs typeface="Arial MT"/>
            </a:endParaRPr>
          </a:p>
          <a:p>
            <a:pPr marL="165100" marR="909319" lvl="1" indent="-12700">
              <a:lnSpc>
                <a:spcPct val="100000"/>
              </a:lnSpc>
              <a:buClr>
                <a:srgbClr val="FF0000"/>
              </a:buClr>
              <a:buSzPct val="94444"/>
              <a:buFont typeface="Wingdings"/>
              <a:buChar char=""/>
              <a:tabLst>
                <a:tab pos="368300" algn="l"/>
              </a:tabLst>
            </a:pPr>
            <a:r>
              <a:rPr sz="1800" dirty="0">
                <a:latin typeface="Arial MT"/>
                <a:cs typeface="Arial MT"/>
              </a:rPr>
              <a:t>	User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agents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should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opportunity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among </a:t>
            </a:r>
            <a:r>
              <a:rPr sz="1800" dirty="0">
                <a:latin typeface="Arial MT"/>
                <a:cs typeface="Arial MT"/>
              </a:rPr>
              <a:t>alternate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sheets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switch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4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sheets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altogether.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4823</Words>
  <Application>Microsoft Office PowerPoint</Application>
  <PresentationFormat>On-screen Show (4:3)</PresentationFormat>
  <Paragraphs>803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Arial MT</vt:lpstr>
      <vt:lpstr>Franklin Gothic Medium</vt:lpstr>
      <vt:lpstr>Segoe UI Symbol</vt:lpstr>
      <vt:lpstr>Times New Roman</vt:lpstr>
      <vt:lpstr>Wingdings</vt:lpstr>
      <vt:lpstr>Office Theme</vt:lpstr>
      <vt:lpstr> Cascading Style Sheets (CSS)</vt:lpstr>
      <vt:lpstr>Cascading Style Sheet (CSS)</vt:lpstr>
      <vt:lpstr>Implementation of CSS</vt:lpstr>
      <vt:lpstr>Case by case example</vt:lpstr>
      <vt:lpstr>Inline Style Sheet</vt:lpstr>
      <vt:lpstr>Embedded Style Sheet</vt:lpstr>
      <vt:lpstr>Linking Style Sheet</vt:lpstr>
      <vt:lpstr>Linking Style Sheet …</vt:lpstr>
      <vt:lpstr>Import Style Sheet</vt:lpstr>
      <vt:lpstr>The Priority among 4 Implementation Methods</vt:lpstr>
      <vt:lpstr>The Selector</vt:lpstr>
      <vt:lpstr>1. Element Selector</vt:lpstr>
      <vt:lpstr>2. Class Selector</vt:lpstr>
      <vt:lpstr>3. ID Selector</vt:lpstr>
      <vt:lpstr>4. Grouped Selector</vt:lpstr>
      <vt:lpstr>5. Context Selector</vt:lpstr>
      <vt:lpstr>CSS Pre-Processor</vt:lpstr>
      <vt:lpstr>Why CSS Prepocessor</vt:lpstr>
      <vt:lpstr>SASS</vt:lpstr>
      <vt:lpstr>Why to Use SASS?</vt:lpstr>
      <vt:lpstr>Features of SASS</vt:lpstr>
      <vt:lpstr>Advantages of SASS</vt:lpstr>
      <vt:lpstr>Disadvantages of SASS</vt:lpstr>
      <vt:lpstr>System Requirements for SASS</vt:lpstr>
      <vt:lpstr>CSS Pre-Processor …</vt:lpstr>
      <vt:lpstr>CSS Preprocessor</vt:lpstr>
      <vt:lpstr>LESS is a CSS</vt:lpstr>
      <vt:lpstr>Advantages and Disadvantages (LSS)</vt:lpstr>
      <vt:lpstr>CSS Pre-Processor …</vt:lpstr>
      <vt:lpstr>Benefits</vt:lpstr>
      <vt:lpstr>Variables</vt:lpstr>
      <vt:lpstr>Nesting</vt:lpstr>
      <vt:lpstr>Mixins</vt:lpstr>
      <vt:lpstr>Extend</vt:lpstr>
      <vt:lpstr>Control Instructions</vt:lpstr>
      <vt:lpstr>Import</vt:lpstr>
      <vt:lpstr>SPAN Element and DIV Element</vt:lpstr>
      <vt:lpstr>Use of the float property</vt:lpstr>
      <vt:lpstr>Border-style</vt:lpstr>
      <vt:lpstr>Div element with float</vt:lpstr>
      <vt:lpstr>Float with Menu</vt:lpstr>
      <vt:lpstr>CSS Combinators</vt:lpstr>
      <vt:lpstr>Descendant Selector (Space)</vt:lpstr>
      <vt:lpstr>Descendant Selector …</vt:lpstr>
      <vt:lpstr>Child Selector (&gt;)</vt:lpstr>
      <vt:lpstr>Child Selector …</vt:lpstr>
      <vt:lpstr>Adjacent Sibling Selector (+)</vt:lpstr>
      <vt:lpstr>Adjacent Sibling Selector …</vt:lpstr>
      <vt:lpstr>General Sibling Selector (~ tilde)</vt:lpstr>
      <vt:lpstr>General Sibling Selector …</vt:lpstr>
      <vt:lpstr>Define Semantic Elements as Block Elements</vt:lpstr>
      <vt:lpstr>Add New Elements to HTML</vt:lpstr>
      <vt:lpstr>box-sizing: border-box</vt:lpstr>
      <vt:lpstr>CSS Validation</vt:lpstr>
      <vt:lpstr>References</vt:lpstr>
      <vt:lpstr>Alternative Styles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2001 Internet Technologies</dc:title>
  <dc:creator>ADMTC</dc:creator>
  <cp:lastModifiedBy>Thilakshan Gunasingam</cp:lastModifiedBy>
  <cp:revision>1</cp:revision>
  <dcterms:created xsi:type="dcterms:W3CDTF">2025-08-22T06:20:37Z</dcterms:created>
  <dcterms:modified xsi:type="dcterms:W3CDTF">2025-08-22T06:23:12Z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2020-07-09T00:00:00Z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2025-08-22T00:00:00Z</vt:filetime>
  </property>
  <property fmtid="{D5CDD505-2E9C-101B-9397-08002B2CF9AE}" pid="5" name="Producer">
    <vt:lpwstr>Microsoft® PowerPoint® for Microsoft 365</vt:lpwstr>
  </property>
</Properties>
</file>