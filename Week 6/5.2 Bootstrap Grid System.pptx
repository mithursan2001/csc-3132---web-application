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DD483-8034-4370-98BA-3D54ED5A738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22BCD-49F1-4D27-9343-8693268CCB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4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4478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C9106-DDAC-4C28-8593-34A2B74181AE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4478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0E1A4-C30C-4451-8BDF-0F157585E506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14184" y="1951685"/>
            <a:ext cx="4717415" cy="3867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4478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41A3C-60EF-463D-AADB-ACDB6C12EDDA}" type="datetime1">
              <a:rPr lang="en-US" smtClean="0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4478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F1B29-5924-4463-BA98-4B1AF2705894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4478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725D7-383C-4C6F-8429-3B54600C87DF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01549"/>
            <a:ext cx="9763125" cy="150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806" y="1706553"/>
            <a:ext cx="11578386" cy="44871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89041" y="6596812"/>
            <a:ext cx="1498092" cy="181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4478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64BF5-2765-4A9D-BD6B-2F6919C81AE4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08281" y="6473520"/>
            <a:ext cx="26924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57788" y="3906773"/>
            <a:ext cx="635635" cy="2951480"/>
          </a:xfrm>
          <a:custGeom>
            <a:avLst/>
            <a:gdLst/>
            <a:ahLst/>
            <a:cxnLst/>
            <a:rect l="l" t="t" r="r" b="b"/>
            <a:pathLst>
              <a:path w="635634" h="2951479">
                <a:moveTo>
                  <a:pt x="0" y="2951226"/>
                </a:moveTo>
                <a:lnTo>
                  <a:pt x="635507" y="2951226"/>
                </a:lnTo>
                <a:lnTo>
                  <a:pt x="635507" y="0"/>
                </a:lnTo>
                <a:lnTo>
                  <a:pt x="0" y="0"/>
                </a:lnTo>
                <a:lnTo>
                  <a:pt x="0" y="295122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288" y="0"/>
            <a:ext cx="12193905" cy="3926204"/>
            <a:chOff x="18288" y="0"/>
            <a:chExt cx="12193905" cy="3926204"/>
          </a:xfrm>
        </p:grpSpPr>
        <p:sp>
          <p:nvSpPr>
            <p:cNvPr id="4" name="object 4"/>
            <p:cNvSpPr/>
            <p:nvPr/>
          </p:nvSpPr>
          <p:spPr>
            <a:xfrm>
              <a:off x="11257788" y="0"/>
              <a:ext cx="635635" cy="1962150"/>
            </a:xfrm>
            <a:custGeom>
              <a:avLst/>
              <a:gdLst/>
              <a:ahLst/>
              <a:cxnLst/>
              <a:rect l="l" t="t" r="r" b="b"/>
              <a:pathLst>
                <a:path w="635634" h="1962150">
                  <a:moveTo>
                    <a:pt x="0" y="1962150"/>
                  </a:moveTo>
                  <a:lnTo>
                    <a:pt x="635507" y="1962150"/>
                  </a:lnTo>
                  <a:lnTo>
                    <a:pt x="635507" y="0"/>
                  </a:lnTo>
                  <a:lnTo>
                    <a:pt x="0" y="0"/>
                  </a:lnTo>
                  <a:lnTo>
                    <a:pt x="0" y="196215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338" y="1962150"/>
              <a:ext cx="12155805" cy="1945005"/>
            </a:xfrm>
            <a:custGeom>
              <a:avLst/>
              <a:gdLst/>
              <a:ahLst/>
              <a:cxnLst/>
              <a:rect l="l" t="t" r="r" b="b"/>
              <a:pathLst>
                <a:path w="12155805" h="1945004">
                  <a:moveTo>
                    <a:pt x="12155424" y="0"/>
                  </a:moveTo>
                  <a:lnTo>
                    <a:pt x="0" y="0"/>
                  </a:lnTo>
                  <a:lnTo>
                    <a:pt x="0" y="1944624"/>
                  </a:lnTo>
                  <a:lnTo>
                    <a:pt x="12155424" y="1944624"/>
                  </a:lnTo>
                  <a:lnTo>
                    <a:pt x="1215542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38" y="1962150"/>
              <a:ext cx="12155805" cy="1945005"/>
            </a:xfrm>
            <a:custGeom>
              <a:avLst/>
              <a:gdLst/>
              <a:ahLst/>
              <a:cxnLst/>
              <a:rect l="l" t="t" r="r" b="b"/>
              <a:pathLst>
                <a:path w="12155805" h="1945004">
                  <a:moveTo>
                    <a:pt x="0" y="1944624"/>
                  </a:moveTo>
                  <a:lnTo>
                    <a:pt x="12155424" y="1944624"/>
                  </a:lnTo>
                  <a:lnTo>
                    <a:pt x="12155424" y="0"/>
                  </a:lnTo>
                  <a:lnTo>
                    <a:pt x="0" y="0"/>
                  </a:lnTo>
                  <a:lnTo>
                    <a:pt x="0" y="1944624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570" y="2245614"/>
            <a:ext cx="11526520" cy="1323340"/>
          </a:xfrm>
          <a:prstGeom prst="rect">
            <a:avLst/>
          </a:prstGeom>
          <a:solidFill>
            <a:srgbClr val="2E5496"/>
          </a:solidFill>
          <a:ln w="19050">
            <a:solidFill>
              <a:srgbClr val="001F5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0"/>
              </a:spcBef>
            </a:pPr>
            <a:endParaRPr sz="2850">
              <a:latin typeface="Times New Roman"/>
              <a:cs typeface="Times New Roman"/>
            </a:endParaRPr>
          </a:p>
          <a:p>
            <a:pPr marR="30480" algn="ctr">
              <a:lnSpc>
                <a:spcPct val="100000"/>
              </a:lnSpc>
            </a:pP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r>
              <a:rPr sz="2850" b="1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:</a:t>
            </a:r>
            <a:r>
              <a:rPr sz="285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Introduction</a:t>
            </a:r>
            <a:r>
              <a:rPr sz="2850" b="1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85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spc="-10" dirty="0">
                <a:solidFill>
                  <a:srgbClr val="FFFFFF"/>
                </a:solidFill>
                <a:latin typeface="Roboto"/>
                <a:cs typeface="Roboto"/>
              </a:rPr>
              <a:t>bootstrap</a:t>
            </a:r>
            <a:endParaRPr sz="2850">
              <a:latin typeface="Roboto"/>
              <a:cs typeface="Roboto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lang="en-GB" spc="-25" smtClean="0"/>
              <a:t>1</a:t>
            </a:fld>
            <a:endParaRPr lang="en-GB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8048" y="2488768"/>
            <a:ext cx="68376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Bootstrap</a:t>
            </a:r>
            <a:r>
              <a:rPr sz="6000" spc="-114" dirty="0"/>
              <a:t> </a:t>
            </a:r>
            <a:r>
              <a:rPr sz="6000" dirty="0"/>
              <a:t>Grid</a:t>
            </a:r>
            <a:r>
              <a:rPr sz="6000" spc="-114" dirty="0"/>
              <a:t> </a:t>
            </a:r>
            <a:r>
              <a:rPr sz="6000" spc="-40" dirty="0"/>
              <a:t>System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4" name="object 4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  <a:r>
              <a:rPr spc="-7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Grids</a:t>
            </a:r>
            <a:r>
              <a:rPr spc="-6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spc="-10" dirty="0"/>
              <a:t>Bootstrap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059035" cy="40347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responsive,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mobile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fluid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	</a:t>
            </a:r>
            <a:r>
              <a:rPr sz="2800" spc="-10" dirty="0">
                <a:latin typeface="Calibri"/>
                <a:cs typeface="Calibri"/>
              </a:rPr>
              <a:t>appropriately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viewport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size 	</a:t>
            </a:r>
            <a:r>
              <a:rPr sz="2800" spc="-10" dirty="0">
                <a:latin typeface="Calibri"/>
                <a:cs typeface="Calibri"/>
              </a:rPr>
              <a:t>increases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predefined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layout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powerful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mixins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generating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semantic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layouts</a:t>
            </a:r>
            <a:endParaRPr sz="2800">
              <a:latin typeface="Calibri"/>
              <a:cs typeface="Calibri"/>
            </a:endParaRPr>
          </a:p>
          <a:p>
            <a:pPr marL="240029" marR="227329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Grid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page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layouts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series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hosts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  <a:p>
            <a:pPr marL="240029" marR="20193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groupings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inside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containers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80" dirty="0"/>
              <a:t> </a:t>
            </a:r>
            <a:r>
              <a:rPr dirty="0"/>
              <a:t>Bootstrap</a:t>
            </a:r>
            <a:r>
              <a:rPr spc="-110" dirty="0"/>
              <a:t> </a:t>
            </a:r>
            <a:r>
              <a:rPr dirty="0"/>
              <a:t>grid</a:t>
            </a:r>
            <a:r>
              <a:rPr spc="-90" dirty="0"/>
              <a:t> </a:t>
            </a:r>
            <a:r>
              <a:rPr spc="-10" dirty="0"/>
              <a:t>system</a:t>
            </a:r>
            <a:r>
              <a:rPr spc="-110" dirty="0"/>
              <a:t> </a:t>
            </a:r>
            <a:r>
              <a:rPr spc="-1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15245" cy="32664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Rows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placed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B9BD4"/>
                </a:solidFill>
                <a:latin typeface="Calibri"/>
                <a:cs typeface="Calibri"/>
              </a:rPr>
              <a:t>“.container”</a:t>
            </a:r>
            <a:r>
              <a:rPr sz="2800" spc="-3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alignment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padding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horizontal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columns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Content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placed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columns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immediate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children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rows</a:t>
            </a:r>
            <a:endParaRPr sz="2800">
              <a:latin typeface="Calibri"/>
              <a:cs typeface="Calibri"/>
            </a:endParaRPr>
          </a:p>
          <a:p>
            <a:pPr marL="240029" marR="53594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Predefined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5B9BD4"/>
                </a:solidFill>
                <a:latin typeface="Calibri"/>
                <a:cs typeface="Calibri"/>
              </a:rPr>
              <a:t>“.row”</a:t>
            </a:r>
            <a:r>
              <a:rPr sz="2800" spc="-6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5B9BD4"/>
                </a:solidFill>
                <a:latin typeface="Calibri"/>
                <a:cs typeface="Calibri"/>
              </a:rPr>
              <a:t>“.col-</a:t>
            </a:r>
            <a:r>
              <a:rPr sz="2800" spc="-25" dirty="0">
                <a:solidFill>
                  <a:srgbClr val="5B9BD4"/>
                </a:solidFill>
                <a:latin typeface="Calibri"/>
                <a:cs typeface="Calibri"/>
              </a:rPr>
              <a:t>xs-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4”</a:t>
            </a:r>
            <a:r>
              <a:rPr sz="2800" spc="-3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	</a:t>
            </a:r>
            <a:r>
              <a:rPr sz="2800" dirty="0">
                <a:latin typeface="Calibri"/>
                <a:cs typeface="Calibri"/>
              </a:rPr>
              <a:t>quickly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layouts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80" dirty="0"/>
              <a:t> </a:t>
            </a:r>
            <a:r>
              <a:rPr dirty="0"/>
              <a:t>Bootstrap</a:t>
            </a:r>
            <a:r>
              <a:rPr spc="-110" dirty="0"/>
              <a:t> </a:t>
            </a:r>
            <a:r>
              <a:rPr dirty="0"/>
              <a:t>grid</a:t>
            </a:r>
            <a:r>
              <a:rPr spc="-90" dirty="0"/>
              <a:t> </a:t>
            </a:r>
            <a:r>
              <a:rPr spc="-10" dirty="0"/>
              <a:t>system</a:t>
            </a:r>
            <a:r>
              <a:rPr spc="-110" dirty="0"/>
              <a:t> </a:t>
            </a:r>
            <a:r>
              <a:rPr spc="-1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9987280" cy="36309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gutters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(gaps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padding</a:t>
            </a:r>
            <a:endParaRPr sz="2800">
              <a:latin typeface="Calibri"/>
              <a:cs typeface="Calibri"/>
            </a:endParaRPr>
          </a:p>
          <a:p>
            <a:pPr marL="240029" marR="38481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offset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negative 	</a:t>
            </a:r>
            <a:r>
              <a:rPr sz="2800" dirty="0">
                <a:latin typeface="Calibri"/>
                <a:cs typeface="Calibri"/>
              </a:rPr>
              <a:t>margin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B9BD4"/>
                </a:solidFill>
                <a:latin typeface="Calibri"/>
                <a:cs typeface="Calibri"/>
              </a:rPr>
              <a:t>“.rows”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94932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Grid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specifying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twelve 	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columns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5" dirty="0">
                <a:solidFill>
                  <a:srgbClr val="5B9BD4"/>
                </a:solidFill>
                <a:latin typeface="Calibri"/>
                <a:cs typeface="Calibri"/>
              </a:rPr>
              <a:t>“.col-</a:t>
            </a:r>
            <a:r>
              <a:rPr sz="2400" spc="-10" dirty="0">
                <a:solidFill>
                  <a:srgbClr val="5B9BD4"/>
                </a:solidFill>
                <a:latin typeface="Calibri"/>
                <a:cs typeface="Calibri"/>
              </a:rPr>
              <a:t>xs-</a:t>
            </a:r>
            <a:r>
              <a:rPr sz="2400" spc="-25" dirty="0">
                <a:solidFill>
                  <a:srgbClr val="5B9BD4"/>
                </a:solidFill>
                <a:latin typeface="Calibri"/>
                <a:cs typeface="Calibri"/>
              </a:rPr>
              <a:t>4”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Two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5" dirty="0">
                <a:solidFill>
                  <a:srgbClr val="5B9BD4"/>
                </a:solidFill>
                <a:latin typeface="Calibri"/>
                <a:cs typeface="Calibri"/>
              </a:rPr>
              <a:t>“.col-</a:t>
            </a:r>
            <a:r>
              <a:rPr sz="2400" spc="-10" dirty="0">
                <a:solidFill>
                  <a:srgbClr val="5B9BD4"/>
                </a:solidFill>
                <a:latin typeface="Calibri"/>
                <a:cs typeface="Calibri"/>
              </a:rPr>
              <a:t>xs-</a:t>
            </a:r>
            <a:r>
              <a:rPr sz="2400" spc="-25" dirty="0">
                <a:solidFill>
                  <a:srgbClr val="5B9BD4"/>
                </a:solidFill>
                <a:latin typeface="Calibri"/>
                <a:cs typeface="Calibri"/>
              </a:rPr>
              <a:t>6”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3430270">
              <a:lnSpc>
                <a:spcPct val="100000"/>
              </a:lnSpc>
              <a:spcBef>
                <a:spcPts val="105"/>
              </a:spcBef>
            </a:pPr>
            <a:r>
              <a:rPr dirty="0"/>
              <a:t>Bootstrap</a:t>
            </a:r>
            <a:r>
              <a:rPr spc="-155" dirty="0"/>
              <a:t> </a:t>
            </a:r>
            <a:r>
              <a:rPr spc="-10" dirty="0"/>
              <a:t>Grids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7810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58445" algn="l"/>
              </a:tabLst>
            </a:pPr>
            <a:r>
              <a:rPr sz="2800" spc="-10" dirty="0">
                <a:solidFill>
                  <a:srgbClr val="000000"/>
                </a:solidFill>
              </a:rPr>
              <a:t>Bootstrap</a:t>
            </a:r>
            <a:r>
              <a:rPr sz="2800" spc="-5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grid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system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allows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up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to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12</a:t>
            </a:r>
            <a:r>
              <a:rPr sz="2800" spc="-5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individual</a:t>
            </a:r>
            <a:r>
              <a:rPr sz="2800" spc="-3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columns</a:t>
            </a:r>
            <a:endParaRPr sz="2800"/>
          </a:p>
          <a:p>
            <a:pPr marL="257810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58445" algn="l"/>
              </a:tabLst>
            </a:pPr>
            <a:r>
              <a:rPr sz="2800" dirty="0">
                <a:solidFill>
                  <a:srgbClr val="000000"/>
                </a:solidFill>
              </a:rPr>
              <a:t>It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allows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to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group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the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columns</a:t>
            </a:r>
            <a:r>
              <a:rPr sz="2800" spc="-4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together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to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create</a:t>
            </a:r>
            <a:r>
              <a:rPr sz="2800" spc="-9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wider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columns</a:t>
            </a:r>
            <a:r>
              <a:rPr sz="2800" spc="-45" dirty="0">
                <a:solidFill>
                  <a:srgbClr val="000000"/>
                </a:solidFill>
              </a:rPr>
              <a:t> </a:t>
            </a:r>
            <a:r>
              <a:rPr sz="2800" spc="-25" dirty="0">
                <a:solidFill>
                  <a:srgbClr val="000000"/>
                </a:solidFill>
              </a:rPr>
              <a:t>too</a:t>
            </a:r>
            <a:endParaRPr sz="2800"/>
          </a:p>
          <a:p>
            <a:pPr marL="257810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58445" algn="l"/>
              </a:tabLst>
            </a:pPr>
            <a:r>
              <a:rPr sz="2800" dirty="0">
                <a:solidFill>
                  <a:srgbClr val="000000"/>
                </a:solidFill>
              </a:rPr>
              <a:t>These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columns</a:t>
            </a:r>
            <a:r>
              <a:rPr sz="2800" spc="-3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will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-30" dirty="0">
                <a:solidFill>
                  <a:srgbClr val="000000"/>
                </a:solidFill>
              </a:rPr>
              <a:t>re-</a:t>
            </a:r>
            <a:r>
              <a:rPr sz="2800" dirty="0">
                <a:solidFill>
                  <a:srgbClr val="000000"/>
                </a:solidFill>
              </a:rPr>
              <a:t>arrange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automatically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depending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on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the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screen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spc="-20" dirty="0">
                <a:solidFill>
                  <a:srgbClr val="000000"/>
                </a:solidFill>
              </a:rPr>
              <a:t>size</a:t>
            </a:r>
            <a:endParaRPr sz="2800"/>
          </a:p>
          <a:p>
            <a:pPr marL="17780">
              <a:lnSpc>
                <a:spcPct val="100000"/>
              </a:lnSpc>
              <a:spcBef>
                <a:spcPts val="550"/>
              </a:spcBef>
            </a:pPr>
            <a:endParaRPr sz="2800"/>
          </a:p>
          <a:p>
            <a:pPr marL="30480">
              <a:lnSpc>
                <a:spcPct val="100000"/>
              </a:lnSpc>
            </a:pPr>
            <a:r>
              <a:rPr sz="2000" b="1" u="sng" spc="-3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</a:t>
            </a:r>
            <a:r>
              <a:rPr sz="2000" b="1" u="sng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</a:t>
            </a:r>
            <a:r>
              <a:rPr sz="2000" b="1" u="sng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</a:t>
            </a:r>
            <a:r>
              <a:rPr sz="2000" b="1" u="sng" spc="-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any</a:t>
            </a:r>
            <a:r>
              <a:rPr sz="20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combinations</a:t>
            </a:r>
            <a:r>
              <a:rPr sz="2000" b="1" u="sng" spc="-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b="1" u="sng" spc="-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prepare</a:t>
            </a:r>
            <a:r>
              <a:rPr sz="20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b="1" u="sng" spc="-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layout</a:t>
            </a:r>
            <a:endParaRPr sz="20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FF0000"/>
                </a:solidFill>
              </a:rPr>
              <a:t>&lt;div</a:t>
            </a:r>
            <a:r>
              <a:rPr sz="2000" spc="-10" dirty="0">
                <a:solidFill>
                  <a:srgbClr val="FF0000"/>
                </a:solidFill>
              </a:rPr>
              <a:t> class="col-md-</a:t>
            </a:r>
            <a:r>
              <a:rPr sz="2000" dirty="0">
                <a:solidFill>
                  <a:srgbClr val="FF0000"/>
                </a:solidFill>
              </a:rPr>
              <a:t>12"&gt;Span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12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columns&lt;/div&gt;</a:t>
            </a:r>
            <a:endParaRPr sz="2000"/>
          </a:p>
          <a:p>
            <a:pPr marL="3048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00AF50"/>
                </a:solidFill>
              </a:rPr>
              <a:t>&lt;div</a:t>
            </a:r>
            <a:r>
              <a:rPr sz="2000" spc="-10" dirty="0">
                <a:solidFill>
                  <a:srgbClr val="00AF50"/>
                </a:solidFill>
              </a:rPr>
              <a:t> class="col-md-</a:t>
            </a:r>
            <a:r>
              <a:rPr sz="2000" dirty="0">
                <a:solidFill>
                  <a:srgbClr val="00AF50"/>
                </a:solidFill>
              </a:rPr>
              <a:t>6"&gt;</a:t>
            </a:r>
            <a:r>
              <a:rPr sz="2000" spc="10" dirty="0">
                <a:solidFill>
                  <a:srgbClr val="00AF50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6 </a:t>
            </a:r>
            <a:r>
              <a:rPr sz="2000" spc="-10" dirty="0">
                <a:solidFill>
                  <a:srgbClr val="44536A"/>
                </a:solidFill>
              </a:rPr>
              <a:t>units</a:t>
            </a:r>
            <a:r>
              <a:rPr sz="2000" spc="-10" dirty="0">
                <a:solidFill>
                  <a:srgbClr val="00AF50"/>
                </a:solidFill>
              </a:rPr>
              <a:t>&lt;/div&gt;</a:t>
            </a:r>
            <a:r>
              <a:rPr sz="2000" spc="-10" dirty="0">
                <a:solidFill>
                  <a:srgbClr val="00AFEF"/>
                </a:solidFill>
              </a:rPr>
              <a:t>&lt;div</a:t>
            </a:r>
            <a:r>
              <a:rPr sz="2000" spc="-5" dirty="0">
                <a:solidFill>
                  <a:srgbClr val="00AFEF"/>
                </a:solidFill>
              </a:rPr>
              <a:t> </a:t>
            </a:r>
            <a:r>
              <a:rPr sz="2000" spc="-10" dirty="0">
                <a:solidFill>
                  <a:srgbClr val="00AFEF"/>
                </a:solidFill>
              </a:rPr>
              <a:t>class="col-md-</a:t>
            </a:r>
            <a:r>
              <a:rPr sz="2000" dirty="0">
                <a:solidFill>
                  <a:srgbClr val="00AFEF"/>
                </a:solidFill>
              </a:rPr>
              <a:t>6"&gt;</a:t>
            </a:r>
            <a:r>
              <a:rPr sz="2000" spc="20" dirty="0">
                <a:solidFill>
                  <a:srgbClr val="00AFEF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6</a:t>
            </a:r>
            <a:r>
              <a:rPr sz="2000" spc="-15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units </a:t>
            </a:r>
            <a:r>
              <a:rPr sz="2000" spc="-10" dirty="0">
                <a:solidFill>
                  <a:srgbClr val="00AFEF"/>
                </a:solidFill>
              </a:rPr>
              <a:t>&lt;/div&gt;</a:t>
            </a:r>
            <a:endParaRPr sz="2000"/>
          </a:p>
          <a:p>
            <a:pPr marL="3048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00AF50"/>
                </a:solidFill>
              </a:rPr>
              <a:t>&lt;div</a:t>
            </a:r>
            <a:r>
              <a:rPr sz="2000" spc="-20" dirty="0">
                <a:solidFill>
                  <a:srgbClr val="00AF50"/>
                </a:solidFill>
              </a:rPr>
              <a:t> </a:t>
            </a:r>
            <a:r>
              <a:rPr sz="2000" spc="-10" dirty="0">
                <a:solidFill>
                  <a:srgbClr val="00AF50"/>
                </a:solidFill>
              </a:rPr>
              <a:t>class="col-md-</a:t>
            </a:r>
            <a:r>
              <a:rPr sz="2000" dirty="0">
                <a:solidFill>
                  <a:srgbClr val="00AF50"/>
                </a:solidFill>
              </a:rPr>
              <a:t>4"&gt;</a:t>
            </a:r>
            <a:r>
              <a:rPr sz="2000" spc="-5" dirty="0">
                <a:solidFill>
                  <a:srgbClr val="00AF50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4</a:t>
            </a:r>
            <a:r>
              <a:rPr sz="2000" spc="-10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units</a:t>
            </a:r>
            <a:r>
              <a:rPr sz="2000" spc="-10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00AF50"/>
                </a:solidFill>
              </a:rPr>
              <a:t>&lt;/div&gt;</a:t>
            </a:r>
            <a:r>
              <a:rPr sz="2000" dirty="0">
                <a:solidFill>
                  <a:srgbClr val="00AFEF"/>
                </a:solidFill>
              </a:rPr>
              <a:t>&lt;div</a:t>
            </a:r>
            <a:r>
              <a:rPr sz="2000" spc="-15" dirty="0">
                <a:solidFill>
                  <a:srgbClr val="00AFEF"/>
                </a:solidFill>
              </a:rPr>
              <a:t> </a:t>
            </a:r>
            <a:r>
              <a:rPr sz="2000" spc="-10" dirty="0">
                <a:solidFill>
                  <a:srgbClr val="00AFEF"/>
                </a:solidFill>
              </a:rPr>
              <a:t>class="col-md-</a:t>
            </a:r>
            <a:r>
              <a:rPr sz="2000" dirty="0">
                <a:solidFill>
                  <a:srgbClr val="00AFEF"/>
                </a:solidFill>
              </a:rPr>
              <a:t>8"&gt;</a:t>
            </a:r>
            <a:r>
              <a:rPr sz="2000" spc="-5" dirty="0">
                <a:solidFill>
                  <a:srgbClr val="00AFEF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8</a:t>
            </a:r>
            <a:r>
              <a:rPr sz="2000" spc="-15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units</a:t>
            </a:r>
            <a:r>
              <a:rPr sz="2000" spc="-10" dirty="0">
                <a:solidFill>
                  <a:srgbClr val="44536A"/>
                </a:solidFill>
              </a:rPr>
              <a:t> </a:t>
            </a:r>
            <a:r>
              <a:rPr sz="2000" spc="-10" dirty="0">
                <a:solidFill>
                  <a:srgbClr val="00AFEF"/>
                </a:solidFill>
              </a:rPr>
              <a:t>&lt;/div&gt;</a:t>
            </a:r>
            <a:endParaRPr sz="2000"/>
          </a:p>
          <a:p>
            <a:pPr marL="30480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solidFill>
                  <a:srgbClr val="6F2F9F"/>
                </a:solidFill>
              </a:rPr>
              <a:t>&lt;div</a:t>
            </a:r>
            <a:r>
              <a:rPr sz="2000" spc="-15" dirty="0">
                <a:solidFill>
                  <a:srgbClr val="6F2F9F"/>
                </a:solidFill>
              </a:rPr>
              <a:t> </a:t>
            </a:r>
            <a:r>
              <a:rPr sz="2000" spc="-10" dirty="0">
                <a:solidFill>
                  <a:srgbClr val="6F2F9F"/>
                </a:solidFill>
              </a:rPr>
              <a:t>class="col-md-</a:t>
            </a:r>
            <a:r>
              <a:rPr sz="2000" dirty="0">
                <a:solidFill>
                  <a:srgbClr val="6F2F9F"/>
                </a:solidFill>
              </a:rPr>
              <a:t>4"&gt;</a:t>
            </a:r>
            <a:r>
              <a:rPr sz="2000" spc="-5" dirty="0">
                <a:solidFill>
                  <a:srgbClr val="6F2F9F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4</a:t>
            </a:r>
            <a:r>
              <a:rPr sz="2000" spc="-10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units</a:t>
            </a:r>
            <a:r>
              <a:rPr sz="2000" spc="-10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6F2F9F"/>
                </a:solidFill>
              </a:rPr>
              <a:t>&lt;/div&gt;</a:t>
            </a:r>
            <a:r>
              <a:rPr sz="2000" dirty="0">
                <a:solidFill>
                  <a:srgbClr val="00AF50"/>
                </a:solidFill>
              </a:rPr>
              <a:t>&lt;div</a:t>
            </a:r>
            <a:r>
              <a:rPr sz="2000" spc="-10" dirty="0">
                <a:solidFill>
                  <a:srgbClr val="00AF50"/>
                </a:solidFill>
              </a:rPr>
              <a:t> class="col-md-</a:t>
            </a:r>
            <a:r>
              <a:rPr sz="2000" dirty="0">
                <a:solidFill>
                  <a:srgbClr val="00AF50"/>
                </a:solidFill>
              </a:rPr>
              <a:t>4"&gt;</a:t>
            </a:r>
            <a:r>
              <a:rPr sz="2000" spc="-5" dirty="0">
                <a:solidFill>
                  <a:srgbClr val="00AF50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4</a:t>
            </a:r>
            <a:r>
              <a:rPr sz="2000" spc="-15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units</a:t>
            </a:r>
            <a:r>
              <a:rPr sz="2000" spc="-10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00AF50"/>
                </a:solidFill>
              </a:rPr>
              <a:t>&lt;/div&gt;</a:t>
            </a:r>
            <a:r>
              <a:rPr sz="2000" spc="-10" dirty="0">
                <a:solidFill>
                  <a:srgbClr val="00AF5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&lt;div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class="col-md-</a:t>
            </a:r>
            <a:r>
              <a:rPr sz="2000" dirty="0">
                <a:solidFill>
                  <a:srgbClr val="FF0000"/>
                </a:solidFill>
              </a:rPr>
              <a:t>4"&gt;</a:t>
            </a:r>
            <a:r>
              <a:rPr sz="2000" spc="-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4</a:t>
            </a:r>
            <a:r>
              <a:rPr sz="2000" spc="-10" dirty="0">
                <a:solidFill>
                  <a:srgbClr val="44536A"/>
                </a:solidFill>
              </a:rPr>
              <a:t> </a:t>
            </a:r>
            <a:r>
              <a:rPr sz="2000" dirty="0">
                <a:solidFill>
                  <a:srgbClr val="44536A"/>
                </a:solidFill>
              </a:rPr>
              <a:t>units</a:t>
            </a:r>
            <a:r>
              <a:rPr sz="2000" spc="-25" dirty="0">
                <a:solidFill>
                  <a:srgbClr val="44536A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&lt;/div&gt;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3830954">
              <a:lnSpc>
                <a:spcPct val="100000"/>
              </a:lnSpc>
              <a:spcBef>
                <a:spcPts val="105"/>
              </a:spcBef>
            </a:pPr>
            <a:r>
              <a:rPr dirty="0"/>
              <a:t>Grid </a:t>
            </a:r>
            <a:r>
              <a:rPr spc="-10"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9351010" cy="3707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3275"/>
              </a:lnSpc>
              <a:spcBef>
                <a:spcPts val="2635"/>
              </a:spcBef>
              <a:buFont typeface="Arial MT"/>
              <a:buChar char="•"/>
              <a:tabLst>
                <a:tab pos="697230" algn="l"/>
                <a:tab pos="1152525" algn="l"/>
              </a:tabLst>
            </a:pPr>
            <a:r>
              <a:rPr sz="2800" spc="-25" dirty="0">
                <a:solidFill>
                  <a:srgbClr val="5B9BD4"/>
                </a:solidFill>
                <a:latin typeface="Calibri"/>
                <a:cs typeface="Calibri"/>
              </a:rPr>
              <a:t>xs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	-</a:t>
            </a:r>
            <a:r>
              <a:rPr sz="2800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focuses</a:t>
            </a:r>
            <a:r>
              <a:rPr sz="2800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on</a:t>
            </a:r>
            <a:r>
              <a:rPr sz="2800" spc="-6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mobile</a:t>
            </a:r>
            <a:r>
              <a:rPr sz="2800" spc="-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B9BD4"/>
                </a:solidFill>
                <a:latin typeface="Calibri"/>
                <a:cs typeface="Calibri"/>
              </a:rPr>
              <a:t>phones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319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sm</a:t>
            </a:r>
            <a:r>
              <a:rPr sz="2800" spc="-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-</a:t>
            </a:r>
            <a:r>
              <a:rPr sz="2800" spc="-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focuses</a:t>
            </a:r>
            <a:r>
              <a:rPr sz="2800" spc="-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on</a:t>
            </a:r>
            <a:r>
              <a:rPr sz="2800" spc="-4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B9BD4"/>
                </a:solidFill>
                <a:latin typeface="Calibri"/>
                <a:cs typeface="Calibri"/>
              </a:rPr>
              <a:t>tablets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318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md</a:t>
            </a:r>
            <a:r>
              <a:rPr sz="2800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-</a:t>
            </a:r>
            <a:r>
              <a:rPr sz="2800" spc="-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focuses</a:t>
            </a:r>
            <a:r>
              <a:rPr sz="2800" spc="-3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on</a:t>
            </a:r>
            <a:r>
              <a:rPr sz="2800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B9BD4"/>
                </a:solidFill>
                <a:latin typeface="Calibri"/>
                <a:cs typeface="Calibri"/>
              </a:rPr>
              <a:t>desktops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3270"/>
              </a:lnSpc>
              <a:buFont typeface="Arial MT"/>
              <a:buChar char="•"/>
              <a:tabLst>
                <a:tab pos="697230" algn="l"/>
                <a:tab pos="1108075" algn="l"/>
              </a:tabLst>
            </a:pPr>
            <a:r>
              <a:rPr sz="2800" spc="-25" dirty="0">
                <a:solidFill>
                  <a:srgbClr val="5B9BD4"/>
                </a:solidFill>
                <a:latin typeface="Calibri"/>
                <a:cs typeface="Calibri"/>
              </a:rPr>
              <a:t>lg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	-</a:t>
            </a:r>
            <a:r>
              <a:rPr sz="2800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focuses</a:t>
            </a:r>
            <a:r>
              <a:rPr sz="2800" spc="-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on</a:t>
            </a:r>
            <a:r>
              <a:rPr sz="2800" spc="-6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larger</a:t>
            </a:r>
            <a:r>
              <a:rPr sz="2800" spc="-8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B9BD4"/>
                </a:solidFill>
                <a:latin typeface="Calibri"/>
                <a:cs typeface="Calibri"/>
              </a:rPr>
              <a:t>desktops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75"/>
              </a:spcBef>
              <a:buClr>
                <a:srgbClr val="5B9BD4"/>
              </a:buClr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8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dynamic,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flexible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complex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layout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structures.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55" dirty="0"/>
              <a:t> </a:t>
            </a:r>
            <a:r>
              <a:rPr dirty="0"/>
              <a:t>Structure</a:t>
            </a:r>
            <a:r>
              <a:rPr spc="-8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Bootstrap</a:t>
            </a:r>
            <a:r>
              <a:rPr spc="-50" dirty="0"/>
              <a:t> </a:t>
            </a:r>
            <a:r>
              <a:rPr spc="-20" dirty="0"/>
              <a:t>Grid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580" y="1857755"/>
            <a:ext cx="5598160" cy="4137660"/>
          </a:xfrm>
          <a:prstGeom prst="rect">
            <a:avLst/>
          </a:prstGeom>
          <a:ln w="9525">
            <a:solidFill>
              <a:srgbClr val="5B9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0040">
              <a:lnSpc>
                <a:spcPts val="2765"/>
              </a:lnSpc>
            </a:pPr>
            <a:r>
              <a:rPr sz="3000" dirty="0">
                <a:solidFill>
                  <a:srgbClr val="5B9BD4"/>
                </a:solidFill>
                <a:latin typeface="Calibri"/>
                <a:cs typeface="Calibri"/>
              </a:rPr>
              <a:t>&lt;div</a:t>
            </a:r>
            <a:r>
              <a:rPr sz="3000" spc="-2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5B9BD4"/>
                </a:solidFill>
                <a:latin typeface="Calibri"/>
                <a:cs typeface="Calibri"/>
              </a:rPr>
              <a:t>class="row"&gt;</a:t>
            </a:r>
            <a:endParaRPr sz="3000">
              <a:latin typeface="Calibri"/>
              <a:cs typeface="Calibri"/>
            </a:endParaRPr>
          </a:p>
          <a:p>
            <a:pPr marL="1005840">
              <a:lnSpc>
                <a:spcPts val="2880"/>
              </a:lnSpc>
            </a:pPr>
            <a:r>
              <a:rPr sz="3000" dirty="0">
                <a:latin typeface="Calibri"/>
                <a:cs typeface="Calibri"/>
              </a:rPr>
              <a:t>&lt;div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class="col-</a:t>
            </a:r>
            <a:r>
              <a:rPr sz="3000" spc="-10" dirty="0">
                <a:latin typeface="Calibri"/>
                <a:cs typeface="Calibri"/>
              </a:rPr>
              <a:t>*-*"&gt;&lt;/div&gt;</a:t>
            </a:r>
            <a:endParaRPr sz="3000">
              <a:latin typeface="Calibri"/>
              <a:cs typeface="Calibri"/>
            </a:endParaRPr>
          </a:p>
          <a:p>
            <a:pPr marL="320040">
              <a:lnSpc>
                <a:spcPts val="2880"/>
              </a:lnSpc>
            </a:pPr>
            <a:r>
              <a:rPr sz="3000" spc="-10" dirty="0">
                <a:solidFill>
                  <a:srgbClr val="5B9BD4"/>
                </a:solidFill>
                <a:latin typeface="Calibri"/>
                <a:cs typeface="Calibri"/>
              </a:rPr>
              <a:t>&lt;/div&gt;</a:t>
            </a:r>
            <a:endParaRPr sz="3000">
              <a:latin typeface="Calibri"/>
              <a:cs typeface="Calibri"/>
            </a:endParaRPr>
          </a:p>
          <a:p>
            <a:pPr marL="320040">
              <a:lnSpc>
                <a:spcPts val="2880"/>
              </a:lnSpc>
            </a:pPr>
            <a:r>
              <a:rPr sz="3000" dirty="0">
                <a:solidFill>
                  <a:srgbClr val="5B9BD4"/>
                </a:solidFill>
                <a:latin typeface="Calibri"/>
                <a:cs typeface="Calibri"/>
              </a:rPr>
              <a:t>&lt;div</a:t>
            </a:r>
            <a:r>
              <a:rPr sz="3000" spc="-2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5B9BD4"/>
                </a:solidFill>
                <a:latin typeface="Calibri"/>
                <a:cs typeface="Calibri"/>
              </a:rPr>
              <a:t>class="row"&gt;</a:t>
            </a:r>
            <a:endParaRPr sz="3000">
              <a:latin typeface="Calibri"/>
              <a:cs typeface="Calibri"/>
            </a:endParaRPr>
          </a:p>
          <a:p>
            <a:pPr marL="613410" algn="ctr">
              <a:lnSpc>
                <a:spcPts val="2880"/>
              </a:lnSpc>
            </a:pPr>
            <a:r>
              <a:rPr sz="3000" dirty="0">
                <a:latin typeface="Calibri"/>
                <a:cs typeface="Calibri"/>
              </a:rPr>
              <a:t>&lt;div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class="col-</a:t>
            </a:r>
            <a:r>
              <a:rPr sz="3000" spc="-10" dirty="0">
                <a:latin typeface="Calibri"/>
                <a:cs typeface="Calibri"/>
              </a:rPr>
              <a:t>*-*"&gt;&lt;/div&gt;</a:t>
            </a:r>
            <a:endParaRPr sz="3000">
              <a:latin typeface="Calibri"/>
              <a:cs typeface="Calibri"/>
            </a:endParaRPr>
          </a:p>
          <a:p>
            <a:pPr marL="613410" algn="ctr">
              <a:lnSpc>
                <a:spcPts val="2880"/>
              </a:lnSpc>
            </a:pPr>
            <a:r>
              <a:rPr sz="3000" dirty="0">
                <a:latin typeface="Calibri"/>
                <a:cs typeface="Calibri"/>
              </a:rPr>
              <a:t>&lt;div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class="col-</a:t>
            </a:r>
            <a:r>
              <a:rPr sz="3000" spc="-10" dirty="0">
                <a:latin typeface="Calibri"/>
                <a:cs typeface="Calibri"/>
              </a:rPr>
              <a:t>*-*"&gt;&lt;/div&gt;</a:t>
            </a:r>
            <a:endParaRPr sz="3000">
              <a:latin typeface="Calibri"/>
              <a:cs typeface="Calibri"/>
            </a:endParaRPr>
          </a:p>
          <a:p>
            <a:pPr marL="613410" algn="ctr">
              <a:lnSpc>
                <a:spcPts val="2880"/>
              </a:lnSpc>
            </a:pPr>
            <a:r>
              <a:rPr sz="3000" dirty="0">
                <a:latin typeface="Calibri"/>
                <a:cs typeface="Calibri"/>
              </a:rPr>
              <a:t>&lt;div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class="col-</a:t>
            </a:r>
            <a:r>
              <a:rPr sz="3000" spc="-10" dirty="0">
                <a:latin typeface="Calibri"/>
                <a:cs typeface="Calibri"/>
              </a:rPr>
              <a:t>*-*"&gt;&lt;/div&gt;</a:t>
            </a:r>
            <a:endParaRPr sz="3000">
              <a:latin typeface="Calibri"/>
              <a:cs typeface="Calibri"/>
            </a:endParaRPr>
          </a:p>
          <a:p>
            <a:pPr marL="320040">
              <a:lnSpc>
                <a:spcPts val="2880"/>
              </a:lnSpc>
            </a:pPr>
            <a:r>
              <a:rPr sz="3000" spc="-10" dirty="0">
                <a:solidFill>
                  <a:srgbClr val="5B9BD4"/>
                </a:solidFill>
                <a:latin typeface="Calibri"/>
                <a:cs typeface="Calibri"/>
              </a:rPr>
              <a:t>&lt;/div&gt;</a:t>
            </a:r>
            <a:endParaRPr sz="3000">
              <a:latin typeface="Calibri"/>
              <a:cs typeface="Calibri"/>
            </a:endParaRPr>
          </a:p>
          <a:p>
            <a:pPr marL="320040">
              <a:lnSpc>
                <a:spcPts val="2880"/>
              </a:lnSpc>
            </a:pPr>
            <a:r>
              <a:rPr sz="3000" dirty="0">
                <a:solidFill>
                  <a:srgbClr val="5B9BD4"/>
                </a:solidFill>
                <a:latin typeface="Calibri"/>
                <a:cs typeface="Calibri"/>
              </a:rPr>
              <a:t>&lt;div</a:t>
            </a:r>
            <a:r>
              <a:rPr sz="3000" spc="-1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5B9BD4"/>
                </a:solidFill>
                <a:latin typeface="Calibri"/>
                <a:cs typeface="Calibri"/>
              </a:rPr>
              <a:t>class="row"&gt;</a:t>
            </a:r>
            <a:endParaRPr sz="3000">
              <a:latin typeface="Calibri"/>
              <a:cs typeface="Calibri"/>
            </a:endParaRPr>
          </a:p>
          <a:p>
            <a:pPr marL="492125">
              <a:lnSpc>
                <a:spcPts val="2880"/>
              </a:lnSpc>
            </a:pPr>
            <a:r>
              <a:rPr sz="3000" spc="-25" dirty="0">
                <a:latin typeface="Calibri"/>
                <a:cs typeface="Calibri"/>
              </a:rPr>
              <a:t>...</a:t>
            </a:r>
            <a:endParaRPr sz="3000">
              <a:latin typeface="Calibri"/>
              <a:cs typeface="Calibri"/>
            </a:endParaRPr>
          </a:p>
          <a:p>
            <a:pPr marL="320040">
              <a:lnSpc>
                <a:spcPts val="3240"/>
              </a:lnSpc>
            </a:pPr>
            <a:r>
              <a:rPr sz="3000" spc="-10" dirty="0">
                <a:solidFill>
                  <a:srgbClr val="5B9BD4"/>
                </a:solidFill>
                <a:latin typeface="Calibri"/>
                <a:cs typeface="Calibri"/>
              </a:rPr>
              <a:t>&lt;/div&gt;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Create</a:t>
            </a:r>
            <a:r>
              <a:rPr spc="-8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row</a:t>
            </a:r>
            <a:r>
              <a:rPr spc="-65" dirty="0"/>
              <a:t> </a:t>
            </a:r>
            <a:r>
              <a:rPr dirty="0"/>
              <a:t>(&lt;div</a:t>
            </a:r>
            <a:r>
              <a:rPr spc="-35" dirty="0"/>
              <a:t> </a:t>
            </a:r>
            <a:r>
              <a:rPr spc="-10" dirty="0"/>
              <a:t>class="row"&gt;)</a:t>
            </a:r>
          </a:p>
          <a:p>
            <a:pPr marL="12700" marR="736600">
              <a:lnSpc>
                <a:spcPct val="100000"/>
              </a:lnSpc>
              <a:spcBef>
                <a:spcPts val="3365"/>
              </a:spcBef>
            </a:pPr>
            <a:r>
              <a:rPr dirty="0"/>
              <a:t>Add</a:t>
            </a:r>
            <a:r>
              <a:rPr spc="-7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desired</a:t>
            </a:r>
            <a:r>
              <a:rPr spc="-70" dirty="0"/>
              <a:t> </a:t>
            </a:r>
            <a:r>
              <a:rPr dirty="0"/>
              <a:t>number</a:t>
            </a:r>
            <a:r>
              <a:rPr spc="-45" dirty="0"/>
              <a:t> </a:t>
            </a:r>
            <a:r>
              <a:rPr spc="-25" dirty="0"/>
              <a:t>of </a:t>
            </a:r>
            <a:r>
              <a:rPr dirty="0"/>
              <a:t>columns</a:t>
            </a:r>
            <a:r>
              <a:rPr spc="-65" dirty="0"/>
              <a:t> </a:t>
            </a:r>
            <a:r>
              <a:rPr dirty="0"/>
              <a:t>(tags</a:t>
            </a:r>
            <a:r>
              <a:rPr spc="-95" dirty="0"/>
              <a:t> </a:t>
            </a:r>
            <a:r>
              <a:rPr spc="-20" dirty="0"/>
              <a:t>with </a:t>
            </a:r>
            <a:r>
              <a:rPr spc="-10" dirty="0"/>
              <a:t>appropriate</a:t>
            </a:r>
            <a:r>
              <a:rPr spc="-35" dirty="0"/>
              <a:t> </a:t>
            </a:r>
            <a:r>
              <a:rPr spc="-20" dirty="0"/>
              <a:t>.col-</a:t>
            </a:r>
            <a:r>
              <a:rPr spc="-25" dirty="0"/>
              <a:t>*-</a:t>
            </a:r>
            <a:r>
              <a:rPr spc="-10" dirty="0"/>
              <a:t>*classes)</a:t>
            </a:r>
          </a:p>
          <a:p>
            <a:pPr marL="12700">
              <a:lnSpc>
                <a:spcPct val="100000"/>
              </a:lnSpc>
              <a:spcBef>
                <a:spcPts val="3360"/>
              </a:spcBef>
            </a:pPr>
            <a:r>
              <a:rPr dirty="0">
                <a:solidFill>
                  <a:srgbClr val="FFC000"/>
                </a:solidFill>
              </a:rPr>
              <a:t>Note</a:t>
            </a:r>
            <a:r>
              <a:rPr spc="-7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that</a:t>
            </a:r>
            <a:r>
              <a:rPr spc="-60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numbers</a:t>
            </a:r>
            <a:r>
              <a:rPr spc="-30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in</a:t>
            </a:r>
            <a:r>
              <a:rPr spc="-60" dirty="0">
                <a:solidFill>
                  <a:srgbClr val="FFC000"/>
                </a:solidFill>
              </a:rPr>
              <a:t> </a:t>
            </a:r>
            <a:r>
              <a:rPr spc="-20" dirty="0">
                <a:solidFill>
                  <a:srgbClr val="FFC000"/>
                </a:solidFill>
              </a:rPr>
              <a:t>.col-</a:t>
            </a:r>
            <a:r>
              <a:rPr spc="-25" dirty="0">
                <a:solidFill>
                  <a:srgbClr val="FFC000"/>
                </a:solidFill>
              </a:rPr>
              <a:t>*-</a:t>
            </a:r>
          </a:p>
          <a:p>
            <a:pPr marL="12700" marR="2540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FFC000"/>
                </a:solidFill>
              </a:rPr>
              <a:t>*</a:t>
            </a:r>
            <a:r>
              <a:rPr spc="-50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should</a:t>
            </a:r>
            <a:r>
              <a:rPr spc="-2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always</a:t>
            </a:r>
            <a:r>
              <a:rPr spc="-6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add</a:t>
            </a:r>
            <a:r>
              <a:rPr spc="-4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up</a:t>
            </a:r>
            <a:r>
              <a:rPr spc="-45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to</a:t>
            </a:r>
            <a:r>
              <a:rPr spc="-60" dirty="0">
                <a:solidFill>
                  <a:srgbClr val="FFC000"/>
                </a:solidFill>
              </a:rPr>
              <a:t> </a:t>
            </a:r>
            <a:r>
              <a:rPr dirty="0">
                <a:solidFill>
                  <a:srgbClr val="FFC000"/>
                </a:solidFill>
              </a:rPr>
              <a:t>12</a:t>
            </a:r>
            <a:r>
              <a:rPr spc="-35" dirty="0">
                <a:solidFill>
                  <a:srgbClr val="FFC000"/>
                </a:solidFill>
              </a:rPr>
              <a:t> </a:t>
            </a:r>
            <a:r>
              <a:rPr spc="-25" dirty="0">
                <a:solidFill>
                  <a:srgbClr val="FFC000"/>
                </a:solidFill>
              </a:rPr>
              <a:t>for </a:t>
            </a:r>
            <a:r>
              <a:rPr dirty="0">
                <a:solidFill>
                  <a:srgbClr val="FFC000"/>
                </a:solidFill>
              </a:rPr>
              <a:t>each</a:t>
            </a:r>
            <a:r>
              <a:rPr spc="-10" dirty="0">
                <a:solidFill>
                  <a:srgbClr val="FFC000"/>
                </a:solidFill>
              </a:rPr>
              <a:t> </a:t>
            </a:r>
            <a:r>
              <a:rPr spc="-25" dirty="0">
                <a:solidFill>
                  <a:srgbClr val="FFC000"/>
                </a:solidFill>
              </a:rPr>
              <a:t>row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6" name="object 6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2945">
              <a:lnSpc>
                <a:spcPct val="100000"/>
              </a:lnSpc>
              <a:spcBef>
                <a:spcPts val="105"/>
              </a:spcBef>
            </a:pPr>
            <a:r>
              <a:rPr dirty="0"/>
              <a:t>GRID </a:t>
            </a:r>
            <a:r>
              <a:rPr spc="-10" dirty="0"/>
              <a:t>Options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472" y="992124"/>
            <a:ext cx="9211056" cy="55725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Media </a:t>
            </a:r>
            <a:r>
              <a:rPr spc="-1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553"/>
            <a:ext cx="9993630" cy="272923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Media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queries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conditional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CSS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rules.</a:t>
            </a:r>
            <a:endParaRPr sz="32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simply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applies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CSS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certain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conditions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specified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conditions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met,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style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applied</a:t>
            </a:r>
            <a:endParaRPr sz="3200">
              <a:latin typeface="Calibri"/>
              <a:cs typeface="Calibri"/>
            </a:endParaRPr>
          </a:p>
          <a:p>
            <a:pPr marL="240029" marR="5080" indent="-227329">
              <a:lnSpc>
                <a:spcPts val="346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Media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Queries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Bootstrap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allows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move,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show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hide 	</a:t>
            </a:r>
            <a:r>
              <a:rPr sz="3200" dirty="0">
                <a:latin typeface="Calibri"/>
                <a:cs typeface="Calibri"/>
              </a:rPr>
              <a:t>content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viewport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size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591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  <a:tabLst>
                <a:tab pos="2158365" algn="l"/>
              </a:tabLst>
            </a:pPr>
            <a:r>
              <a:rPr spc="-10" dirty="0"/>
              <a:t>Example</a:t>
            </a:r>
            <a:r>
              <a:rPr dirty="0"/>
              <a:t>	media</a:t>
            </a:r>
            <a:r>
              <a:rPr spc="-95" dirty="0"/>
              <a:t> </a:t>
            </a:r>
            <a:r>
              <a:rPr dirty="0"/>
              <a:t>queries</a:t>
            </a:r>
            <a:r>
              <a:rPr spc="-9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create</a:t>
            </a:r>
            <a:r>
              <a:rPr spc="-95" dirty="0"/>
              <a:t> </a:t>
            </a:r>
            <a:r>
              <a:rPr dirty="0"/>
              <a:t>key</a:t>
            </a:r>
            <a:r>
              <a:rPr spc="-95" dirty="0"/>
              <a:t> </a:t>
            </a:r>
            <a:r>
              <a:rPr spc="-10" dirty="0"/>
              <a:t>break 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7880350" cy="41179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21945" indent="-30924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21945" algn="l"/>
              </a:tabLst>
            </a:pPr>
            <a:r>
              <a:rPr sz="2800" dirty="0">
                <a:latin typeface="Calibri"/>
                <a:cs typeface="Calibri"/>
              </a:rPr>
              <a:t>Extra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(phones,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768px)</a:t>
            </a:r>
            <a:endParaRPr sz="2800">
              <a:latin typeface="Calibri"/>
              <a:cs typeface="Calibri"/>
            </a:endParaRPr>
          </a:p>
          <a:p>
            <a:pPr marL="321945" indent="-30924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2194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default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endParaRPr sz="2800">
              <a:latin typeface="Calibri"/>
              <a:cs typeface="Calibri"/>
            </a:endParaRPr>
          </a:p>
          <a:p>
            <a:pPr marL="321945" indent="-30924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21945" algn="l"/>
              </a:tabLst>
            </a:pPr>
            <a:r>
              <a:rPr sz="2800" dirty="0">
                <a:latin typeface="Calibri"/>
                <a:cs typeface="Calibri"/>
              </a:rPr>
              <a:t>Small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(tablets,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768px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up)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@media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(min-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width:</a:t>
            </a:r>
            <a:r>
              <a:rPr sz="28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@screen-sm-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min)</a:t>
            </a:r>
            <a:r>
              <a:rPr sz="28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... 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321945" marR="519430" indent="-309880">
              <a:lnSpc>
                <a:spcPct val="119600"/>
              </a:lnSpc>
              <a:spcBef>
                <a:spcPts val="10"/>
              </a:spcBef>
              <a:buFont typeface="Arial MT"/>
              <a:buChar char="•"/>
              <a:tabLst>
                <a:tab pos="927100" algn="l"/>
              </a:tabLst>
            </a:pPr>
            <a:r>
              <a:rPr sz="2800" dirty="0">
                <a:latin typeface="Calibri"/>
                <a:cs typeface="Calibri"/>
              </a:rPr>
              <a:t>Medium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(desktops,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992px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up)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@media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(min-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width: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@screen-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md-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min)</a:t>
            </a:r>
            <a:r>
              <a:rPr sz="28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... 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321945" marR="741680" indent="-309880">
              <a:lnSpc>
                <a:spcPts val="4029"/>
              </a:lnSpc>
              <a:spcBef>
                <a:spcPts val="95"/>
              </a:spcBef>
              <a:buFont typeface="Arial MT"/>
              <a:buChar char="•"/>
              <a:tabLst>
                <a:tab pos="927100" algn="l"/>
              </a:tabLst>
            </a:pP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(large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desktops,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1200px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up)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@media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(min-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width:</a:t>
            </a:r>
            <a:r>
              <a:rPr sz="28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@screen-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lg-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min)</a:t>
            </a:r>
            <a:r>
              <a:rPr sz="28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... 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single</a:t>
            </a:r>
            <a:r>
              <a:rPr spc="-65" dirty="0"/>
              <a:t> </a:t>
            </a:r>
            <a:r>
              <a:rPr spc="-10" dirty="0"/>
              <a:t>column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1788" rIns="0" bIns="0" rtlCol="0">
            <a:spAutoFit/>
          </a:bodyPr>
          <a:lstStyle/>
          <a:p>
            <a:pPr marL="622300">
              <a:lnSpc>
                <a:spcPts val="4560"/>
              </a:lnSpc>
              <a:spcBef>
                <a:spcPts val="95"/>
              </a:spcBef>
            </a:pPr>
            <a:r>
              <a:rPr dirty="0"/>
              <a:t>&lt;div</a:t>
            </a:r>
            <a:r>
              <a:rPr spc="-70" dirty="0"/>
              <a:t> </a:t>
            </a:r>
            <a:r>
              <a:rPr spc="-10" dirty="0"/>
              <a:t>class="</a:t>
            </a:r>
            <a:r>
              <a:rPr b="1" spc="-10" dirty="0">
                <a:latin typeface="Calibri"/>
                <a:cs typeface="Calibri"/>
              </a:rPr>
              <a:t>container</a:t>
            </a:r>
            <a:r>
              <a:rPr spc="-10" dirty="0"/>
              <a:t>"&gt;</a:t>
            </a:r>
          </a:p>
          <a:p>
            <a:pPr marL="1536700">
              <a:lnSpc>
                <a:spcPts val="4320"/>
              </a:lnSpc>
            </a:pPr>
            <a:r>
              <a:rPr dirty="0">
                <a:solidFill>
                  <a:srgbClr val="00AF50"/>
                </a:solidFill>
              </a:rPr>
              <a:t>&lt;div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class="</a:t>
            </a:r>
            <a:r>
              <a:rPr b="1" spc="-10" dirty="0">
                <a:solidFill>
                  <a:srgbClr val="00AF50"/>
                </a:solidFill>
                <a:latin typeface="Calibri"/>
                <a:cs typeface="Calibri"/>
              </a:rPr>
              <a:t>row</a:t>
            </a:r>
            <a:r>
              <a:rPr spc="-10" dirty="0">
                <a:solidFill>
                  <a:srgbClr val="00AF50"/>
                </a:solidFill>
              </a:rPr>
              <a:t>"&gt;</a:t>
            </a:r>
          </a:p>
          <a:p>
            <a:pPr marL="2451100">
              <a:lnSpc>
                <a:spcPts val="4320"/>
              </a:lnSpc>
            </a:pPr>
            <a:r>
              <a:rPr dirty="0">
                <a:solidFill>
                  <a:srgbClr val="000000"/>
                </a:solidFill>
              </a:rPr>
              <a:t>&lt;div</a:t>
            </a:r>
            <a:r>
              <a:rPr spc="-1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class="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col</a:t>
            </a:r>
            <a:r>
              <a:rPr dirty="0">
                <a:solidFill>
                  <a:srgbClr val="000000"/>
                </a:solidFill>
              </a:rPr>
              <a:t>"&gt;Single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column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grid&lt;/div&gt;</a:t>
            </a:r>
          </a:p>
          <a:p>
            <a:pPr marL="1536700">
              <a:lnSpc>
                <a:spcPts val="4320"/>
              </a:lnSpc>
            </a:pPr>
            <a:r>
              <a:rPr spc="-10" dirty="0">
                <a:solidFill>
                  <a:srgbClr val="00AF50"/>
                </a:solidFill>
              </a:rPr>
              <a:t>&lt;/div&gt;</a:t>
            </a:r>
          </a:p>
          <a:p>
            <a:pPr marL="622300">
              <a:lnSpc>
                <a:spcPts val="4560"/>
              </a:lnSpc>
            </a:pPr>
            <a:r>
              <a:rPr spc="-10" dirty="0"/>
              <a:t>&lt;/div&gt;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85" dirty="0"/>
              <a:t> </a:t>
            </a:r>
            <a:r>
              <a:rPr dirty="0"/>
              <a:t>example</a:t>
            </a:r>
            <a:r>
              <a:rPr spc="-7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two</a:t>
            </a:r>
            <a:r>
              <a:rPr spc="-60" dirty="0"/>
              <a:t> </a:t>
            </a:r>
            <a:r>
              <a:rPr dirty="0"/>
              <a:t>column</a:t>
            </a:r>
            <a:r>
              <a:rPr spc="-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1788" rIns="0" bIns="0" rtlCol="0">
            <a:spAutoFit/>
          </a:bodyPr>
          <a:lstStyle/>
          <a:p>
            <a:pPr marL="622300">
              <a:lnSpc>
                <a:spcPts val="4560"/>
              </a:lnSpc>
              <a:spcBef>
                <a:spcPts val="95"/>
              </a:spcBef>
            </a:pPr>
            <a:r>
              <a:rPr dirty="0"/>
              <a:t>&lt;div</a:t>
            </a:r>
            <a:r>
              <a:rPr spc="-70" dirty="0"/>
              <a:t> </a:t>
            </a:r>
            <a:r>
              <a:rPr spc="-10" dirty="0"/>
              <a:t>class="</a:t>
            </a:r>
            <a:r>
              <a:rPr b="1" spc="-10" dirty="0">
                <a:latin typeface="Calibri"/>
                <a:cs typeface="Calibri"/>
              </a:rPr>
              <a:t>container</a:t>
            </a:r>
            <a:r>
              <a:rPr spc="-10" dirty="0"/>
              <a:t>"&gt;</a:t>
            </a:r>
          </a:p>
          <a:p>
            <a:pPr marL="1536700">
              <a:lnSpc>
                <a:spcPts val="4320"/>
              </a:lnSpc>
            </a:pPr>
            <a:r>
              <a:rPr dirty="0">
                <a:solidFill>
                  <a:srgbClr val="00AF50"/>
                </a:solidFill>
              </a:rPr>
              <a:t>&lt;div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class="</a:t>
            </a:r>
            <a:r>
              <a:rPr b="1" spc="-10" dirty="0">
                <a:solidFill>
                  <a:srgbClr val="00AF50"/>
                </a:solidFill>
                <a:latin typeface="Calibri"/>
                <a:cs typeface="Calibri"/>
              </a:rPr>
              <a:t>row</a:t>
            </a:r>
            <a:r>
              <a:rPr spc="-10" dirty="0">
                <a:solidFill>
                  <a:srgbClr val="00AF50"/>
                </a:solidFill>
              </a:rPr>
              <a:t>"&gt;</a:t>
            </a:r>
          </a:p>
          <a:p>
            <a:pPr marL="2451100">
              <a:lnSpc>
                <a:spcPts val="4560"/>
              </a:lnSpc>
            </a:pPr>
            <a:r>
              <a:rPr dirty="0">
                <a:solidFill>
                  <a:srgbClr val="000000"/>
                </a:solidFill>
              </a:rPr>
              <a:t>&lt;div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class="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col</a:t>
            </a:r>
            <a:r>
              <a:rPr spc="-10" dirty="0">
                <a:solidFill>
                  <a:srgbClr val="000000"/>
                </a:solidFill>
              </a:rPr>
              <a:t>"&gt;column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one&lt;/div&gt;</a:t>
            </a:r>
          </a:p>
          <a:p>
            <a:pPr marL="2451100">
              <a:lnSpc>
                <a:spcPts val="4560"/>
              </a:lnSpc>
              <a:spcBef>
                <a:spcPts val="515"/>
              </a:spcBef>
            </a:pPr>
            <a:r>
              <a:rPr dirty="0">
                <a:solidFill>
                  <a:srgbClr val="000000"/>
                </a:solidFill>
              </a:rPr>
              <a:t>&lt;div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class="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col</a:t>
            </a:r>
            <a:r>
              <a:rPr spc="-10" dirty="0">
                <a:solidFill>
                  <a:srgbClr val="000000"/>
                </a:solidFill>
              </a:rPr>
              <a:t>"&gt;column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two&lt;/div&gt;</a:t>
            </a:r>
          </a:p>
          <a:p>
            <a:pPr marL="1536700">
              <a:lnSpc>
                <a:spcPts val="4320"/>
              </a:lnSpc>
            </a:pPr>
            <a:r>
              <a:rPr spc="-10" dirty="0">
                <a:solidFill>
                  <a:srgbClr val="00AF50"/>
                </a:solidFill>
              </a:rPr>
              <a:t>&lt;/div&gt;</a:t>
            </a:r>
          </a:p>
          <a:p>
            <a:pPr marL="622300">
              <a:lnSpc>
                <a:spcPts val="4560"/>
              </a:lnSpc>
            </a:pPr>
            <a:r>
              <a:rPr spc="-10" dirty="0"/>
              <a:t>&lt;/div&gt;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80" dirty="0"/>
              <a:t> </a:t>
            </a:r>
            <a:r>
              <a:rPr dirty="0"/>
              <a:t>example</a:t>
            </a:r>
            <a:r>
              <a:rPr spc="-7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three</a:t>
            </a:r>
            <a:r>
              <a:rPr spc="-85" dirty="0"/>
              <a:t> </a:t>
            </a:r>
            <a:r>
              <a:rPr spc="-10" dirty="0"/>
              <a:t>columns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5381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95"/>
              </a:spcBef>
            </a:pPr>
            <a:r>
              <a:rPr dirty="0"/>
              <a:t>&lt;div</a:t>
            </a:r>
            <a:r>
              <a:rPr spc="-10" dirty="0"/>
              <a:t> class="</a:t>
            </a:r>
            <a:r>
              <a:rPr b="1" spc="-10" dirty="0">
                <a:latin typeface="Calibri"/>
                <a:cs typeface="Calibri"/>
              </a:rPr>
              <a:t>container</a:t>
            </a:r>
            <a:r>
              <a:rPr spc="-10" dirty="0"/>
              <a:t>"&gt;</a:t>
            </a:r>
          </a:p>
          <a:p>
            <a:pPr marL="153670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0AF50"/>
                </a:solidFill>
              </a:rPr>
              <a:t>&lt;div</a:t>
            </a:r>
            <a:r>
              <a:rPr spc="-70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class="</a:t>
            </a:r>
            <a:r>
              <a:rPr b="1" spc="-10" dirty="0">
                <a:solidFill>
                  <a:srgbClr val="00AF50"/>
                </a:solidFill>
                <a:latin typeface="Calibri"/>
                <a:cs typeface="Calibri"/>
              </a:rPr>
              <a:t>row</a:t>
            </a:r>
            <a:r>
              <a:rPr spc="-10" dirty="0">
                <a:solidFill>
                  <a:srgbClr val="00AF50"/>
                </a:solidFill>
              </a:rPr>
              <a:t>"&gt;</a:t>
            </a:r>
          </a:p>
          <a:p>
            <a:pPr marL="24511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&lt;div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class="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col</a:t>
            </a:r>
            <a:r>
              <a:rPr dirty="0">
                <a:solidFill>
                  <a:srgbClr val="000000"/>
                </a:solidFill>
              </a:rPr>
              <a:t>"&gt;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column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&lt;/div&gt;</a:t>
            </a:r>
          </a:p>
          <a:p>
            <a:pPr marL="25654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&lt;div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class="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col</a:t>
            </a:r>
            <a:r>
              <a:rPr spc="-10" dirty="0">
                <a:solidFill>
                  <a:srgbClr val="000000"/>
                </a:solidFill>
              </a:rPr>
              <a:t>"&gt;center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column&lt;/div&gt;</a:t>
            </a:r>
          </a:p>
          <a:p>
            <a:pPr marL="24511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&lt;div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class="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col</a:t>
            </a:r>
            <a:r>
              <a:rPr dirty="0">
                <a:solidFill>
                  <a:srgbClr val="000000"/>
                </a:solidFill>
              </a:rPr>
              <a:t>"&gt;right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column&lt;/div&gt;</a:t>
            </a:r>
          </a:p>
          <a:p>
            <a:pPr marL="1536700">
              <a:lnSpc>
                <a:spcPct val="100000"/>
              </a:lnSpc>
              <a:spcBef>
                <a:spcPts val="5"/>
              </a:spcBef>
            </a:pPr>
            <a:r>
              <a:rPr spc="-10" dirty="0">
                <a:solidFill>
                  <a:srgbClr val="00AF50"/>
                </a:solidFill>
              </a:rPr>
              <a:t>&lt;/div&gt;</a:t>
            </a:r>
          </a:p>
          <a:p>
            <a:pPr marL="622300">
              <a:lnSpc>
                <a:spcPct val="100000"/>
              </a:lnSpc>
            </a:pPr>
            <a:r>
              <a:rPr spc="-10" dirty="0"/>
              <a:t>&lt;/div&gt;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75" dirty="0"/>
              <a:t> </a:t>
            </a:r>
            <a:r>
              <a:rPr spc="-45" dirty="0"/>
              <a:t>fundamental</a:t>
            </a:r>
            <a:r>
              <a:rPr spc="-170" dirty="0"/>
              <a:t> </a:t>
            </a:r>
            <a:r>
              <a:rPr dirty="0"/>
              <a:t>Rules</a:t>
            </a:r>
            <a:r>
              <a:rPr spc="-180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dirty="0"/>
              <a:t>the</a:t>
            </a:r>
            <a:r>
              <a:rPr spc="-170" dirty="0"/>
              <a:t> </a:t>
            </a:r>
            <a:r>
              <a:rPr dirty="0"/>
              <a:t>Grid</a:t>
            </a:r>
            <a:r>
              <a:rPr spc="-18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8375015" cy="4031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Commonly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abstract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useful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Columns</a:t>
            </a:r>
            <a:r>
              <a:rPr sz="2800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must</a:t>
            </a:r>
            <a:r>
              <a:rPr sz="2800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be</a:t>
            </a:r>
            <a:r>
              <a:rPr sz="28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800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immediate</a:t>
            </a:r>
            <a:r>
              <a:rPr sz="28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child</a:t>
            </a:r>
            <a:r>
              <a:rPr sz="2800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of</a:t>
            </a:r>
            <a:r>
              <a:rPr sz="28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8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AFEF"/>
                </a:solidFill>
                <a:latin typeface="Calibri"/>
                <a:cs typeface="Calibri"/>
              </a:rPr>
              <a:t>Row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Rows</a:t>
            </a:r>
            <a:r>
              <a:rPr sz="2800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are</a:t>
            </a:r>
            <a:r>
              <a:rPr sz="2800" spc="-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only</a:t>
            </a:r>
            <a:r>
              <a:rPr sz="2800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used</a:t>
            </a:r>
            <a:r>
              <a:rPr sz="28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to</a:t>
            </a:r>
            <a:r>
              <a:rPr sz="2800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contain</a:t>
            </a:r>
            <a:r>
              <a:rPr sz="2800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Columns,</a:t>
            </a:r>
            <a:r>
              <a:rPr sz="2800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nothing</a:t>
            </a:r>
            <a:r>
              <a:rPr sz="28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AFEF"/>
                </a:solidFill>
                <a:latin typeface="Calibri"/>
                <a:cs typeface="Calibri"/>
              </a:rPr>
              <a:t>else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Rows</a:t>
            </a:r>
            <a:r>
              <a:rPr sz="2800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should</a:t>
            </a:r>
            <a:r>
              <a:rPr sz="2800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be</a:t>
            </a:r>
            <a:r>
              <a:rPr sz="2800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placed</a:t>
            </a:r>
            <a:r>
              <a:rPr sz="2800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inside</a:t>
            </a:r>
            <a:r>
              <a:rPr sz="2800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a</a:t>
            </a:r>
            <a:r>
              <a:rPr sz="2800" spc="-1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Container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IMPORTANT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always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together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.container</a:t>
            </a:r>
            <a:r>
              <a:rPr spc="-225" dirty="0"/>
              <a:t> </a:t>
            </a:r>
            <a:r>
              <a:rPr spc="-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137140" cy="398970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holding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Grid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Columns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layout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align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left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edges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layout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browser’s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viewport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counteract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negative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margins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Row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Viewport: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800" i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AFEF"/>
                </a:solidFill>
                <a:latin typeface="Calibri"/>
                <a:cs typeface="Calibri"/>
              </a:rPr>
              <a:t>visible</a:t>
            </a:r>
            <a:r>
              <a:rPr sz="2800" i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AFEF"/>
                </a:solidFill>
                <a:latin typeface="Calibri"/>
                <a:cs typeface="Calibri"/>
              </a:rPr>
              <a:t>area</a:t>
            </a:r>
            <a:r>
              <a:rPr sz="2800" i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AFEF"/>
                </a:solidFill>
                <a:latin typeface="Calibri"/>
                <a:cs typeface="Calibri"/>
              </a:rPr>
              <a:t>inside</a:t>
            </a:r>
            <a:r>
              <a:rPr sz="2800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800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AFEF"/>
                </a:solidFill>
                <a:latin typeface="Calibri"/>
                <a:cs typeface="Calibri"/>
              </a:rPr>
              <a:t>browser</a:t>
            </a:r>
            <a:r>
              <a:rPr sz="2800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AFEF"/>
                </a:solidFill>
                <a:latin typeface="Calibri"/>
                <a:cs typeface="Calibri"/>
              </a:rPr>
              <a:t>window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3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10" dirty="0"/>
              <a:t>containers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5" dirty="0"/>
              <a:t> </a:t>
            </a:r>
            <a:r>
              <a:rPr dirty="0"/>
              <a:t>Bootstrap</a:t>
            </a:r>
            <a:r>
              <a:rPr spc="-125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9817100" cy="376047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67310" indent="-228600">
              <a:lnSpc>
                <a:spcPts val="432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4000" b="1" spc="-40" dirty="0">
                <a:latin typeface="Calibri"/>
                <a:cs typeface="Calibri"/>
              </a:rPr>
              <a:t>Fixed-</a:t>
            </a:r>
            <a:r>
              <a:rPr sz="4000" b="1" dirty="0">
                <a:latin typeface="Calibri"/>
                <a:cs typeface="Calibri"/>
              </a:rPr>
              <a:t>width</a:t>
            </a:r>
            <a:r>
              <a:rPr sz="4000" b="1" spc="-1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container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center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your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layout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in </a:t>
            </a:r>
            <a:r>
              <a:rPr sz="4000" dirty="0">
                <a:latin typeface="Calibri"/>
                <a:cs typeface="Calibri"/>
              </a:rPr>
              <a:t>the </a:t>
            </a:r>
            <a:r>
              <a:rPr sz="4000" spc="-10" dirty="0">
                <a:latin typeface="Calibri"/>
                <a:cs typeface="Calibri"/>
              </a:rPr>
              <a:t>middle:</a:t>
            </a:r>
            <a:endParaRPr sz="4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55"/>
              </a:spcBef>
            </a:pPr>
            <a:r>
              <a:rPr sz="4000" dirty="0">
                <a:latin typeface="Calibri"/>
                <a:cs typeface="Calibri"/>
              </a:rPr>
              <a:t>&lt;div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class="</a:t>
            </a:r>
            <a:r>
              <a:rPr sz="4000" b="1" spc="-10" dirty="0">
                <a:solidFill>
                  <a:srgbClr val="FF0000"/>
                </a:solidFill>
                <a:latin typeface="Calibri"/>
                <a:cs typeface="Calibri"/>
              </a:rPr>
              <a:t>container</a:t>
            </a:r>
            <a:r>
              <a:rPr sz="4000" spc="-10" dirty="0">
                <a:latin typeface="Calibri"/>
                <a:cs typeface="Calibri"/>
              </a:rPr>
              <a:t>"&gt;&lt;/div&gt;</a:t>
            </a:r>
            <a:endParaRPr sz="4000">
              <a:latin typeface="Calibri"/>
              <a:cs typeface="Calibri"/>
            </a:endParaRPr>
          </a:p>
          <a:p>
            <a:pPr marL="241300" marR="5080" indent="-228600">
              <a:lnSpc>
                <a:spcPts val="4320"/>
              </a:lnSpc>
              <a:spcBef>
                <a:spcPts val="1075"/>
              </a:spcBef>
              <a:buFont typeface="Arial MT"/>
              <a:buChar char="•"/>
              <a:tabLst>
                <a:tab pos="241300" algn="l"/>
              </a:tabLst>
            </a:pPr>
            <a:r>
              <a:rPr sz="4000" b="1" spc="-20" dirty="0">
                <a:latin typeface="Calibri"/>
                <a:cs typeface="Calibri"/>
              </a:rPr>
              <a:t>Full-</a:t>
            </a:r>
            <a:r>
              <a:rPr sz="4000" b="1" dirty="0">
                <a:latin typeface="Calibri"/>
                <a:cs typeface="Calibri"/>
              </a:rPr>
              <a:t>width</a:t>
            </a:r>
            <a:r>
              <a:rPr sz="4000" b="1" spc="-7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container</a:t>
            </a:r>
            <a:r>
              <a:rPr sz="4000" spc="-1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for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layout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spans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the </a:t>
            </a:r>
            <a:r>
              <a:rPr sz="4000" dirty="0">
                <a:latin typeface="Calibri"/>
                <a:cs typeface="Calibri"/>
              </a:rPr>
              <a:t>entire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width:</a:t>
            </a:r>
            <a:endParaRPr sz="4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55"/>
              </a:spcBef>
            </a:pPr>
            <a:r>
              <a:rPr sz="4000" dirty="0">
                <a:latin typeface="Calibri"/>
                <a:cs typeface="Calibri"/>
              </a:rPr>
              <a:t>&lt;div</a:t>
            </a:r>
            <a:r>
              <a:rPr sz="4000" spc="85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class="</a:t>
            </a:r>
            <a:r>
              <a:rPr sz="4000" b="1" spc="-25" dirty="0">
                <a:solidFill>
                  <a:srgbClr val="FF0000"/>
                </a:solidFill>
                <a:latin typeface="Calibri"/>
                <a:cs typeface="Calibri"/>
              </a:rPr>
              <a:t>container-</a:t>
            </a:r>
            <a:r>
              <a:rPr sz="4000" b="1" spc="-10" dirty="0">
                <a:solidFill>
                  <a:srgbClr val="FF0000"/>
                </a:solidFill>
                <a:latin typeface="Calibri"/>
                <a:cs typeface="Calibri"/>
              </a:rPr>
              <a:t>fluid</a:t>
            </a:r>
            <a:r>
              <a:rPr sz="4000" spc="-10" dirty="0">
                <a:latin typeface="Calibri"/>
                <a:cs typeface="Calibri"/>
              </a:rPr>
              <a:t>"&gt;&lt;/div&gt;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30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Container</a:t>
            </a:r>
            <a:r>
              <a:rPr spc="-125" dirty="0"/>
              <a:t> </a:t>
            </a:r>
            <a:r>
              <a:rPr spc="-10" dirty="0"/>
              <a:t>fixed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450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.container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fixed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container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7148" y="2856210"/>
            <a:ext cx="6452150" cy="23830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6" name="object 6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Container</a:t>
            </a:r>
            <a:r>
              <a:rPr spc="-125" dirty="0"/>
              <a:t> </a:t>
            </a:r>
            <a:r>
              <a:rPr spc="-10" dirty="0"/>
              <a:t>fluid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327005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.container-</a:t>
            </a:r>
            <a:r>
              <a:rPr sz="2800" dirty="0">
                <a:latin typeface="Calibri"/>
                <a:cs typeface="Calibri"/>
              </a:rPr>
              <a:t>fluid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container,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spanning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viewport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283" y="3214643"/>
            <a:ext cx="5935433" cy="21935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6" name="object 6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Responsive</a:t>
            </a:r>
            <a:r>
              <a:rPr spc="-145" dirty="0"/>
              <a:t> </a:t>
            </a:r>
            <a:r>
              <a:rPr spc="-20" dirty="0"/>
              <a:t>containers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573260" cy="39065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.container-</a:t>
            </a:r>
            <a:r>
              <a:rPr sz="2800" dirty="0">
                <a:latin typeface="Calibri"/>
                <a:cs typeface="Calibri"/>
              </a:rPr>
              <a:t>sm|md|lg|xl classes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responsive 	containers</a:t>
            </a:r>
            <a:endParaRPr sz="2800">
              <a:latin typeface="Calibri"/>
              <a:cs typeface="Calibri"/>
            </a:endParaRPr>
          </a:p>
          <a:p>
            <a:pPr marL="240029" marR="26352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max-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screen 	sizes/viewports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800">
              <a:latin typeface="Calibri"/>
              <a:cs typeface="Calibri"/>
            </a:endParaRPr>
          </a:p>
          <a:p>
            <a:pPr marL="9271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&lt;div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class="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container-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sm</a:t>
            </a:r>
            <a:r>
              <a:rPr sz="2800" spc="-20" dirty="0">
                <a:latin typeface="Calibri"/>
                <a:cs typeface="Calibri"/>
              </a:rPr>
              <a:t>"&gt;.container-</a:t>
            </a:r>
            <a:r>
              <a:rPr sz="2800" spc="-10" dirty="0">
                <a:latin typeface="Calibri"/>
                <a:cs typeface="Calibri"/>
              </a:rPr>
              <a:t>sm&lt;/div&gt;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ts val="3025"/>
              </a:lnSpc>
            </a:pPr>
            <a:r>
              <a:rPr sz="2800" dirty="0">
                <a:latin typeface="Calibri"/>
                <a:cs typeface="Calibri"/>
              </a:rPr>
              <a:t>&lt;div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class="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container-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md</a:t>
            </a:r>
            <a:r>
              <a:rPr sz="2800" spc="-20" dirty="0">
                <a:latin typeface="Calibri"/>
                <a:cs typeface="Calibri"/>
              </a:rPr>
              <a:t>"&gt;.container-</a:t>
            </a:r>
            <a:r>
              <a:rPr sz="2800" spc="-10" dirty="0">
                <a:latin typeface="Calibri"/>
                <a:cs typeface="Calibri"/>
              </a:rPr>
              <a:t>md&lt;/div&gt;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ts val="3025"/>
              </a:lnSpc>
            </a:pPr>
            <a:r>
              <a:rPr sz="2800" dirty="0">
                <a:latin typeface="Calibri"/>
                <a:cs typeface="Calibri"/>
              </a:rPr>
              <a:t>&lt;div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class="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container-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lg</a:t>
            </a:r>
            <a:r>
              <a:rPr sz="2800" spc="-20" dirty="0">
                <a:latin typeface="Calibri"/>
                <a:cs typeface="Calibri"/>
              </a:rPr>
              <a:t>"&gt;.container-</a:t>
            </a:r>
            <a:r>
              <a:rPr sz="2800" spc="-10" dirty="0">
                <a:latin typeface="Calibri"/>
                <a:cs typeface="Calibri"/>
              </a:rPr>
              <a:t>lg&lt;/div&gt;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&lt;div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class="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container-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xl</a:t>
            </a:r>
            <a:r>
              <a:rPr sz="2800" spc="-20" dirty="0">
                <a:latin typeface="Calibri"/>
                <a:cs typeface="Calibri"/>
              </a:rPr>
              <a:t>"&gt;.container-</a:t>
            </a:r>
            <a:r>
              <a:rPr sz="2800" spc="-10" dirty="0">
                <a:latin typeface="Calibri"/>
                <a:cs typeface="Calibri"/>
              </a:rPr>
              <a:t>xl&lt;/div&gt;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591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Maximum</a:t>
            </a:r>
            <a:r>
              <a:rPr spc="-95" dirty="0"/>
              <a:t> </a:t>
            </a:r>
            <a:r>
              <a:rPr dirty="0"/>
              <a:t>width</a:t>
            </a:r>
            <a:r>
              <a:rPr spc="-70" dirty="0"/>
              <a:t> </a:t>
            </a:r>
            <a:r>
              <a:rPr dirty="0"/>
              <a:t>change</a:t>
            </a:r>
            <a:r>
              <a:rPr spc="-70" dirty="0"/>
              <a:t> </a:t>
            </a:r>
            <a:r>
              <a:rPr dirty="0"/>
              <a:t>according</a:t>
            </a:r>
            <a:r>
              <a:rPr spc="-7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spc="-25" dirty="0"/>
              <a:t>the </a:t>
            </a:r>
            <a:r>
              <a:rPr spc="-10" dirty="0"/>
              <a:t>viewport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1391" y="2470023"/>
            <a:ext cx="11269345" cy="3171190"/>
            <a:chOff x="461391" y="2470023"/>
            <a:chExt cx="11269345" cy="3171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104" y="2492734"/>
              <a:ext cx="11223790" cy="31384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6153" y="2474785"/>
              <a:ext cx="11259820" cy="3161665"/>
            </a:xfrm>
            <a:custGeom>
              <a:avLst/>
              <a:gdLst/>
              <a:ahLst/>
              <a:cxnLst/>
              <a:rect l="l" t="t" r="r" b="b"/>
              <a:pathLst>
                <a:path w="11259820" h="3161665">
                  <a:moveTo>
                    <a:pt x="0" y="3161157"/>
                  </a:moveTo>
                  <a:lnTo>
                    <a:pt x="11259693" y="3161157"/>
                  </a:lnTo>
                  <a:lnTo>
                    <a:pt x="11259693" y="0"/>
                  </a:lnTo>
                  <a:lnTo>
                    <a:pt x="0" y="0"/>
                  </a:lnTo>
                  <a:lnTo>
                    <a:pt x="0" y="3161157"/>
                  </a:lnTo>
                  <a:close/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7" name="object 7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Grouping</a:t>
            </a:r>
            <a:r>
              <a:rPr spc="-80" dirty="0"/>
              <a:t> </a:t>
            </a:r>
            <a:r>
              <a:rPr dirty="0"/>
              <a:t>columns</a:t>
            </a:r>
            <a:r>
              <a:rPr spc="-7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create</a:t>
            </a:r>
            <a:r>
              <a:rPr spc="-75" dirty="0"/>
              <a:t> </a:t>
            </a:r>
            <a:r>
              <a:rPr dirty="0"/>
              <a:t>wider</a:t>
            </a:r>
            <a:r>
              <a:rPr spc="-80" dirty="0"/>
              <a:t> </a:t>
            </a:r>
            <a:r>
              <a:rPr spc="-10" dirty="0"/>
              <a:t>columns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8490" y="2026539"/>
            <a:ext cx="11706860" cy="3843020"/>
            <a:chOff x="118490" y="2026539"/>
            <a:chExt cx="11706860" cy="3843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314" y="2077626"/>
              <a:ext cx="11604958" cy="37405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3253" y="2031301"/>
              <a:ext cx="11697335" cy="3833495"/>
            </a:xfrm>
            <a:custGeom>
              <a:avLst/>
              <a:gdLst/>
              <a:ahLst/>
              <a:cxnLst/>
              <a:rect l="l" t="t" r="r" b="b"/>
              <a:pathLst>
                <a:path w="11697335" h="3833495">
                  <a:moveTo>
                    <a:pt x="0" y="3833240"/>
                  </a:moveTo>
                  <a:lnTo>
                    <a:pt x="11697081" y="3833240"/>
                  </a:lnTo>
                  <a:lnTo>
                    <a:pt x="11697081" y="0"/>
                  </a:lnTo>
                  <a:lnTo>
                    <a:pt x="0" y="0"/>
                  </a:lnTo>
                  <a:lnTo>
                    <a:pt x="0" y="3833240"/>
                  </a:lnTo>
                  <a:close/>
                </a:path>
              </a:pathLst>
            </a:custGeom>
            <a:ln w="9524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7" name="object 7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1095</Words>
  <Application>Microsoft Office PowerPoint</Application>
  <PresentationFormat>Widescreen</PresentationFormat>
  <Paragraphs>149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 MT</vt:lpstr>
      <vt:lpstr>Calibri</vt:lpstr>
      <vt:lpstr>Calibri Light</vt:lpstr>
      <vt:lpstr>Roboto</vt:lpstr>
      <vt:lpstr>Times New Roman</vt:lpstr>
      <vt:lpstr>Office Theme</vt:lpstr>
      <vt:lpstr> 5 : Introduction to bootstrap</vt:lpstr>
      <vt:lpstr>Bootstrap Grid System</vt:lpstr>
      <vt:lpstr>Introduction to Grids in Bootstrap</vt:lpstr>
      <vt:lpstr>How Bootstrap grid system works</vt:lpstr>
      <vt:lpstr>How Bootstrap grid system works</vt:lpstr>
      <vt:lpstr>Bootstrap Grids</vt:lpstr>
      <vt:lpstr>Grid Classes</vt:lpstr>
      <vt:lpstr>Basic Structure of a Bootstrap Grid</vt:lpstr>
      <vt:lpstr>GRID Options</vt:lpstr>
      <vt:lpstr>Media Queries</vt:lpstr>
      <vt:lpstr>Example media queries to create key break points</vt:lpstr>
      <vt:lpstr>Basic example of single column</vt:lpstr>
      <vt:lpstr>Basic example of two column structure</vt:lpstr>
      <vt:lpstr>Basic example of three columns</vt:lpstr>
      <vt:lpstr>The fundamental Rules of the Grid creation</vt:lpstr>
      <vt:lpstr>.container class</vt:lpstr>
      <vt:lpstr>Types of containers in Bootstrap 4</vt:lpstr>
      <vt:lpstr>Container fixed</vt:lpstr>
      <vt:lpstr>Container fluid</vt:lpstr>
      <vt:lpstr>Responsive containers</vt:lpstr>
      <vt:lpstr>Maximum width change according to the viewport</vt:lpstr>
      <vt:lpstr>Grouping columns to create wider columns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 Grid System</dc:title>
  <dc:creator>UCSC</dc:creator>
  <cp:lastModifiedBy>Thilakshan Gunasingam</cp:lastModifiedBy>
  <cp:revision>1</cp:revision>
  <dcterms:created xsi:type="dcterms:W3CDTF">2025-09-26T04:42:32Z</dcterms:created>
  <dcterms:modified xsi:type="dcterms:W3CDTF">2025-09-26T04:43:59Z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2025-09-26T00:00:00Z</vt:filetime>
  </property>
  <property fmtid="{D5CDD505-2E9C-101B-9397-08002B2CF9AE}" pid="5" name="Producer">
    <vt:lpwstr>Microsoft® PowerPoint® for Microsoft 365</vt:lpwstr>
  </property>
</Properties>
</file>