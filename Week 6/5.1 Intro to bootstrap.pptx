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65C9C-99CE-4A8B-96D1-1244A4F16C6C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5DCF4-6184-42D4-8E5D-D46C71B536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485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D9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87D92-E03D-4910-888C-C9AAFD4E7917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D9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A23C1-5888-4B84-88C1-43ACFE5A962D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9CC94-F8B6-46C3-A393-5F77F2E43EE8}" type="datetime1">
              <a:rPr lang="en-US" smtClean="0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80C4B-746E-409A-B5FC-DD6D7FB9F42F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F52B6-FB59-410E-A18B-E0D673462848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991870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5757"/>
            <a:ext cx="10358120" cy="405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D9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0152" y="6615100"/>
            <a:ext cx="1506981" cy="134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865"/>
              </a:lnSpc>
            </a:pPr>
            <a:r>
              <a:rPr dirty="0"/>
              <a:t>©</a:t>
            </a:r>
            <a:r>
              <a:rPr spc="-25" dirty="0"/>
              <a:t> </a:t>
            </a:r>
            <a:r>
              <a:rPr dirty="0"/>
              <a:t>2020</a:t>
            </a:r>
            <a:r>
              <a:rPr spc="-40" dirty="0"/>
              <a:t> </a:t>
            </a:r>
            <a:r>
              <a:rPr spc="-10" dirty="0"/>
              <a:t>e-</a:t>
            </a:r>
            <a:r>
              <a:rPr dirty="0"/>
              <a:t>Learning Centre,</a:t>
            </a:r>
            <a:r>
              <a:rPr spc="-15" dirty="0"/>
              <a:t> </a:t>
            </a:r>
            <a:r>
              <a:rPr spc="-20" dirty="0"/>
              <a:t>UCSC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5570-9D78-446B-B27B-414E95B90D08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08281" y="6473520"/>
            <a:ext cx="26924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twbs/bootstrap/blob/mai/LICENS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4.4/getting-started/download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4.4/getting-started/download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4.4/getting-started/download/" TargetMode="External"/><Relationship Id="rId2" Type="http://schemas.openxmlformats.org/officeDocument/2006/relationships/hyperlink" Target="https://cdn.jsdelivr.net/npm/popper.js%401.16.0/dist/umd/popp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57788" y="3906773"/>
            <a:ext cx="635635" cy="2951480"/>
          </a:xfrm>
          <a:custGeom>
            <a:avLst/>
            <a:gdLst/>
            <a:ahLst/>
            <a:cxnLst/>
            <a:rect l="l" t="t" r="r" b="b"/>
            <a:pathLst>
              <a:path w="635634" h="2951479">
                <a:moveTo>
                  <a:pt x="0" y="2951226"/>
                </a:moveTo>
                <a:lnTo>
                  <a:pt x="635507" y="2951226"/>
                </a:lnTo>
                <a:lnTo>
                  <a:pt x="635507" y="0"/>
                </a:lnTo>
                <a:lnTo>
                  <a:pt x="0" y="0"/>
                </a:lnTo>
                <a:lnTo>
                  <a:pt x="0" y="295122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288" y="0"/>
            <a:ext cx="12193905" cy="3926204"/>
            <a:chOff x="18288" y="0"/>
            <a:chExt cx="12193905" cy="3926204"/>
          </a:xfrm>
        </p:grpSpPr>
        <p:sp>
          <p:nvSpPr>
            <p:cNvPr id="4" name="object 4"/>
            <p:cNvSpPr/>
            <p:nvPr/>
          </p:nvSpPr>
          <p:spPr>
            <a:xfrm>
              <a:off x="11257788" y="0"/>
              <a:ext cx="635635" cy="1962150"/>
            </a:xfrm>
            <a:custGeom>
              <a:avLst/>
              <a:gdLst/>
              <a:ahLst/>
              <a:cxnLst/>
              <a:rect l="l" t="t" r="r" b="b"/>
              <a:pathLst>
                <a:path w="635634" h="1962150">
                  <a:moveTo>
                    <a:pt x="0" y="1962150"/>
                  </a:moveTo>
                  <a:lnTo>
                    <a:pt x="635507" y="1962150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196215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338" y="1962150"/>
              <a:ext cx="12155805" cy="1945005"/>
            </a:xfrm>
            <a:custGeom>
              <a:avLst/>
              <a:gdLst/>
              <a:ahLst/>
              <a:cxnLst/>
              <a:rect l="l" t="t" r="r" b="b"/>
              <a:pathLst>
                <a:path w="12155805" h="1945004">
                  <a:moveTo>
                    <a:pt x="12155424" y="0"/>
                  </a:moveTo>
                  <a:lnTo>
                    <a:pt x="0" y="0"/>
                  </a:lnTo>
                  <a:lnTo>
                    <a:pt x="0" y="1944624"/>
                  </a:lnTo>
                  <a:lnTo>
                    <a:pt x="12155424" y="1944624"/>
                  </a:lnTo>
                  <a:lnTo>
                    <a:pt x="1215542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38" y="1962150"/>
              <a:ext cx="12155805" cy="1945005"/>
            </a:xfrm>
            <a:custGeom>
              <a:avLst/>
              <a:gdLst/>
              <a:ahLst/>
              <a:cxnLst/>
              <a:rect l="l" t="t" r="r" b="b"/>
              <a:pathLst>
                <a:path w="12155805" h="1945004">
                  <a:moveTo>
                    <a:pt x="0" y="1944624"/>
                  </a:moveTo>
                  <a:lnTo>
                    <a:pt x="12155424" y="1944624"/>
                  </a:lnTo>
                  <a:lnTo>
                    <a:pt x="12155424" y="0"/>
                  </a:lnTo>
                  <a:lnTo>
                    <a:pt x="0" y="0"/>
                  </a:lnTo>
                  <a:lnTo>
                    <a:pt x="0" y="1944624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570" y="2245614"/>
            <a:ext cx="11526520" cy="1323340"/>
          </a:xfrm>
          <a:prstGeom prst="rect">
            <a:avLst/>
          </a:prstGeom>
          <a:solidFill>
            <a:srgbClr val="2E5496"/>
          </a:solidFill>
          <a:ln w="19050">
            <a:solidFill>
              <a:srgbClr val="001F5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0"/>
              </a:spcBef>
            </a:pPr>
            <a:endParaRPr sz="2850">
              <a:latin typeface="Times New Roman"/>
              <a:cs typeface="Times New Roman"/>
            </a:endParaRPr>
          </a:p>
          <a:p>
            <a:pPr marR="25400" algn="ctr">
              <a:lnSpc>
                <a:spcPct val="100000"/>
              </a:lnSpc>
            </a:pP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sz="2850" b="1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:</a:t>
            </a:r>
            <a:r>
              <a:rPr sz="2850" b="1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Introduction</a:t>
            </a:r>
            <a:r>
              <a:rPr sz="2850" b="1" spc="-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850" b="1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850" b="1" spc="-10" dirty="0">
                <a:solidFill>
                  <a:srgbClr val="FFFFFF"/>
                </a:solidFill>
                <a:latin typeface="Roboto"/>
                <a:cs typeface="Roboto"/>
              </a:rPr>
              <a:t>bootstrap</a:t>
            </a:r>
            <a:endParaRPr sz="2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42525" cy="36506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front-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framework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(Front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frameworks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used 	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decorating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feel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view)</a:t>
            </a:r>
            <a:endParaRPr sz="2800">
              <a:latin typeface="Calibri"/>
              <a:cs typeface="Calibri"/>
            </a:endParaRPr>
          </a:p>
          <a:p>
            <a:pPr marL="240029" marR="15367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websites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spc="-10" dirty="0">
                <a:latin typeface="Calibri"/>
                <a:cs typeface="Calibri"/>
              </a:rPr>
              <a:t>easily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totally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Twitter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Twitter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endParaRPr sz="2800">
              <a:latin typeface="Calibri"/>
              <a:cs typeface="Calibri"/>
            </a:endParaRPr>
          </a:p>
          <a:p>
            <a:pPr marL="240029" marR="41402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now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 	</a:t>
            </a:r>
            <a:r>
              <a:rPr sz="2800" dirty="0">
                <a:latin typeface="Calibri"/>
                <a:cs typeface="Calibri"/>
              </a:rPr>
              <a:t>ones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focusing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sites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10256520" cy="41338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735330" indent="-228600">
              <a:lnSpc>
                <a:spcPts val="25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Bootstrap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jQuery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plugins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additional functionality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698500" algn="l"/>
                <a:tab pos="1168400" algn="l"/>
              </a:tabLst>
            </a:pPr>
            <a:r>
              <a:rPr sz="2200" spc="-25" dirty="0">
                <a:latin typeface="Calibri"/>
                <a:cs typeface="Calibri"/>
              </a:rPr>
              <a:t>Eg: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carousels,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buttons,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tooltips,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typography,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buttons,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tables,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navigation,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modals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241300" marR="170815" indent="-228600">
              <a:lnSpc>
                <a:spcPct val="800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HTML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CSS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design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templates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60" dirty="0">
                <a:latin typeface="Calibri"/>
                <a:cs typeface="Calibri"/>
              </a:rPr>
              <a:t>for,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buttons, </a:t>
            </a:r>
            <a:r>
              <a:rPr sz="2600" dirty="0">
                <a:latin typeface="Calibri"/>
                <a:cs typeface="Calibri"/>
              </a:rPr>
              <a:t>tables,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navigation,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modals,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image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carousels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components,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optional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JavaScript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plugins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saves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effort,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cost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development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time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basic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understanding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HTML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CSS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responsive, mobile-</a:t>
            </a:r>
            <a:r>
              <a:rPr sz="2600" dirty="0">
                <a:latin typeface="Calibri"/>
                <a:cs typeface="Calibri"/>
              </a:rPr>
              <a:t>first,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compatible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modern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browsers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Preconditions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ts val="2635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Basic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HTML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CSS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License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Bootstrap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8393430" cy="14351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License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repository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license 	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https://github.com/twbs/bootstrap/blob/mai/LICENSE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8675" y="3526154"/>
            <a:ext cx="10534650" cy="2727325"/>
            <a:chOff x="828675" y="3526154"/>
            <a:chExt cx="10534650" cy="27273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722" y="3785114"/>
              <a:ext cx="9980908" cy="21736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3437" y="3530917"/>
              <a:ext cx="10525125" cy="2717800"/>
            </a:xfrm>
            <a:custGeom>
              <a:avLst/>
              <a:gdLst/>
              <a:ahLst/>
              <a:cxnLst/>
              <a:rect l="l" t="t" r="r" b="b"/>
              <a:pathLst>
                <a:path w="10525125" h="2717800">
                  <a:moveTo>
                    <a:pt x="0" y="2717673"/>
                  </a:moveTo>
                  <a:lnTo>
                    <a:pt x="10525125" y="2717673"/>
                  </a:lnTo>
                  <a:lnTo>
                    <a:pt x="10525125" y="0"/>
                  </a:lnTo>
                  <a:lnTo>
                    <a:pt x="0" y="0"/>
                  </a:lnTo>
                  <a:lnTo>
                    <a:pt x="0" y="2717673"/>
                  </a:lnTo>
                  <a:close/>
                </a:path>
              </a:pathLst>
            </a:custGeom>
            <a:ln w="952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43757" y="6263741"/>
            <a:ext cx="583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https://github.com/twbs/bootstrap/blob/mai/LICENSE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9" name="object 9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Setup</a:t>
            </a:r>
            <a:r>
              <a:rPr spc="-90" dirty="0"/>
              <a:t> </a:t>
            </a:r>
            <a:r>
              <a:rPr dirty="0"/>
              <a:t>Bootstrap</a:t>
            </a:r>
            <a:r>
              <a:rPr spc="-90" dirty="0"/>
              <a:t> </a:t>
            </a:r>
            <a:r>
              <a:rPr dirty="0"/>
              <a:t>into</a:t>
            </a:r>
            <a:r>
              <a:rPr spc="-7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10" dirty="0"/>
              <a:t>development 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34270" cy="337057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26987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framework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web 	</a:t>
            </a:r>
            <a:r>
              <a:rPr sz="2800" dirty="0">
                <a:latin typeface="Calibri"/>
                <a:cs typeface="Calibri"/>
              </a:rPr>
              <a:t>pages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Integration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ways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927100" marR="5080" lvl="1" indent="-457200">
              <a:lnSpc>
                <a:spcPts val="2590"/>
              </a:lnSpc>
              <a:buAutoNum type="arabicPeriod"/>
              <a:tabLst>
                <a:tab pos="927100" algn="l"/>
              </a:tabLst>
            </a:pPr>
            <a:r>
              <a:rPr sz="2400" spc="-50" dirty="0">
                <a:latin typeface="Calibri"/>
                <a:cs typeface="Calibri"/>
              </a:rPr>
              <a:t>You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download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bootstrap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framework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integrate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locally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HTML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files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40"/>
              </a:spcBef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Directly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CDN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(Content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Delivery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online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Download</a:t>
            </a:r>
            <a:r>
              <a:rPr spc="-8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install</a:t>
            </a:r>
            <a:r>
              <a:rPr spc="-7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25" dirty="0"/>
              <a:t>different </a:t>
            </a:r>
            <a:r>
              <a:rPr spc="-10" dirty="0"/>
              <a:t>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466580" cy="32556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download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precompiled 	development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third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package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install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Compiled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JS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Calibri"/>
                <a:cs typeface="Calibri"/>
              </a:rPr>
              <a:t>Source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927100" algn="l"/>
              </a:tabLst>
            </a:pPr>
            <a:r>
              <a:rPr sz="2400" spc="-10" dirty="0">
                <a:latin typeface="Calibri"/>
                <a:cs typeface="Calibri"/>
              </a:rPr>
              <a:t>Package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managers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10" dirty="0">
                <a:latin typeface="Calibri"/>
                <a:cs typeface="Calibri"/>
              </a:rPr>
              <a:t>Examples: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Npm,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RubyGems,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yarn,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composer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nuget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20" dirty="0"/>
              <a:t> </a:t>
            </a:r>
            <a:r>
              <a:rPr dirty="0"/>
              <a:t>compiled</a:t>
            </a:r>
            <a:r>
              <a:rPr spc="-20" dirty="0"/>
              <a:t> </a:t>
            </a:r>
            <a:r>
              <a:rPr dirty="0"/>
              <a:t>CSS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25" dirty="0"/>
              <a:t>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5784850" cy="431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33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Compiled</a:t>
            </a:r>
            <a:r>
              <a:rPr sz="24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minified</a:t>
            </a:r>
            <a:r>
              <a:rPr sz="24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CSS</a:t>
            </a:r>
            <a:r>
              <a:rPr sz="24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EF"/>
                </a:solidFill>
                <a:latin typeface="Calibri"/>
                <a:cs typeface="Calibri"/>
              </a:rPr>
              <a:t>versions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Compiled</a:t>
            </a:r>
            <a:r>
              <a:rPr sz="2400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400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minified</a:t>
            </a:r>
            <a:r>
              <a:rPr sz="2400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EF"/>
                </a:solidFill>
                <a:latin typeface="Calibri"/>
                <a:cs typeface="Calibri"/>
              </a:rPr>
              <a:t>JavaScript</a:t>
            </a:r>
            <a:r>
              <a:rPr sz="24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EF"/>
                </a:solidFill>
                <a:latin typeface="Calibri"/>
                <a:cs typeface="Calibri"/>
              </a:rPr>
              <a:t>plugins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70"/>
              </a:spcBef>
              <a:buClr>
                <a:srgbClr val="00AFEF"/>
              </a:buClr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documentation 	</a:t>
            </a:r>
            <a:r>
              <a:rPr sz="2800" dirty="0">
                <a:latin typeface="Calibri"/>
                <a:cs typeface="Calibri"/>
              </a:rPr>
              <a:t>content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supportive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materials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spc="-10" dirty="0">
                <a:latin typeface="Calibri"/>
                <a:cs typeface="Calibri"/>
              </a:rPr>
              <a:t>excluded</a:t>
            </a:r>
            <a:endParaRPr sz="2800">
              <a:latin typeface="Calibri"/>
              <a:cs typeface="Calibri"/>
            </a:endParaRPr>
          </a:p>
          <a:p>
            <a:pPr marL="240029" marR="56896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web 	</a:t>
            </a:r>
            <a:r>
              <a:rPr sz="2800" dirty="0">
                <a:latin typeface="Calibri"/>
                <a:cs typeface="Calibri"/>
              </a:rPr>
              <a:t>development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setup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39011" y="453770"/>
            <a:ext cx="3864610" cy="5969000"/>
            <a:chOff x="7839011" y="453770"/>
            <a:chExt cx="3864610" cy="5969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8599" y="463295"/>
              <a:ext cx="3845052" cy="59496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43773" y="458533"/>
              <a:ext cx="3855085" cy="5959475"/>
            </a:xfrm>
            <a:custGeom>
              <a:avLst/>
              <a:gdLst/>
              <a:ahLst/>
              <a:cxnLst/>
              <a:rect l="l" t="t" r="r" b="b"/>
              <a:pathLst>
                <a:path w="3855084" h="5959475">
                  <a:moveTo>
                    <a:pt x="0" y="5959221"/>
                  </a:moveTo>
                  <a:lnTo>
                    <a:pt x="3854577" y="5959221"/>
                  </a:lnTo>
                  <a:lnTo>
                    <a:pt x="3854577" y="0"/>
                  </a:lnTo>
                  <a:lnTo>
                    <a:pt x="0" y="0"/>
                  </a:lnTo>
                  <a:lnTo>
                    <a:pt x="0" y="5959221"/>
                  </a:lnTo>
                  <a:close/>
                </a:path>
              </a:pathLst>
            </a:custGeom>
            <a:ln w="952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8" name="object 8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114" dirty="0"/>
              <a:t> </a:t>
            </a:r>
            <a:r>
              <a:rPr spc="-20" dirty="0"/>
              <a:t>integration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4901"/>
            <a:ext cx="9309100" cy="289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3600" dirty="0">
                <a:latin typeface="Calibri"/>
                <a:cs typeface="Calibri"/>
              </a:rPr>
              <a:t>Link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external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style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sheet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into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web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page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sz="3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&lt;Link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rel=“stylesheet”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href=“</a:t>
            </a:r>
            <a:r>
              <a:rPr sz="3200" dirty="0">
                <a:solidFill>
                  <a:srgbClr val="5B9BD4"/>
                </a:solidFill>
                <a:latin typeface="Calibri"/>
                <a:cs typeface="Calibri"/>
              </a:rPr>
              <a:t>local</a:t>
            </a:r>
            <a:r>
              <a:rPr sz="3200" spc="-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5B9BD4"/>
                </a:solidFill>
                <a:latin typeface="Calibri"/>
                <a:cs typeface="Calibri"/>
              </a:rPr>
              <a:t>path</a:t>
            </a:r>
            <a:r>
              <a:rPr sz="32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5B9BD4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5B9BD4"/>
                </a:solidFill>
                <a:latin typeface="Calibri"/>
                <a:cs typeface="Calibri"/>
              </a:rPr>
              <a:t>css</a:t>
            </a:r>
            <a:r>
              <a:rPr sz="3200" spc="-8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5B9BD4"/>
                </a:solidFill>
                <a:latin typeface="Calibri"/>
                <a:cs typeface="Calibri"/>
              </a:rPr>
              <a:t>file</a:t>
            </a:r>
            <a:r>
              <a:rPr sz="3200" spc="-10" dirty="0">
                <a:latin typeface="Calibri"/>
                <a:cs typeface="Calibri"/>
              </a:rPr>
              <a:t>”&gt;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Link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javascript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1594" y="5290210"/>
            <a:ext cx="54527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&lt;script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src=“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local</a:t>
            </a:r>
            <a:r>
              <a:rPr sz="320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path</a:t>
            </a:r>
            <a:r>
              <a:rPr sz="320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320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js</a:t>
            </a:r>
            <a:r>
              <a:rPr sz="3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Calibri"/>
                <a:cs typeface="Calibri"/>
              </a:rPr>
              <a:t>file</a:t>
            </a:r>
            <a:r>
              <a:rPr sz="3200" spc="-10" dirty="0">
                <a:latin typeface="Calibri"/>
                <a:cs typeface="Calibri"/>
              </a:rPr>
              <a:t>”&gt;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6" name="object 6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Source</a:t>
            </a:r>
            <a:r>
              <a:rPr spc="-50" dirty="0"/>
              <a:t> </a:t>
            </a:r>
            <a:r>
              <a:rPr dirty="0"/>
              <a:t>files</a:t>
            </a:r>
            <a:r>
              <a:rPr spc="-30" dirty="0"/>
              <a:t> </a:t>
            </a:r>
            <a:r>
              <a:rPr spc="-10" dirty="0"/>
              <a:t>download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315575" cy="37966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customized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default 	definitions</a:t>
            </a:r>
            <a:endParaRPr sz="2800">
              <a:latin typeface="Calibri"/>
              <a:cs typeface="Calibri"/>
            </a:endParaRPr>
          </a:p>
          <a:p>
            <a:pPr marL="240029" marR="66103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download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responsibility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compile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suitable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compiler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Syntactically</a:t>
            </a:r>
            <a:r>
              <a:rPr sz="2800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awesome</a:t>
            </a:r>
            <a:r>
              <a:rPr sz="28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style 	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sheets</a:t>
            </a:r>
            <a:r>
              <a:rPr sz="2800" spc="-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compiler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Libsass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Sass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8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marR="645160" indent="-227329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Once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compile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 	purposes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989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Bootstrap</a:t>
            </a:r>
            <a:r>
              <a:rPr spc="-90" dirty="0"/>
              <a:t> </a:t>
            </a:r>
            <a:r>
              <a:rPr dirty="0"/>
              <a:t>bundle</a:t>
            </a:r>
            <a:r>
              <a:rPr spc="-8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5275580" cy="42906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6985" indent="-227329" algn="just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“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dist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38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directory</a:t>
            </a:r>
            <a:r>
              <a:rPr sz="2800" spc="37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contains</a:t>
            </a:r>
            <a:r>
              <a:rPr sz="2800" spc="380" dirty="0">
                <a:latin typeface="Calibri"/>
                <a:cs typeface="Calibri"/>
              </a:rPr>
              <a:t> 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compiled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css</a:t>
            </a:r>
            <a:endParaRPr sz="2800">
              <a:latin typeface="Calibri"/>
              <a:cs typeface="Calibri"/>
            </a:endParaRPr>
          </a:p>
          <a:p>
            <a:pPr marL="240029" marR="6350" indent="-227329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“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scss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js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directories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css</a:t>
            </a:r>
            <a:endParaRPr sz="28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“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site</a:t>
            </a:r>
            <a:r>
              <a:rPr sz="2800" dirty="0">
                <a:latin typeface="Calibri"/>
                <a:cs typeface="Calibri"/>
              </a:rPr>
              <a:t>”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directory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 	</a:t>
            </a:r>
            <a:r>
              <a:rPr sz="2800" dirty="0">
                <a:latin typeface="Calibri"/>
                <a:cs typeface="Calibri"/>
              </a:rPr>
              <a:t>related</a:t>
            </a:r>
            <a:r>
              <a:rPr sz="2800" spc="51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documentation</a:t>
            </a:r>
            <a:r>
              <a:rPr sz="2800" spc="52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example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usage</a:t>
            </a:r>
            <a:endParaRPr sz="2800">
              <a:latin typeface="Calibri"/>
              <a:cs typeface="Calibri"/>
            </a:endParaRPr>
          </a:p>
          <a:p>
            <a:pPr marL="240029" marR="6350" indent="-227329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any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included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provides 	</a:t>
            </a:r>
            <a:r>
              <a:rPr sz="2800" dirty="0">
                <a:latin typeface="Calibri"/>
                <a:cs typeface="Calibri"/>
              </a:rPr>
              <a:t>support</a:t>
            </a:r>
            <a:r>
              <a:rPr sz="2800" spc="27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28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packages,</a:t>
            </a:r>
            <a:r>
              <a:rPr sz="2800" spc="275" dirty="0">
                <a:latin typeface="Calibri"/>
                <a:cs typeface="Calibri"/>
              </a:rPr>
              <a:t>   </a:t>
            </a:r>
            <a:r>
              <a:rPr sz="2800" spc="-10" dirty="0">
                <a:latin typeface="Calibri"/>
                <a:cs typeface="Calibri"/>
              </a:rPr>
              <a:t>license 	information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02207" y="1816226"/>
            <a:ext cx="3861435" cy="4253230"/>
            <a:chOff x="7502207" y="1816226"/>
            <a:chExt cx="3861435" cy="4253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1795" y="1825752"/>
              <a:ext cx="3842003" cy="42336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06969" y="1820989"/>
              <a:ext cx="3851910" cy="4243705"/>
            </a:xfrm>
            <a:custGeom>
              <a:avLst/>
              <a:gdLst/>
              <a:ahLst/>
              <a:cxnLst/>
              <a:rect l="l" t="t" r="r" b="b"/>
              <a:pathLst>
                <a:path w="3851909" h="4243705">
                  <a:moveTo>
                    <a:pt x="0" y="4243197"/>
                  </a:moveTo>
                  <a:lnTo>
                    <a:pt x="3851529" y="4243197"/>
                  </a:lnTo>
                  <a:lnTo>
                    <a:pt x="3851529" y="0"/>
                  </a:lnTo>
                  <a:lnTo>
                    <a:pt x="0" y="0"/>
                  </a:lnTo>
                  <a:lnTo>
                    <a:pt x="0" y="4243197"/>
                  </a:lnTo>
                  <a:close/>
                </a:path>
              </a:pathLst>
            </a:custGeom>
            <a:ln w="952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8" name="object 8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Bootstrap</a:t>
            </a:r>
            <a:r>
              <a:rPr spc="-114" dirty="0"/>
              <a:t> </a:t>
            </a:r>
            <a:r>
              <a:rPr dirty="0"/>
              <a:t>CDN</a:t>
            </a:r>
            <a:r>
              <a:rPr spc="-114" dirty="0"/>
              <a:t> </a:t>
            </a:r>
            <a:r>
              <a:rPr dirty="0"/>
              <a:t>(Content</a:t>
            </a:r>
            <a:r>
              <a:rPr spc="-100" dirty="0"/>
              <a:t> </a:t>
            </a:r>
            <a:r>
              <a:rPr dirty="0"/>
              <a:t>Delivery</a:t>
            </a:r>
            <a:r>
              <a:rPr spc="-114" dirty="0"/>
              <a:t> </a:t>
            </a:r>
            <a:r>
              <a:rPr spc="-10" dirty="0"/>
              <a:t>Network)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17785" cy="36506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74295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Integrate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through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urls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locally 	maintain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downloading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locally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Both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JavaScript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CDN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conventional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“link”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“script”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tags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css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javascript 	files</a:t>
            </a:r>
            <a:endParaRPr sz="2800">
              <a:latin typeface="Calibri"/>
              <a:cs typeface="Calibri"/>
            </a:endParaRPr>
          </a:p>
          <a:p>
            <a:pPr marL="240029" marR="236854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CDN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versions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jQuery</a:t>
            </a:r>
            <a:r>
              <a:rPr sz="2800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00AFEF"/>
                </a:solidFill>
                <a:latin typeface="Calibri"/>
                <a:cs typeface="Calibri"/>
              </a:rPr>
              <a:t>Popper.js</a:t>
            </a:r>
            <a:r>
              <a:rPr sz="2800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compiled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JavaScript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Example</a:t>
            </a:r>
            <a:r>
              <a:rPr spc="-95" dirty="0"/>
              <a:t> </a:t>
            </a:r>
            <a:r>
              <a:rPr dirty="0"/>
              <a:t>CSS</a:t>
            </a:r>
            <a:r>
              <a:rPr spc="-95" dirty="0"/>
              <a:t> </a:t>
            </a:r>
            <a:r>
              <a:rPr spc="-20" dirty="0"/>
              <a:t>integration</a:t>
            </a:r>
            <a:r>
              <a:rPr spc="-90" dirty="0"/>
              <a:t> </a:t>
            </a:r>
            <a:r>
              <a:rPr spc="-10" dirty="0"/>
              <a:t>through BootstrapCDN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4769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055"/>
              </a:spcBef>
            </a:pPr>
            <a:r>
              <a:rPr dirty="0">
                <a:solidFill>
                  <a:srgbClr val="00AFEF"/>
                </a:solidFill>
              </a:rPr>
              <a:t>&lt;link</a:t>
            </a:r>
            <a:r>
              <a:rPr spc="-35" dirty="0">
                <a:solidFill>
                  <a:srgbClr val="00AFEF"/>
                </a:solidFill>
              </a:rPr>
              <a:t> </a:t>
            </a:r>
            <a:r>
              <a:rPr spc="-10" dirty="0">
                <a:solidFill>
                  <a:srgbClr val="00AFEF"/>
                </a:solidFill>
              </a:rPr>
              <a:t>rel="stylesheet“ </a:t>
            </a:r>
            <a:r>
              <a:rPr spc="-20" dirty="0">
                <a:solidFill>
                  <a:srgbClr val="6FAC46"/>
                </a:solidFill>
              </a:rPr>
              <a:t>href="https://stackpath.bootstrapcdn.com/bootst </a:t>
            </a:r>
            <a:r>
              <a:rPr spc="-10" dirty="0">
                <a:solidFill>
                  <a:srgbClr val="6FAC46"/>
                </a:solidFill>
              </a:rPr>
              <a:t>rap/4.4.1/css/bootstrap.min.css" </a:t>
            </a:r>
            <a:r>
              <a:rPr spc="-20" dirty="0">
                <a:solidFill>
                  <a:srgbClr val="FFC000"/>
                </a:solidFill>
              </a:rPr>
              <a:t>integrity="sha384Vkoo8x4CGsO3+Hhxv8T/Q5PaXt </a:t>
            </a:r>
            <a:r>
              <a:rPr spc="-10" dirty="0">
                <a:solidFill>
                  <a:srgbClr val="FFC000"/>
                </a:solidFill>
              </a:rPr>
              <a:t>kKtu6ug5TOeNV6gBiFeWPGFN9MuhOf23Q9Ifjh" </a:t>
            </a:r>
            <a:r>
              <a:rPr spc="-10" dirty="0">
                <a:solidFill>
                  <a:srgbClr val="C55A11"/>
                </a:solidFill>
              </a:rPr>
              <a:t>crossorigin="anonymous"</a:t>
            </a:r>
            <a:r>
              <a:rPr spc="-10" dirty="0">
                <a:solidFill>
                  <a:srgbClr val="00AFEF"/>
                </a:solidFill>
              </a:rPr>
              <a:t>&gt;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00882" y="6072784"/>
            <a:ext cx="65938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https://getbootstrap.com/docs/4.4/getting-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started/download/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Example</a:t>
            </a:r>
            <a:r>
              <a:rPr spc="-155" dirty="0"/>
              <a:t> </a:t>
            </a:r>
            <a:r>
              <a:rPr dirty="0"/>
              <a:t>JavaScript</a:t>
            </a:r>
            <a:r>
              <a:rPr spc="-150" dirty="0"/>
              <a:t> </a:t>
            </a:r>
            <a:r>
              <a:rPr spc="-20" dirty="0"/>
              <a:t>integration</a:t>
            </a:r>
            <a:r>
              <a:rPr spc="-150" dirty="0"/>
              <a:t> </a:t>
            </a:r>
            <a:r>
              <a:rPr spc="-10" dirty="0"/>
              <a:t>through BootstrapCDN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pc="-10" dirty="0">
                <a:solidFill>
                  <a:srgbClr val="00AFEF"/>
                </a:solidFill>
              </a:rPr>
              <a:t>&lt;script </a:t>
            </a:r>
            <a:r>
              <a:rPr spc="-10" dirty="0">
                <a:solidFill>
                  <a:srgbClr val="92D050"/>
                </a:solidFill>
              </a:rPr>
              <a:t>src="https://stackpath.bootstrapcdn.com/bootstr ap/4.4.1/js/bootstrap.min.js" </a:t>
            </a:r>
            <a:r>
              <a:rPr spc="-10" dirty="0"/>
              <a:t>integrity="sha384wfSDF2E50Y2D1uUdj0O3uMBJn juUD4Ih7YwaYd1iqfktj0Uod8GCExl3Og8ifwB6" </a:t>
            </a:r>
            <a:r>
              <a:rPr spc="-10" dirty="0">
                <a:solidFill>
                  <a:srgbClr val="EC7C30"/>
                </a:solidFill>
              </a:rPr>
              <a:t>crossorigin="anonymous"</a:t>
            </a:r>
            <a:r>
              <a:rPr spc="-10" dirty="0">
                <a:solidFill>
                  <a:srgbClr val="00AFEF"/>
                </a:solidFill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10" dirty="0">
                <a:solidFill>
                  <a:srgbClr val="00AFEF"/>
                </a:solidFill>
              </a:rPr>
              <a:t>&lt;/script&gt;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00882" y="6072784"/>
            <a:ext cx="65938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https://getbootstrap.com/docs/4.4/getting-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started/download/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/>
              <a:t>CDN</a:t>
            </a:r>
            <a:r>
              <a:rPr spc="-30" dirty="0"/>
              <a:t> </a:t>
            </a:r>
            <a:r>
              <a:rPr dirty="0"/>
              <a:t>versions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jQuery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5" dirty="0"/>
              <a:t>Popper.js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81920" cy="4676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40005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AFEF"/>
                </a:solidFill>
                <a:latin typeface="Calibri"/>
                <a:cs typeface="Calibri"/>
              </a:rPr>
              <a:t>&lt;script</a:t>
            </a:r>
            <a:r>
              <a:rPr sz="2800" spc="2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src="https://code.jquery.com/jquery-</a:t>
            </a:r>
            <a:r>
              <a:rPr sz="2800" spc="-10" dirty="0">
                <a:latin typeface="Calibri"/>
                <a:cs typeface="Calibri"/>
              </a:rPr>
              <a:t>3.4.1.slim.min.js" 	integrity="sha384- 	</a:t>
            </a:r>
            <a:r>
              <a:rPr sz="2800" spc="-20" dirty="0">
                <a:latin typeface="Calibri"/>
                <a:cs typeface="Calibri"/>
              </a:rPr>
              <a:t>J6qa4849blE2+poT4WnyKhv5vZF5SrPo0iEjwBvKU7imGFAV0wwj1yYfo 	</a:t>
            </a:r>
            <a:r>
              <a:rPr sz="2800" dirty="0">
                <a:latin typeface="Calibri"/>
                <a:cs typeface="Calibri"/>
              </a:rPr>
              <a:t>RSJoZ+n"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crossorigin="anonymous"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&gt;&lt;/script&gt;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Clr>
                <a:srgbClr val="00AFEF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&lt;script 	</a:t>
            </a:r>
            <a:r>
              <a:rPr sz="2800" spc="-20" dirty="0">
                <a:latin typeface="Calibri"/>
                <a:cs typeface="Calibri"/>
              </a:rPr>
              <a:t>src</a:t>
            </a:r>
            <a:r>
              <a:rPr sz="2800" spc="-20" dirty="0">
                <a:latin typeface="Calibri"/>
                <a:cs typeface="Calibri"/>
                <a:hlinkClick r:id="rId2"/>
              </a:rPr>
              <a:t>="https://cdn.jsdelivr.net/npm/popper.js@1.16.0/dist/umd/poppe</a:t>
            </a:r>
            <a:r>
              <a:rPr sz="2800" spc="-20" dirty="0">
                <a:latin typeface="Calibri"/>
                <a:cs typeface="Calibri"/>
              </a:rPr>
              <a:t> 	</a:t>
            </a:r>
            <a:r>
              <a:rPr sz="2800" spc="-30" dirty="0">
                <a:latin typeface="Calibri"/>
                <a:cs typeface="Calibri"/>
              </a:rPr>
              <a:t>r.min.js"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integrity="sha384- 	Q6E9RHvbIyZFJoft+2mJbHaEWldlvI9IOYy5n3zV9zzTtmI3UksdQRVvox 	</a:t>
            </a:r>
            <a:r>
              <a:rPr sz="2800" dirty="0">
                <a:latin typeface="Calibri"/>
                <a:cs typeface="Calibri"/>
              </a:rPr>
              <a:t>MfooAo"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crossorigin="anonymous"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&gt;&lt;/script&gt;</a:t>
            </a:r>
            <a:endParaRPr sz="2800">
              <a:latin typeface="Calibri"/>
              <a:cs typeface="Calibri"/>
            </a:endParaRPr>
          </a:p>
          <a:p>
            <a:pPr marL="2096135">
              <a:lnSpc>
                <a:spcPct val="100000"/>
              </a:lnSpc>
              <a:spcBef>
                <a:spcPts val="1880"/>
              </a:spcBef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https://getbootstrap.com/docs/4.4/getting-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started/download/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120" dirty="0"/>
              <a:t> </a:t>
            </a:r>
            <a:r>
              <a:rPr dirty="0"/>
              <a:t>Package</a:t>
            </a:r>
            <a:r>
              <a:rPr spc="-114" dirty="0"/>
              <a:t> </a:t>
            </a:r>
            <a:r>
              <a:rPr dirty="0"/>
              <a:t>Managers</a:t>
            </a:r>
            <a:r>
              <a:rPr spc="-140" dirty="0"/>
              <a:t> </a:t>
            </a:r>
            <a:r>
              <a:rPr dirty="0"/>
              <a:t>to</a:t>
            </a:r>
            <a:r>
              <a:rPr spc="-125" dirty="0"/>
              <a:t> </a:t>
            </a:r>
            <a:r>
              <a:rPr dirty="0"/>
              <a:t>install</a:t>
            </a:r>
            <a:r>
              <a:rPr spc="-114" dirty="0"/>
              <a:t> </a:t>
            </a:r>
            <a:r>
              <a:rPr spc="-10" dirty="0"/>
              <a:t>Bootstrap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819275"/>
          <a:ext cx="10516234" cy="3596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Package</a:t>
                      </a:r>
                      <a:r>
                        <a:rPr sz="3200" b="1" spc="-13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b="1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r>
                        <a:rPr sz="3200" b="1" spc="-7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3200" b="1" spc="-5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install</a:t>
                      </a:r>
                      <a:r>
                        <a:rPr sz="3200" b="1" spc="-7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Bootstrap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npm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npm</a:t>
                      </a:r>
                      <a:r>
                        <a:rPr sz="2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install</a:t>
                      </a:r>
                      <a:r>
                        <a:rPr sz="2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bootstrap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yarn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yarn</a:t>
                      </a:r>
                      <a:r>
                        <a:rPr sz="2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2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bootstrap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RubyGems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gem</a:t>
                      </a:r>
                      <a:r>
                        <a:rPr sz="2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35" dirty="0">
                          <a:latin typeface="Calibri"/>
                          <a:cs typeface="Calibri"/>
                        </a:rPr>
                        <a:t>‘bootstrap’,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‘~&gt;</a:t>
                      </a:r>
                      <a:r>
                        <a:rPr sz="2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4.4.1’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(4.4.1</a:t>
                      </a:r>
                      <a:r>
                        <a:rPr sz="2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-8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spc="-6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r>
                        <a:rPr sz="2800" spc="-7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you</a:t>
                      </a:r>
                      <a:r>
                        <a:rPr sz="2800" spc="-6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want</a:t>
                      </a:r>
                      <a:r>
                        <a:rPr sz="2800" spc="-8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spc="-8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install)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Composer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composer</a:t>
                      </a:r>
                      <a:r>
                        <a:rPr sz="28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require</a:t>
                      </a:r>
                      <a:r>
                        <a:rPr sz="28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twbs/bootstrap:4.4.1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NuGet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30" dirty="0">
                          <a:latin typeface="Calibri"/>
                          <a:cs typeface="Calibri"/>
                        </a:rPr>
                        <a:t>Install-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Package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bootstrap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Example</a:t>
            </a:r>
            <a:r>
              <a:rPr spc="-185" dirty="0"/>
              <a:t> </a:t>
            </a:r>
            <a:r>
              <a:rPr dirty="0"/>
              <a:t>[all</a:t>
            </a:r>
            <a:r>
              <a:rPr spc="-140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dirty="0"/>
              <a:t>one</a:t>
            </a:r>
            <a:r>
              <a:rPr spc="-180" dirty="0"/>
              <a:t> </a:t>
            </a:r>
            <a:r>
              <a:rPr spc="-10" dirty="0"/>
              <a:t>place]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8134" y="0"/>
            <a:ext cx="11880215" cy="6864350"/>
            <a:chOff x="318134" y="0"/>
            <a:chExt cx="11880215" cy="6864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887" y="1839071"/>
              <a:ext cx="11385426" cy="36020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2897" y="1685353"/>
              <a:ext cx="11598275" cy="3909695"/>
            </a:xfrm>
            <a:custGeom>
              <a:avLst/>
              <a:gdLst/>
              <a:ahLst/>
              <a:cxnLst/>
              <a:rect l="l" t="t" r="r" b="b"/>
              <a:pathLst>
                <a:path w="11598275" h="3909695">
                  <a:moveTo>
                    <a:pt x="0" y="3909440"/>
                  </a:moveTo>
                  <a:lnTo>
                    <a:pt x="11598021" y="3909440"/>
                  </a:lnTo>
                  <a:lnTo>
                    <a:pt x="11598021" y="0"/>
                  </a:lnTo>
                  <a:lnTo>
                    <a:pt x="0" y="0"/>
                  </a:lnTo>
                  <a:lnTo>
                    <a:pt x="0" y="3909440"/>
                  </a:lnTo>
                  <a:close/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79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79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79579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Advantages</a:t>
            </a:r>
            <a:r>
              <a:rPr spc="-16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-30" dirty="0"/>
              <a:t>Bootstrap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936480" cy="39065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Easy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use: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HTML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CSS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 	Bootstrap</a:t>
            </a:r>
            <a:endParaRPr sz="2800">
              <a:latin typeface="Calibri"/>
              <a:cs typeface="Calibri"/>
            </a:endParaRPr>
          </a:p>
          <a:p>
            <a:pPr marL="240029" marR="7162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Responsive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features: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adjust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interface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phones, 	</a:t>
            </a:r>
            <a:r>
              <a:rPr sz="2800" dirty="0">
                <a:latin typeface="Calibri"/>
                <a:cs typeface="Calibri"/>
              </a:rPr>
              <a:t>tablets,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desktops</a:t>
            </a:r>
            <a:endParaRPr sz="2800">
              <a:latin typeface="Calibri"/>
              <a:cs typeface="Calibri"/>
            </a:endParaRPr>
          </a:p>
          <a:p>
            <a:pPr marL="240029" marR="480059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5" dirty="0">
                <a:latin typeface="Calibri"/>
                <a:cs typeface="Calibri"/>
              </a:rPr>
              <a:t>Mobile-</a:t>
            </a:r>
            <a:r>
              <a:rPr sz="2800" b="1" dirty="0">
                <a:latin typeface="Calibri"/>
                <a:cs typeface="Calibri"/>
              </a:rPr>
              <a:t>first: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mobile-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styles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core 	</a:t>
            </a:r>
            <a:r>
              <a:rPr sz="2800" spc="-10" dirty="0">
                <a:latin typeface="Calibri"/>
                <a:cs typeface="Calibri"/>
              </a:rPr>
              <a:t>framework</a:t>
            </a:r>
            <a:endParaRPr sz="2800">
              <a:latin typeface="Calibri"/>
              <a:cs typeface="Calibri"/>
            </a:endParaRPr>
          </a:p>
          <a:p>
            <a:pPr marL="240029" marR="273685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4380865" algn="l"/>
              </a:tabLst>
            </a:pPr>
            <a:r>
              <a:rPr sz="2800" b="1" dirty="0">
                <a:latin typeface="Calibri"/>
                <a:cs typeface="Calibri"/>
              </a:rPr>
              <a:t>Compatible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with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browsers: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Supports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frequently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common 	browsers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Chrome,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Firefox,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Explorer,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Edge,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Safari,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spc="-10" dirty="0">
                <a:latin typeface="Calibri"/>
                <a:cs typeface="Calibri"/>
              </a:rPr>
              <a:t>Opera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Advantage</a:t>
            </a:r>
            <a:r>
              <a:rPr spc="-180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dirty="0"/>
              <a:t>using</a:t>
            </a:r>
            <a:r>
              <a:rPr spc="-180" dirty="0"/>
              <a:t> </a:t>
            </a:r>
            <a:r>
              <a:rPr dirty="0"/>
              <a:t>the</a:t>
            </a:r>
            <a:r>
              <a:rPr spc="-180" dirty="0"/>
              <a:t> </a:t>
            </a:r>
            <a:r>
              <a:rPr spc="-45" dirty="0"/>
              <a:t>Bootstrap</a:t>
            </a:r>
            <a:r>
              <a:rPr spc="-190" dirty="0"/>
              <a:t> </a:t>
            </a:r>
            <a:r>
              <a:rPr spc="-20" dirty="0"/>
              <a:t>CDN: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340340" cy="36309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CDN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access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cache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recurrently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downloading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 	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online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Caching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faster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Calibri"/>
                <a:cs typeface="Calibri"/>
              </a:rPr>
              <a:t>jQuery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Important</a:t>
            </a:r>
            <a:r>
              <a:rPr sz="2800" b="1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Bootstrap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jQuery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JavaScript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plugins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(Eg: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modals,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tooltips,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jQuery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necessary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css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3230" y="0"/>
            <a:ext cx="325120" cy="6864350"/>
            <a:chOff x="11873230" y="0"/>
            <a:chExt cx="325120" cy="6864350"/>
          </a:xfrm>
        </p:grpSpPr>
        <p:sp>
          <p:nvSpPr>
            <p:cNvPr id="5" name="object 5"/>
            <p:cNvSpPr/>
            <p:nvPr/>
          </p:nvSpPr>
          <p:spPr>
            <a:xfrm>
              <a:off x="11879580" y="0"/>
              <a:ext cx="312420" cy="6858000"/>
            </a:xfrm>
            <a:custGeom>
              <a:avLst/>
              <a:gdLst/>
              <a:ahLst/>
              <a:cxnLst/>
              <a:rect l="l" t="t" r="r" b="b"/>
              <a:pathLst>
                <a:path w="312420" h="6858000">
                  <a:moveTo>
                    <a:pt x="3124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12420" y="6858000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156210" y="0"/>
                  </a:moveTo>
                  <a:lnTo>
                    <a:pt x="0" y="156209"/>
                  </a:lnTo>
                  <a:lnTo>
                    <a:pt x="0" y="676655"/>
                  </a:lnTo>
                  <a:lnTo>
                    <a:pt x="312420" y="676655"/>
                  </a:lnTo>
                  <a:lnTo>
                    <a:pt x="312420" y="156209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79580" y="6181344"/>
              <a:ext cx="312420" cy="676910"/>
            </a:xfrm>
            <a:custGeom>
              <a:avLst/>
              <a:gdLst/>
              <a:ahLst/>
              <a:cxnLst/>
              <a:rect l="l" t="t" r="r" b="b"/>
              <a:pathLst>
                <a:path w="312420" h="676909">
                  <a:moveTo>
                    <a:pt x="0" y="676655"/>
                  </a:moveTo>
                  <a:lnTo>
                    <a:pt x="0" y="156209"/>
                  </a:lnTo>
                  <a:lnTo>
                    <a:pt x="156210" y="0"/>
                  </a:lnTo>
                  <a:lnTo>
                    <a:pt x="312420" y="156209"/>
                  </a:lnTo>
                  <a:lnTo>
                    <a:pt x="312420" y="676655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913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 MT</vt:lpstr>
      <vt:lpstr>Calibri</vt:lpstr>
      <vt:lpstr>Calibri Light</vt:lpstr>
      <vt:lpstr>Roboto</vt:lpstr>
      <vt:lpstr>Times New Roman</vt:lpstr>
      <vt:lpstr>Office Theme</vt:lpstr>
      <vt:lpstr> 5 : Introduction to bootstrap</vt:lpstr>
      <vt:lpstr>Introduction</vt:lpstr>
      <vt:lpstr>Introduction</vt:lpstr>
      <vt:lpstr>License of Bootstrap</vt:lpstr>
      <vt:lpstr>Setup Bootstrap into the development environment</vt:lpstr>
      <vt:lpstr>Download and install in different environments</vt:lpstr>
      <vt:lpstr>Using compiled CSS and JS</vt:lpstr>
      <vt:lpstr>Example integration</vt:lpstr>
      <vt:lpstr>Source files download</vt:lpstr>
      <vt:lpstr>Bootstrap bundle contents</vt:lpstr>
      <vt:lpstr>Bootstrap CDN (Content Delivery Network)</vt:lpstr>
      <vt:lpstr>Example CSS integration through BootstrapCDN</vt:lpstr>
      <vt:lpstr>Example JavaScript integration through BootstrapCDN</vt:lpstr>
      <vt:lpstr>CDN versions of jQuery and Popper.js</vt:lpstr>
      <vt:lpstr>Using Package Managers to install Bootstrap</vt:lpstr>
      <vt:lpstr>Example [all in one place]</vt:lpstr>
      <vt:lpstr>Advantages of Bootstrap</vt:lpstr>
      <vt:lpstr>Advantage of using the Bootstrap CDN: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UCSC</dc:creator>
  <cp:lastModifiedBy>Thilakshan Gunasingam</cp:lastModifiedBy>
  <cp:revision>1</cp:revision>
  <dcterms:created xsi:type="dcterms:W3CDTF">2025-09-26T04:42:15Z</dcterms:created>
  <dcterms:modified xsi:type="dcterms:W3CDTF">2025-09-26T04:44:38Z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2025-09-26T00:00:00Z</vt:filetime>
  </property>
  <property fmtid="{D5CDD505-2E9C-101B-9397-08002B2CF9AE}" pid="5" name="Producer">
    <vt:lpwstr>Microsoft® PowerPoint® for Microsoft 365</vt:lpwstr>
  </property>
</Properties>
</file>